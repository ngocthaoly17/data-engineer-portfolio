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db29797ce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db29797ce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db29797c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db29797c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4db29797ce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4db29797ce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4db29797c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4db29797c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4db29797ce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4db29797ce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4dc4a0bbd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4dc4a0bbd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4db29797c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4db29797c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4dc4a0bbd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4dc4a0bbd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4dc4a0bbd8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4dc4a0bbd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4dc4a0bbd8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4dc4a0bbd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dc4a0bbd8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4dc4a0bbd8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4dc4a0bbd8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4dc4a0bbd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4dc4a0bbd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4dc4a0bbd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4db29797ce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4db29797ce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4dc4a0bbd8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4dc4a0bbd8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16783" y="611675"/>
            <a:ext cx="8520600" cy="2052600"/>
          </a:xfrm>
          <a:prstGeom prst="rect">
            <a:avLst/>
          </a:prstGeom>
        </p:spPr>
        <p:txBody>
          <a:bodyPr anchorCtr="0" anchor="ctr" bIns="91425" lIns="91425" spcFirstLastPara="1" rIns="91425" wrap="square" tIns="91425">
            <a:normAutofit/>
          </a:bodyPr>
          <a:lstStyle/>
          <a:p>
            <a:pPr indent="0" lvl="0" marL="0" rtl="0" algn="ctr">
              <a:lnSpc>
                <a:spcPct val="156521"/>
              </a:lnSpc>
              <a:spcBef>
                <a:spcPts val="0"/>
              </a:spcBef>
              <a:spcAft>
                <a:spcPts val="600"/>
              </a:spcAft>
              <a:buNone/>
            </a:pPr>
            <a:r>
              <a:rPr b="1" lang="fr" sz="2300">
                <a:solidFill>
                  <a:srgbClr val="271A38"/>
                </a:solidFill>
                <a:highlight>
                  <a:srgbClr val="FFFAEE"/>
                </a:highlight>
              </a:rPr>
              <a:t>Analysez les données de systèmes éducatif</a:t>
            </a:r>
            <a:endParaRPr/>
          </a:p>
        </p:txBody>
      </p:sp>
      <p:pic>
        <p:nvPicPr>
          <p:cNvPr id="55" name="Google Shape;55;p13" title="4303676.png"/>
          <p:cNvPicPr preferRelativeResize="0"/>
          <p:nvPr/>
        </p:nvPicPr>
        <p:blipFill>
          <a:blip r:embed="rId3">
            <a:alphaModFix/>
          </a:blip>
          <a:stretch>
            <a:fillRect/>
          </a:stretch>
        </p:blipFill>
        <p:spPr>
          <a:xfrm>
            <a:off x="3408700" y="2044950"/>
            <a:ext cx="2136750" cy="2136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901200" y="877625"/>
            <a:ext cx="7341600" cy="238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a:solidFill>
                  <a:schemeClr val="dk2"/>
                </a:solidFill>
              </a:rPr>
              <a:t>Notre objectif </a:t>
            </a:r>
            <a:endParaRPr b="1">
              <a:solidFill>
                <a:schemeClr val="dk2"/>
              </a:solidFill>
            </a:endParaRPr>
          </a:p>
          <a:p>
            <a:pPr indent="0" lvl="0" marL="0" rtl="0" algn="l">
              <a:lnSpc>
                <a:spcPct val="135714"/>
              </a:lnSpc>
              <a:spcBef>
                <a:spcPts val="0"/>
              </a:spcBef>
              <a:spcAft>
                <a:spcPts val="0"/>
              </a:spcAft>
              <a:buNone/>
            </a:pPr>
            <a:r>
              <a:t/>
            </a:r>
            <a:endParaRPr>
              <a:solidFill>
                <a:schemeClr val="dk2"/>
              </a:solidFill>
            </a:endParaRPr>
          </a:p>
          <a:p>
            <a:pPr indent="-317500" lvl="0" marL="457200" rtl="0" algn="l">
              <a:lnSpc>
                <a:spcPct val="135714"/>
              </a:lnSpc>
              <a:spcBef>
                <a:spcPts val="0"/>
              </a:spcBef>
              <a:spcAft>
                <a:spcPts val="0"/>
              </a:spcAft>
              <a:buClr>
                <a:schemeClr val="dk2"/>
              </a:buClr>
              <a:buSzPts val="1400"/>
              <a:buChar char="-"/>
            </a:pPr>
            <a:r>
              <a:rPr lang="fr">
                <a:solidFill>
                  <a:schemeClr val="dk2"/>
                </a:solidFill>
              </a:rPr>
              <a:t>Vendre des formations à de nouveaux marchés</a:t>
            </a:r>
            <a:endParaRPr>
              <a:solidFill>
                <a:schemeClr val="dk2"/>
              </a:solidFill>
            </a:endParaRPr>
          </a:p>
          <a:p>
            <a:pPr indent="0" lvl="0" marL="0" rtl="0" algn="l">
              <a:lnSpc>
                <a:spcPct val="135714"/>
              </a:lnSpc>
              <a:spcBef>
                <a:spcPts val="0"/>
              </a:spcBef>
              <a:spcAft>
                <a:spcPts val="0"/>
              </a:spcAft>
              <a:buNone/>
            </a:pPr>
            <a:r>
              <a:t/>
            </a:r>
            <a:endParaRPr>
              <a:solidFill>
                <a:schemeClr val="dk2"/>
              </a:solidFill>
            </a:endParaRPr>
          </a:p>
          <a:p>
            <a:pPr indent="0" lvl="0" marL="0" rtl="0" algn="l">
              <a:lnSpc>
                <a:spcPct val="135714"/>
              </a:lnSpc>
              <a:spcBef>
                <a:spcPts val="0"/>
              </a:spcBef>
              <a:spcAft>
                <a:spcPts val="0"/>
              </a:spcAft>
              <a:buNone/>
            </a:pPr>
            <a:r>
              <a:rPr b="1" lang="fr">
                <a:solidFill>
                  <a:schemeClr val="dk2"/>
                </a:solidFill>
              </a:rPr>
              <a:t>Analyse :</a:t>
            </a:r>
            <a:endParaRPr b="1">
              <a:solidFill>
                <a:schemeClr val="dk2"/>
              </a:solidFill>
            </a:endParaRPr>
          </a:p>
          <a:p>
            <a:pPr indent="-317500" lvl="0" marL="457200" rtl="0" algn="l">
              <a:lnSpc>
                <a:spcPct val="135714"/>
              </a:lnSpc>
              <a:spcBef>
                <a:spcPts val="0"/>
              </a:spcBef>
              <a:spcAft>
                <a:spcPts val="0"/>
              </a:spcAft>
              <a:buClr>
                <a:schemeClr val="dk2"/>
              </a:buClr>
              <a:buSzPts val="1400"/>
              <a:buChar char="-"/>
            </a:pPr>
            <a:r>
              <a:rPr lang="fr">
                <a:solidFill>
                  <a:schemeClr val="dk2"/>
                </a:solidFill>
              </a:rPr>
              <a:t>Explorer les pays avec un fort potentiel de clients pour les services de academy, et voir comment ce potentiel pourrait évoluer.</a:t>
            </a:r>
            <a:endParaRPr>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61" name="Google Shape;61;p14" title="sales-icon-19.png"/>
          <p:cNvPicPr preferRelativeResize="0"/>
          <p:nvPr/>
        </p:nvPicPr>
        <p:blipFill>
          <a:blip r:embed="rId3">
            <a:alphaModFix/>
          </a:blip>
          <a:stretch>
            <a:fillRect/>
          </a:stretch>
        </p:blipFill>
        <p:spPr>
          <a:xfrm>
            <a:off x="6333800" y="2682050"/>
            <a:ext cx="2631950" cy="22371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Data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fr"/>
              <a:t>5 datasets : </a:t>
            </a:r>
            <a:endParaRPr/>
          </a:p>
          <a:p>
            <a:pPr indent="-302021" lvl="0" marL="457200" rtl="0" algn="l">
              <a:lnSpc>
                <a:spcPct val="135714"/>
              </a:lnSpc>
              <a:spcBef>
                <a:spcPts val="1200"/>
              </a:spcBef>
              <a:spcAft>
                <a:spcPts val="0"/>
              </a:spcAft>
              <a:buClr>
                <a:schemeClr val="dk1"/>
              </a:buClr>
              <a:buSzPct val="100000"/>
              <a:buChar char="●"/>
            </a:pPr>
            <a:r>
              <a:rPr b="1" lang="fr" sz="1250">
                <a:solidFill>
                  <a:schemeClr val="dk1"/>
                </a:solidFill>
              </a:rPr>
              <a:t>EdStatsCountry-Series.csv / EdStatsCountry.csv : représente un indicateur spécifique pour un pays donné.</a:t>
            </a:r>
            <a:endParaRPr b="1" sz="1250">
              <a:solidFill>
                <a:schemeClr val="dk1"/>
              </a:solidFill>
            </a:endParaRPr>
          </a:p>
          <a:p>
            <a:pPr indent="0" lvl="0" marL="457200" rtl="0" algn="l">
              <a:lnSpc>
                <a:spcPct val="135714"/>
              </a:lnSpc>
              <a:spcBef>
                <a:spcPts val="0"/>
              </a:spcBef>
              <a:spcAft>
                <a:spcPts val="0"/>
              </a:spcAft>
              <a:buNone/>
            </a:pPr>
            <a:r>
              <a:t/>
            </a:r>
            <a:endParaRPr b="1" sz="1250">
              <a:solidFill>
                <a:schemeClr val="dk1"/>
              </a:solidFill>
            </a:endParaRPr>
          </a:p>
          <a:p>
            <a:pPr indent="-302021" lvl="0" marL="457200" rtl="0" algn="l">
              <a:lnSpc>
                <a:spcPct val="135714"/>
              </a:lnSpc>
              <a:spcBef>
                <a:spcPts val="0"/>
              </a:spcBef>
              <a:spcAft>
                <a:spcPts val="0"/>
              </a:spcAft>
              <a:buClr>
                <a:schemeClr val="dk1"/>
              </a:buClr>
              <a:buSzPct val="100000"/>
              <a:buChar char="●"/>
            </a:pPr>
            <a:r>
              <a:rPr b="1" lang="fr" sz="1250">
                <a:solidFill>
                  <a:schemeClr val="dk1"/>
                </a:solidFill>
              </a:rPr>
              <a:t>EdStatsData.csv : informations spécifiques sur un indicateur d'éducation</a:t>
            </a:r>
            <a:endParaRPr b="1" sz="1250">
              <a:solidFill>
                <a:schemeClr val="dk1"/>
              </a:solidFill>
            </a:endParaRPr>
          </a:p>
          <a:p>
            <a:pPr indent="0" lvl="0" marL="457200" rtl="0" algn="l">
              <a:lnSpc>
                <a:spcPct val="135714"/>
              </a:lnSpc>
              <a:spcBef>
                <a:spcPts val="0"/>
              </a:spcBef>
              <a:spcAft>
                <a:spcPts val="0"/>
              </a:spcAft>
              <a:buNone/>
            </a:pPr>
            <a:r>
              <a:t/>
            </a:r>
            <a:endParaRPr b="1" sz="1250">
              <a:solidFill>
                <a:schemeClr val="dk1"/>
              </a:solidFill>
            </a:endParaRPr>
          </a:p>
          <a:p>
            <a:pPr indent="-302021" lvl="0" marL="457200" rtl="0" algn="l">
              <a:lnSpc>
                <a:spcPct val="135714"/>
              </a:lnSpc>
              <a:spcBef>
                <a:spcPts val="0"/>
              </a:spcBef>
              <a:spcAft>
                <a:spcPts val="0"/>
              </a:spcAft>
              <a:buClr>
                <a:schemeClr val="dk1"/>
              </a:buClr>
              <a:buSzPct val="100000"/>
              <a:buChar char="●"/>
            </a:pPr>
            <a:r>
              <a:rPr b="1" lang="fr" sz="1250">
                <a:solidFill>
                  <a:schemeClr val="dk1"/>
                </a:solidFill>
              </a:rPr>
              <a:t>EdStatsFootNote.csv : contient des données sur des indicateurs spécifiques de l'éducation</a:t>
            </a:r>
            <a:endParaRPr b="1" sz="1250">
              <a:solidFill>
                <a:schemeClr val="dk1"/>
              </a:solidFill>
            </a:endParaRPr>
          </a:p>
          <a:p>
            <a:pPr indent="0" lvl="0" marL="457200" rtl="0" algn="l">
              <a:lnSpc>
                <a:spcPct val="135714"/>
              </a:lnSpc>
              <a:spcBef>
                <a:spcPts val="0"/>
              </a:spcBef>
              <a:spcAft>
                <a:spcPts val="0"/>
              </a:spcAft>
              <a:buNone/>
            </a:pPr>
            <a:r>
              <a:t/>
            </a:r>
            <a:endParaRPr b="1" sz="1250">
              <a:solidFill>
                <a:schemeClr val="dk1"/>
              </a:solidFill>
            </a:endParaRPr>
          </a:p>
          <a:p>
            <a:pPr indent="-302021" lvl="0" marL="457200" rtl="0" algn="l">
              <a:lnSpc>
                <a:spcPct val="135714"/>
              </a:lnSpc>
              <a:spcBef>
                <a:spcPts val="0"/>
              </a:spcBef>
              <a:spcAft>
                <a:spcPts val="0"/>
              </a:spcAft>
              <a:buClr>
                <a:schemeClr val="dk1"/>
              </a:buClr>
              <a:buSzPct val="100000"/>
              <a:buChar char="●"/>
            </a:pPr>
            <a:r>
              <a:rPr b="1" lang="fr" sz="1250">
                <a:solidFill>
                  <a:schemeClr val="dk1"/>
                </a:solidFill>
              </a:rPr>
              <a:t>EdStatsSeries.csv : relatifs à l'éducation (en particulier les données du Barro-Lee) pour différentes tranches d'âge et par sexe</a:t>
            </a:r>
            <a:endParaRPr b="1" sz="1250">
              <a:solidFill>
                <a:schemeClr val="dk1"/>
              </a:solidFill>
            </a:endParaRPr>
          </a:p>
          <a:p>
            <a:pPr indent="0" lvl="0" marL="0" rtl="0" algn="l">
              <a:lnSpc>
                <a:spcPct val="135714"/>
              </a:lnSpc>
              <a:spcBef>
                <a:spcPts val="0"/>
              </a:spcBef>
              <a:spcAft>
                <a:spcPts val="0"/>
              </a:spcAft>
              <a:buClr>
                <a:schemeClr val="dk1"/>
              </a:buClr>
              <a:buSzPct val="104761"/>
              <a:buFont typeface="Arial"/>
              <a:buNone/>
            </a:pPr>
            <a:r>
              <a:t/>
            </a:r>
            <a:endParaRPr sz="1050">
              <a:solidFill>
                <a:srgbClr val="A31515"/>
              </a:solidFill>
              <a:highlight>
                <a:srgbClr val="F7F7F7"/>
              </a:highlight>
              <a:latin typeface="Courier New"/>
              <a:ea typeface="Courier New"/>
              <a:cs typeface="Courier New"/>
              <a:sym typeface="Courier New"/>
            </a:endParaRPr>
          </a:p>
          <a:p>
            <a:pPr indent="0" lvl="0" marL="0" rtl="0" algn="l">
              <a:spcBef>
                <a:spcPts val="0"/>
              </a:spcBef>
              <a:spcAft>
                <a:spcPts val="0"/>
              </a:spcAft>
              <a:buNone/>
            </a:pPr>
            <a:r>
              <a:t/>
            </a:r>
            <a:endParaRPr sz="1050">
              <a:solidFill>
                <a:srgbClr val="A31515"/>
              </a:solidFill>
              <a:highlight>
                <a:srgbClr val="F7F7F7"/>
              </a:highlight>
              <a:latin typeface="Courier New"/>
              <a:ea typeface="Courier New"/>
              <a:cs typeface="Courier New"/>
              <a:sym typeface="Courier New"/>
            </a:endParaRPr>
          </a:p>
          <a:p>
            <a:pPr indent="0" lvl="0" marL="457200" rtl="0" algn="l">
              <a:spcBef>
                <a:spcPts val="1200"/>
              </a:spcBef>
              <a:spcAft>
                <a:spcPts val="0"/>
              </a:spcAft>
              <a:buNone/>
            </a:pPr>
            <a:r>
              <a:t/>
            </a:r>
            <a:endParaRPr sz="1050">
              <a:solidFill>
                <a:srgbClr val="A31515"/>
              </a:solidFill>
              <a:highlight>
                <a:srgbClr val="F7F7F7"/>
              </a:highlight>
              <a:latin typeface="Courier New"/>
              <a:ea typeface="Courier New"/>
              <a:cs typeface="Courier New"/>
              <a:sym typeface="Courier New"/>
            </a:endParaRPr>
          </a:p>
          <a:p>
            <a:pPr indent="0" lvl="0" marL="0" rtl="0" algn="l">
              <a:lnSpc>
                <a:spcPct val="135714"/>
              </a:lnSpc>
              <a:spcBef>
                <a:spcPts val="1200"/>
              </a:spcBef>
              <a:spcAft>
                <a:spcPts val="0"/>
              </a:spcAft>
              <a:buNone/>
            </a:pPr>
            <a:r>
              <a:t/>
            </a:r>
            <a:endParaRPr sz="1050">
              <a:solidFill>
                <a:srgbClr val="A31515"/>
              </a:solidFill>
              <a:highlight>
                <a:srgbClr val="F7F7F7"/>
              </a:highlight>
              <a:latin typeface="Courier New"/>
              <a:ea typeface="Courier New"/>
              <a:cs typeface="Courier New"/>
              <a:sym typeface="Courier New"/>
            </a:endParaRPr>
          </a:p>
          <a:p>
            <a:pPr indent="0" lvl="0" marL="457200" rtl="0" algn="l">
              <a:spcBef>
                <a:spcPts val="0"/>
              </a:spcBef>
              <a:spcAft>
                <a:spcPts val="1200"/>
              </a:spcAft>
              <a:buNone/>
            </a:pPr>
            <a:r>
              <a:t/>
            </a:r>
            <a:endParaRPr sz="1050">
              <a:solidFill>
                <a:srgbClr val="A31515"/>
              </a:solidFill>
              <a:highlight>
                <a:srgbClr val="F7F7F7"/>
              </a:highlight>
              <a:latin typeface="Courier New"/>
              <a:ea typeface="Courier New"/>
              <a:cs typeface="Courier New"/>
              <a:sym typeface="Courier Ne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Nettoyage des données</a:t>
            </a:r>
            <a:endParaRPr/>
          </a:p>
        </p:txBody>
      </p:sp>
      <p:sp>
        <p:nvSpPr>
          <p:cNvPr id="73" name="Google Shape;73;p16"/>
          <p:cNvSpPr txBox="1"/>
          <p:nvPr/>
        </p:nvSpPr>
        <p:spPr>
          <a:xfrm>
            <a:off x="504475" y="1511625"/>
            <a:ext cx="6992700" cy="3114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fr" sz="1500">
                <a:solidFill>
                  <a:schemeClr val="dk2"/>
                </a:solidFill>
              </a:rPr>
              <a:t>Récupération du référentiel pays de </a:t>
            </a:r>
            <a:r>
              <a:rPr lang="fr" sz="1250">
                <a:solidFill>
                  <a:schemeClr val="dk1"/>
                </a:solidFill>
                <a:highlight>
                  <a:srgbClr val="F7F7F7"/>
                </a:highlight>
                <a:latin typeface="Courier New"/>
                <a:ea typeface="Courier New"/>
                <a:cs typeface="Courier New"/>
                <a:sym typeface="Courier New"/>
              </a:rPr>
              <a:t>pycountry </a:t>
            </a:r>
            <a:r>
              <a:rPr lang="fr" sz="1500">
                <a:solidFill>
                  <a:schemeClr val="dk2"/>
                </a:solidFill>
              </a:rPr>
              <a:t>pour filtrer les</a:t>
            </a:r>
            <a:r>
              <a:rPr lang="fr" sz="1500">
                <a:solidFill>
                  <a:schemeClr val="dk2"/>
                </a:solidFill>
              </a:rPr>
              <a:t> lignes qui ne seraient pas des pays</a:t>
            </a:r>
            <a:endParaRPr sz="1500">
              <a:solidFill>
                <a:schemeClr val="dk2"/>
              </a:solidFill>
            </a:endParaRPr>
          </a:p>
          <a:p>
            <a:pPr indent="-323850" lvl="0" marL="457200" rtl="0" algn="l">
              <a:spcBef>
                <a:spcPts val="0"/>
              </a:spcBef>
              <a:spcAft>
                <a:spcPts val="0"/>
              </a:spcAft>
              <a:buClr>
                <a:schemeClr val="dk2"/>
              </a:buClr>
              <a:buSzPts val="1500"/>
              <a:buChar char="-"/>
            </a:pPr>
            <a:r>
              <a:rPr lang="fr" sz="1500">
                <a:solidFill>
                  <a:schemeClr val="dk2"/>
                </a:solidFill>
              </a:rPr>
              <a:t>Enlever les colonnes qui auraient trop peu d’information (données vides) ex : supprimer les colonnes années où aucune données n’est renseignée</a:t>
            </a:r>
            <a:endParaRPr sz="1500">
              <a:solidFill>
                <a:schemeClr val="dk2"/>
              </a:solidFill>
            </a:endParaRPr>
          </a:p>
          <a:p>
            <a:pPr indent="-323850" lvl="0" marL="457200" rtl="0" algn="l">
              <a:spcBef>
                <a:spcPts val="0"/>
              </a:spcBef>
              <a:spcAft>
                <a:spcPts val="0"/>
              </a:spcAft>
              <a:buClr>
                <a:schemeClr val="dk2"/>
              </a:buClr>
              <a:buSzPts val="1500"/>
              <a:buChar char="-"/>
            </a:pPr>
            <a:r>
              <a:rPr lang="fr" sz="1500">
                <a:solidFill>
                  <a:schemeClr val="dk2"/>
                </a:solidFill>
              </a:rPr>
              <a:t>Garder les indicateurs les plus pertinents</a:t>
            </a:r>
            <a:endParaRPr sz="1500">
              <a:solidFill>
                <a:schemeClr val="dk2"/>
              </a:solidFill>
            </a:endParaRPr>
          </a:p>
          <a:p>
            <a:pPr indent="-323850" lvl="0" marL="457200" rtl="0" algn="l">
              <a:spcBef>
                <a:spcPts val="0"/>
              </a:spcBef>
              <a:spcAft>
                <a:spcPts val="0"/>
              </a:spcAft>
              <a:buClr>
                <a:schemeClr val="dk2"/>
              </a:buClr>
              <a:buSzPts val="1500"/>
              <a:buChar char="-"/>
            </a:pPr>
            <a:r>
              <a:rPr lang="fr" sz="1500">
                <a:solidFill>
                  <a:schemeClr val="dk2"/>
                </a:solidFill>
              </a:rPr>
              <a:t>Merged des 5 datasets pour n’en créer qu’1 seul</a:t>
            </a:r>
            <a:endParaRPr sz="1500">
              <a:solidFill>
                <a:schemeClr val="dk2"/>
              </a:solidFill>
            </a:endParaRPr>
          </a:p>
          <a:p>
            <a:pPr indent="-323850" lvl="0" marL="457200" rtl="0" algn="l">
              <a:spcBef>
                <a:spcPts val="0"/>
              </a:spcBef>
              <a:spcAft>
                <a:spcPts val="0"/>
              </a:spcAft>
              <a:buClr>
                <a:schemeClr val="dk2"/>
              </a:buClr>
              <a:buSzPts val="1500"/>
              <a:buChar char="-"/>
            </a:pPr>
            <a:r>
              <a:rPr lang="fr" sz="1500">
                <a:solidFill>
                  <a:schemeClr val="dk2"/>
                </a:solidFill>
              </a:rPr>
              <a:t>Restructurer la table pour avoir une table claire à utiliser</a:t>
            </a:r>
            <a:endParaRPr sz="1500">
              <a:solidFill>
                <a:schemeClr val="dk2"/>
              </a:solidFill>
            </a:endParaRPr>
          </a:p>
          <a:p>
            <a:pPr indent="-323850" lvl="0" marL="457200" rtl="0" algn="l">
              <a:spcBef>
                <a:spcPts val="0"/>
              </a:spcBef>
              <a:spcAft>
                <a:spcPts val="0"/>
              </a:spcAft>
              <a:buClr>
                <a:schemeClr val="dk2"/>
              </a:buClr>
              <a:buSzPts val="1500"/>
              <a:buChar char="-"/>
            </a:pPr>
            <a:r>
              <a:rPr lang="fr" sz="1500">
                <a:solidFill>
                  <a:schemeClr val="dk2"/>
                </a:solidFill>
              </a:rPr>
              <a:t>Supprimer les champs qui ont une corrélation très importante (redondance de l’information)</a:t>
            </a:r>
            <a:endParaRPr sz="15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17" title="download.png"/>
          <p:cNvPicPr preferRelativeResize="0"/>
          <p:nvPr/>
        </p:nvPicPr>
        <p:blipFill>
          <a:blip r:embed="rId3">
            <a:alphaModFix/>
          </a:blip>
          <a:stretch>
            <a:fillRect/>
          </a:stretch>
        </p:blipFill>
        <p:spPr>
          <a:xfrm>
            <a:off x="1509350" y="52350"/>
            <a:ext cx="8210324" cy="7264226"/>
          </a:xfrm>
          <a:prstGeom prst="rect">
            <a:avLst/>
          </a:prstGeom>
          <a:noFill/>
          <a:ln>
            <a:noFill/>
          </a:ln>
        </p:spPr>
      </p:pic>
      <p:sp>
        <p:nvSpPr>
          <p:cNvPr id="79" name="Google Shape;79;p17"/>
          <p:cNvSpPr/>
          <p:nvPr/>
        </p:nvSpPr>
        <p:spPr>
          <a:xfrm>
            <a:off x="4176350" y="426300"/>
            <a:ext cx="1881600" cy="141000"/>
          </a:xfrm>
          <a:prstGeom prst="right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 name="Google Shape;80;p17"/>
          <p:cNvSpPr/>
          <p:nvPr/>
        </p:nvSpPr>
        <p:spPr>
          <a:xfrm>
            <a:off x="6187200" y="614450"/>
            <a:ext cx="105900" cy="4009800"/>
          </a:xfrm>
          <a:prstGeom prst="upArrow">
            <a:avLst>
              <a:gd fmla="val 50000" name="adj1"/>
              <a:gd fmla="val 500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17"/>
          <p:cNvSpPr txBox="1"/>
          <p:nvPr/>
        </p:nvSpPr>
        <p:spPr>
          <a:xfrm>
            <a:off x="209050" y="373950"/>
            <a:ext cx="2001600" cy="37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800">
                <a:solidFill>
                  <a:schemeClr val="dk1"/>
                </a:solidFill>
              </a:rPr>
              <a:t>% d’étudiants dans l’éducation supérieur qui sont des femmes</a:t>
            </a:r>
            <a:endParaRPr b="1" sz="1800">
              <a:solidFill>
                <a:schemeClr val="dk1"/>
              </a:solidFill>
            </a:endParaRPr>
          </a:p>
          <a:p>
            <a:pPr indent="0" lvl="0" marL="0" rtl="0" algn="l">
              <a:spcBef>
                <a:spcPts val="0"/>
              </a:spcBef>
              <a:spcAft>
                <a:spcPts val="0"/>
              </a:spcAft>
              <a:buNone/>
            </a:pPr>
            <a:r>
              <a:t/>
            </a:r>
            <a:endParaRPr b="1" sz="1800">
              <a:solidFill>
                <a:schemeClr val="dk1"/>
              </a:solidFill>
            </a:endParaRPr>
          </a:p>
          <a:p>
            <a:pPr indent="0" lvl="0" marL="0" rtl="0" algn="l">
              <a:spcBef>
                <a:spcPts val="0"/>
              </a:spcBef>
              <a:spcAft>
                <a:spcPts val="0"/>
              </a:spcAft>
              <a:buNone/>
            </a:pPr>
            <a:r>
              <a:rPr b="1" lang="fr" sz="1800">
                <a:solidFill>
                  <a:schemeClr val="dk1"/>
                </a:solidFill>
              </a:rPr>
              <a:t>corrélés avec</a:t>
            </a:r>
            <a:endParaRPr b="1" sz="1800">
              <a:solidFill>
                <a:schemeClr val="dk1"/>
              </a:solidFill>
            </a:endParaRPr>
          </a:p>
          <a:p>
            <a:pPr indent="0" lvl="0" marL="0" rtl="0" algn="l">
              <a:spcBef>
                <a:spcPts val="0"/>
              </a:spcBef>
              <a:spcAft>
                <a:spcPts val="0"/>
              </a:spcAft>
              <a:buNone/>
            </a:pPr>
            <a:r>
              <a:t/>
            </a:r>
            <a:endParaRPr b="1" sz="1800">
              <a:solidFill>
                <a:schemeClr val="dk1"/>
              </a:solidFill>
            </a:endParaRPr>
          </a:p>
          <a:p>
            <a:pPr indent="0" lvl="0" marL="0" rtl="0" algn="l">
              <a:spcBef>
                <a:spcPts val="0"/>
              </a:spcBef>
              <a:spcAft>
                <a:spcPts val="0"/>
              </a:spcAft>
              <a:buNone/>
            </a:pPr>
            <a:r>
              <a:rPr b="1" lang="fr" sz="1800">
                <a:solidFill>
                  <a:schemeClr val="dk1"/>
                </a:solidFill>
              </a:rPr>
              <a:t>le taux brut de scolarisation dans l’enseignement supérieur</a:t>
            </a:r>
            <a:endParaRPr b="1" sz="1800">
              <a:solidFill>
                <a:schemeClr val="dk1"/>
              </a:solidFill>
            </a:endParaRPr>
          </a:p>
          <a:p>
            <a:pPr indent="0" lvl="0" marL="0" rtl="0" algn="l">
              <a:spcBef>
                <a:spcPts val="0"/>
              </a:spcBef>
              <a:spcAft>
                <a:spcPts val="0"/>
              </a:spcAft>
              <a:buNone/>
            </a:pPr>
            <a:r>
              <a:t/>
            </a:r>
            <a:endParaRPr b="1" sz="1800">
              <a:solidFill>
                <a:schemeClr val="dk1"/>
              </a:solidFill>
            </a:endParaRPr>
          </a:p>
          <a:p>
            <a:pPr indent="0" lvl="0" marL="0" rtl="0" algn="l">
              <a:spcBef>
                <a:spcPts val="0"/>
              </a:spcBef>
              <a:spcAft>
                <a:spcPts val="0"/>
              </a:spcAft>
              <a:buNone/>
            </a:pPr>
            <a:r>
              <a:t/>
            </a:r>
            <a:endParaRPr b="1"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p18" title="Capture d’écran 2025-04-21 120207.png"/>
          <p:cNvPicPr preferRelativeResize="0"/>
          <p:nvPr/>
        </p:nvPicPr>
        <p:blipFill>
          <a:blip r:embed="rId3">
            <a:alphaModFix/>
          </a:blip>
          <a:stretch>
            <a:fillRect/>
          </a:stretch>
        </p:blipFill>
        <p:spPr>
          <a:xfrm>
            <a:off x="69600" y="54150"/>
            <a:ext cx="5086499" cy="2823749"/>
          </a:xfrm>
          <a:prstGeom prst="rect">
            <a:avLst/>
          </a:prstGeom>
          <a:noFill/>
          <a:ln>
            <a:noFill/>
          </a:ln>
        </p:spPr>
      </p:pic>
      <p:sp>
        <p:nvSpPr>
          <p:cNvPr id="87" name="Google Shape;87;p18"/>
          <p:cNvSpPr txBox="1"/>
          <p:nvPr/>
        </p:nvSpPr>
        <p:spPr>
          <a:xfrm>
            <a:off x="5908975" y="181700"/>
            <a:ext cx="3000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500">
                <a:solidFill>
                  <a:schemeClr val="dk1"/>
                </a:solidFill>
              </a:rPr>
              <a:t>🧮 2. Calcul de la moyenne par ligne (pays + indicateur)</a:t>
            </a:r>
            <a:endParaRPr/>
          </a:p>
        </p:txBody>
      </p:sp>
      <p:pic>
        <p:nvPicPr>
          <p:cNvPr id="88" name="Google Shape;88;p18" title="Capture d’écran 2025-04-21 121248.png"/>
          <p:cNvPicPr preferRelativeResize="0"/>
          <p:nvPr/>
        </p:nvPicPr>
        <p:blipFill>
          <a:blip r:embed="rId4">
            <a:alphaModFix/>
          </a:blip>
          <a:stretch>
            <a:fillRect/>
          </a:stretch>
        </p:blipFill>
        <p:spPr>
          <a:xfrm>
            <a:off x="5190122" y="54150"/>
            <a:ext cx="606525" cy="2865201"/>
          </a:xfrm>
          <a:prstGeom prst="rect">
            <a:avLst/>
          </a:prstGeom>
          <a:noFill/>
          <a:ln>
            <a:noFill/>
          </a:ln>
        </p:spPr>
      </p:pic>
      <p:pic>
        <p:nvPicPr>
          <p:cNvPr id="89" name="Google Shape;89;p18" title="Capture d’écran 2025-04-21 120229.png"/>
          <p:cNvPicPr preferRelativeResize="0"/>
          <p:nvPr/>
        </p:nvPicPr>
        <p:blipFill>
          <a:blip r:embed="rId5">
            <a:alphaModFix/>
          </a:blip>
          <a:stretch>
            <a:fillRect/>
          </a:stretch>
        </p:blipFill>
        <p:spPr>
          <a:xfrm>
            <a:off x="2879701" y="1285875"/>
            <a:ext cx="6128226" cy="3716701"/>
          </a:xfrm>
          <a:prstGeom prst="rect">
            <a:avLst/>
          </a:prstGeom>
          <a:noFill/>
          <a:ln>
            <a:noFill/>
          </a:ln>
        </p:spPr>
      </p:pic>
      <p:sp>
        <p:nvSpPr>
          <p:cNvPr id="90" name="Google Shape;90;p18"/>
          <p:cNvSpPr/>
          <p:nvPr/>
        </p:nvSpPr>
        <p:spPr>
          <a:xfrm flipH="1" rot="9496305">
            <a:off x="1792407" y="2902905"/>
            <a:ext cx="1046988" cy="1118687"/>
          </a:xfrm>
          <a:prstGeom prst="bentArrow">
            <a:avLst>
              <a:gd fmla="val 25000" name="adj1"/>
              <a:gd fmla="val 25000" name="adj2"/>
              <a:gd fmla="val 25000" name="adj3"/>
              <a:gd fmla="val 43750" name="adj4"/>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8"/>
          <p:cNvSpPr txBox="1"/>
          <p:nvPr/>
        </p:nvSpPr>
        <p:spPr>
          <a:xfrm>
            <a:off x="1179950" y="3947150"/>
            <a:ext cx="1386000" cy="6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800">
                <a:solidFill>
                  <a:schemeClr val="dk2"/>
                </a:solidFill>
              </a:rPr>
              <a:t>Pivot Table</a:t>
            </a:r>
            <a:endParaRPr sz="1800">
              <a:solidFill>
                <a:schemeClr val="dk2"/>
              </a:solidFill>
            </a:endParaRPr>
          </a:p>
        </p:txBody>
      </p:sp>
      <p:sp>
        <p:nvSpPr>
          <p:cNvPr id="92" name="Google Shape;92;p18"/>
          <p:cNvSpPr/>
          <p:nvPr/>
        </p:nvSpPr>
        <p:spPr>
          <a:xfrm>
            <a:off x="1123500" y="3925"/>
            <a:ext cx="435900" cy="2955600"/>
          </a:xfrm>
          <a:prstGeom prst="rect">
            <a:avLst/>
          </a:prstGeom>
          <a:noFill/>
          <a:ln cap="flat" cmpd="sng" w="19050">
            <a:solidFill>
              <a:srgbClr val="008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 name="Google Shape;93;p18"/>
          <p:cNvSpPr/>
          <p:nvPr/>
        </p:nvSpPr>
        <p:spPr>
          <a:xfrm>
            <a:off x="453400" y="-11775"/>
            <a:ext cx="435900" cy="2955600"/>
          </a:xfrm>
          <a:prstGeom prst="rect">
            <a:avLst/>
          </a:prstGeom>
          <a:noFill/>
          <a:ln cap="flat" cmpd="sng" w="19050">
            <a:solidFill>
              <a:srgbClr val="008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8"/>
          <p:cNvSpPr/>
          <p:nvPr/>
        </p:nvSpPr>
        <p:spPr>
          <a:xfrm>
            <a:off x="5156100" y="8950"/>
            <a:ext cx="683400" cy="1396500"/>
          </a:xfrm>
          <a:prstGeom prst="rect">
            <a:avLst/>
          </a:prstGeom>
          <a:noFill/>
          <a:ln cap="flat" cmpd="sng" w="19050">
            <a:solidFill>
              <a:srgbClr val="008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ctrTitle"/>
          </p:nvPr>
        </p:nvSpPr>
        <p:spPr>
          <a:xfrm>
            <a:off x="248883" y="1435750"/>
            <a:ext cx="8520600" cy="2052600"/>
          </a:xfrm>
          <a:prstGeom prst="rect">
            <a:avLst/>
          </a:prstGeom>
        </p:spPr>
        <p:txBody>
          <a:bodyPr anchorCtr="0" anchor="ctr" bIns="91425" lIns="91425" spcFirstLastPara="1" rIns="91425" wrap="square" tIns="91425">
            <a:normAutofit/>
          </a:bodyPr>
          <a:lstStyle/>
          <a:p>
            <a:pPr indent="0" lvl="0" marL="0" rtl="0" algn="ctr">
              <a:lnSpc>
                <a:spcPct val="156521"/>
              </a:lnSpc>
              <a:spcBef>
                <a:spcPts val="0"/>
              </a:spcBef>
              <a:spcAft>
                <a:spcPts val="600"/>
              </a:spcAft>
              <a:buNone/>
            </a:pPr>
            <a:r>
              <a:rPr b="1" lang="fr" sz="2300">
                <a:solidFill>
                  <a:srgbClr val="271A38"/>
                </a:solidFill>
                <a:highlight>
                  <a:srgbClr val="FFFAEE"/>
                </a:highlight>
              </a:rPr>
              <a:t>Quelques représentations graphiques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20" title="Capture d’écran 2025-04-21 011301.png"/>
          <p:cNvPicPr preferRelativeResize="0"/>
          <p:nvPr/>
        </p:nvPicPr>
        <p:blipFill>
          <a:blip r:embed="rId3">
            <a:alphaModFix/>
          </a:blip>
          <a:stretch>
            <a:fillRect/>
          </a:stretch>
        </p:blipFill>
        <p:spPr>
          <a:xfrm>
            <a:off x="152400" y="152400"/>
            <a:ext cx="8839202" cy="4282838"/>
          </a:xfrm>
          <a:prstGeom prst="rect">
            <a:avLst/>
          </a:prstGeom>
          <a:noFill/>
          <a:ln>
            <a:noFill/>
          </a:ln>
        </p:spPr>
      </p:pic>
      <p:sp>
        <p:nvSpPr>
          <p:cNvPr id="105" name="Google Shape;105;p20"/>
          <p:cNvSpPr txBox="1"/>
          <p:nvPr/>
        </p:nvSpPr>
        <p:spPr>
          <a:xfrm>
            <a:off x="550000" y="4435250"/>
            <a:ext cx="59952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600">
                <a:solidFill>
                  <a:schemeClr val="dk1"/>
                </a:solidFill>
              </a:rPr>
              <a:t>taux brut de scolarisation dans l’enseignement supérieur (universités, grandes écoles, BTS, etc.).</a:t>
            </a:r>
            <a:endParaRPr sz="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21" title="Capture d’écran 2025-04-21 011443.png"/>
          <p:cNvPicPr preferRelativeResize="0"/>
          <p:nvPr/>
        </p:nvPicPr>
        <p:blipFill>
          <a:blip r:embed="rId3">
            <a:alphaModFix/>
          </a:blip>
          <a:stretch>
            <a:fillRect/>
          </a:stretch>
        </p:blipFill>
        <p:spPr>
          <a:xfrm>
            <a:off x="152400" y="152400"/>
            <a:ext cx="8839200" cy="4616274"/>
          </a:xfrm>
          <a:prstGeom prst="rect">
            <a:avLst/>
          </a:prstGeom>
          <a:noFill/>
          <a:ln>
            <a:noFill/>
          </a:ln>
        </p:spPr>
      </p:pic>
      <p:sp>
        <p:nvSpPr>
          <p:cNvPr id="111" name="Google Shape;111;p21"/>
          <p:cNvSpPr txBox="1"/>
          <p:nvPr/>
        </p:nvSpPr>
        <p:spPr>
          <a:xfrm>
            <a:off x="297925" y="4560550"/>
            <a:ext cx="8309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000">
                <a:solidFill>
                  <a:schemeClr val="dk1"/>
                </a:solidFill>
              </a:rPr>
              <a:t> désigne les </a:t>
            </a:r>
            <a:r>
              <a:rPr b="1" lang="fr" sz="1000">
                <a:solidFill>
                  <a:schemeClr val="dk1"/>
                </a:solidFill>
              </a:rPr>
              <a:t>étudiants internationaux qui viennent étudier dans un pays donné</a:t>
            </a:r>
            <a:r>
              <a:rPr lang="fr" sz="1000">
                <a:solidFill>
                  <a:schemeClr val="dk1"/>
                </a:solidFill>
              </a:rPr>
              <a:t>, donc "inbound" = qui arrivent </a:t>
            </a:r>
            <a:r>
              <a:rPr b="1" lang="fr" sz="1000">
                <a:solidFill>
                  <a:schemeClr val="dk1"/>
                </a:solidFill>
              </a:rPr>
              <a:t>de l’étranger</a:t>
            </a:r>
            <a:r>
              <a:rPr lang="fr" sz="1000">
                <a:solidFill>
                  <a:schemeClr val="dk1"/>
                </a:solidFill>
              </a:rPr>
              <a:t> pour s’inscrire dans une institution de ce pays.</a:t>
            </a:r>
            <a:endParaRPr sz="17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2" title="Capture d’écran 2025-04-21 011508.png"/>
          <p:cNvPicPr preferRelativeResize="0"/>
          <p:nvPr/>
        </p:nvPicPr>
        <p:blipFill>
          <a:blip r:embed="rId3">
            <a:alphaModFix/>
          </a:blip>
          <a:stretch>
            <a:fillRect/>
          </a:stretch>
        </p:blipFill>
        <p:spPr>
          <a:xfrm>
            <a:off x="48125" y="218875"/>
            <a:ext cx="8871424" cy="45868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23" title="Capture d’écran 2025-04-21 011531.png"/>
          <p:cNvPicPr preferRelativeResize="0"/>
          <p:nvPr/>
        </p:nvPicPr>
        <p:blipFill>
          <a:blip r:embed="rId3">
            <a:alphaModFix/>
          </a:blip>
          <a:stretch>
            <a:fillRect/>
          </a:stretch>
        </p:blipFill>
        <p:spPr>
          <a:xfrm>
            <a:off x="152400" y="152400"/>
            <a:ext cx="8839201" cy="474670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4" title="Capture d’écran 2025-04-21 011552.png"/>
          <p:cNvPicPr preferRelativeResize="0"/>
          <p:nvPr/>
        </p:nvPicPr>
        <p:blipFill>
          <a:blip r:embed="rId3">
            <a:alphaModFix/>
          </a:blip>
          <a:stretch>
            <a:fillRect/>
          </a:stretch>
        </p:blipFill>
        <p:spPr>
          <a:xfrm>
            <a:off x="152400" y="278450"/>
            <a:ext cx="8839202" cy="448667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25" title="Capture d’écran 2025-04-21 011615.png"/>
          <p:cNvPicPr preferRelativeResize="0"/>
          <p:nvPr/>
        </p:nvPicPr>
        <p:blipFill>
          <a:blip r:embed="rId3">
            <a:alphaModFix/>
          </a:blip>
          <a:stretch>
            <a:fillRect/>
          </a:stretch>
        </p:blipFill>
        <p:spPr>
          <a:xfrm>
            <a:off x="152400" y="152400"/>
            <a:ext cx="8678261" cy="48387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6" title="Capture d’écran 2025-04-21 011713.png"/>
          <p:cNvPicPr preferRelativeResize="0"/>
          <p:nvPr/>
        </p:nvPicPr>
        <p:blipFill>
          <a:blip r:embed="rId3">
            <a:alphaModFix/>
          </a:blip>
          <a:stretch>
            <a:fillRect/>
          </a:stretch>
        </p:blipFill>
        <p:spPr>
          <a:xfrm>
            <a:off x="0" y="219107"/>
            <a:ext cx="9144001" cy="479833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310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Score global ajusté</a:t>
            </a:r>
            <a:endParaRPr/>
          </a:p>
        </p:txBody>
      </p:sp>
      <p:sp>
        <p:nvSpPr>
          <p:cNvPr id="142" name="Google Shape;142;p27"/>
          <p:cNvSpPr txBox="1"/>
          <p:nvPr>
            <p:ph idx="1" type="body"/>
          </p:nvPr>
        </p:nvSpPr>
        <p:spPr>
          <a:xfrm>
            <a:off x="311700" y="9507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fr"/>
              <a:t>Définir un poids pour chaque indicateur selon notre vision de leur importance</a:t>
            </a:r>
            <a:endParaRPr/>
          </a:p>
          <a:p>
            <a:pPr indent="-342900" lvl="0" marL="457200" rtl="0" algn="l">
              <a:spcBef>
                <a:spcPts val="0"/>
              </a:spcBef>
              <a:spcAft>
                <a:spcPts val="0"/>
              </a:spcAft>
              <a:buSzPts val="1800"/>
              <a:buChar char="-"/>
            </a:pPr>
            <a:r>
              <a:rPr lang="fr"/>
              <a:t>Multiplier chaque valeur par le poids</a:t>
            </a:r>
            <a:endParaRPr/>
          </a:p>
          <a:p>
            <a:pPr indent="-342900" lvl="0" marL="457200" rtl="0" algn="l">
              <a:spcBef>
                <a:spcPts val="0"/>
              </a:spcBef>
              <a:spcAft>
                <a:spcPts val="0"/>
              </a:spcAft>
              <a:buSzPts val="1800"/>
              <a:buChar char="-"/>
            </a:pPr>
            <a:r>
              <a:rPr lang="fr"/>
              <a:t>Et faire une somme final pour chaque pays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43" name="Google Shape;143;p27" title="top countries.png"/>
          <p:cNvPicPr preferRelativeResize="0"/>
          <p:nvPr/>
        </p:nvPicPr>
        <p:blipFill>
          <a:blip r:embed="rId3">
            <a:alphaModFix/>
          </a:blip>
          <a:stretch>
            <a:fillRect/>
          </a:stretch>
        </p:blipFill>
        <p:spPr>
          <a:xfrm>
            <a:off x="527975" y="2128650"/>
            <a:ext cx="4643135" cy="2846775"/>
          </a:xfrm>
          <a:prstGeom prst="rect">
            <a:avLst/>
          </a:prstGeom>
          <a:noFill/>
          <a:ln>
            <a:noFill/>
          </a:ln>
        </p:spPr>
      </p:pic>
      <p:pic>
        <p:nvPicPr>
          <p:cNvPr id="144" name="Google Shape;144;p27" title="Capture d’écran 2025-04-21 123510.png"/>
          <p:cNvPicPr preferRelativeResize="0"/>
          <p:nvPr/>
        </p:nvPicPr>
        <p:blipFill>
          <a:blip r:embed="rId4">
            <a:alphaModFix/>
          </a:blip>
          <a:stretch>
            <a:fillRect/>
          </a:stretch>
        </p:blipFill>
        <p:spPr>
          <a:xfrm>
            <a:off x="6067751" y="1608050"/>
            <a:ext cx="1362200" cy="3367375"/>
          </a:xfrm>
          <a:prstGeom prst="rect">
            <a:avLst/>
          </a:prstGeom>
          <a:noFill/>
          <a:ln>
            <a:noFill/>
          </a:ln>
        </p:spPr>
      </p:pic>
      <p:sp>
        <p:nvSpPr>
          <p:cNvPr id="145" name="Google Shape;145;p27"/>
          <p:cNvSpPr/>
          <p:nvPr/>
        </p:nvSpPr>
        <p:spPr>
          <a:xfrm>
            <a:off x="6014500" y="1608050"/>
            <a:ext cx="1202700" cy="1365000"/>
          </a:xfrm>
          <a:prstGeom prst="roundRect">
            <a:avLst>
              <a:gd fmla="val 16667" name="adj"/>
            </a:avLst>
          </a:prstGeom>
          <a:noFill/>
          <a:ln cap="flat" cmpd="sng" w="28575">
            <a:solidFill>
              <a:srgbClr val="A3151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27"/>
          <p:cNvSpPr txBox="1"/>
          <p:nvPr/>
        </p:nvSpPr>
        <p:spPr>
          <a:xfrm>
            <a:off x="7256500" y="1608050"/>
            <a:ext cx="1036800" cy="6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800">
                <a:solidFill>
                  <a:srgbClr val="A31515"/>
                </a:solidFill>
              </a:rPr>
              <a:t>Top 10</a:t>
            </a:r>
            <a:endParaRPr b="1" sz="1800">
              <a:solidFill>
                <a:srgbClr val="A31515"/>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Next steps</a:t>
            </a:r>
            <a:endParaRPr/>
          </a:p>
        </p:txBody>
      </p:sp>
      <p:sp>
        <p:nvSpPr>
          <p:cNvPr id="152" name="Google Shape;152;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fr" sz="1600"/>
              <a:t>Investiguer 3 - 5 pays comme le Quatar ou la Norvège</a:t>
            </a:r>
            <a:endParaRPr sz="1600"/>
          </a:p>
          <a:p>
            <a:pPr indent="-330200" lvl="0" marL="457200" rtl="0" algn="l">
              <a:spcBef>
                <a:spcPts val="0"/>
              </a:spcBef>
              <a:spcAft>
                <a:spcPts val="0"/>
              </a:spcAft>
              <a:buSzPts val="1600"/>
              <a:buChar char="-"/>
            </a:pPr>
            <a:r>
              <a:rPr lang="fr" sz="1600"/>
              <a:t>Ajouter des nouveaux indicateurs </a:t>
            </a:r>
            <a:r>
              <a:rPr lang="fr" sz="1600"/>
              <a:t>externes</a:t>
            </a:r>
            <a:r>
              <a:rPr lang="fr" sz="1600"/>
              <a:t> si besoin par exemple pour voir s’il est abordable de faire du business dans ces pays ou si le prix de la formation influencerait l’achat du consommateur. Par exemple aux états unis , une formation trop peu chère est vu comme de mauvaise qualité</a:t>
            </a:r>
            <a:endParaRPr sz="1600"/>
          </a:p>
          <a:p>
            <a:pPr indent="-330200" lvl="0" marL="457200" rtl="0" algn="l">
              <a:spcBef>
                <a:spcPts val="0"/>
              </a:spcBef>
              <a:spcAft>
                <a:spcPts val="0"/>
              </a:spcAft>
              <a:buSzPts val="1600"/>
              <a:buChar char="-"/>
            </a:pPr>
            <a:r>
              <a:rPr lang="fr" sz="1600"/>
              <a:t>Atelier avec les métiers pour </a:t>
            </a:r>
            <a:r>
              <a:rPr lang="fr" sz="1600"/>
              <a:t>connaître</a:t>
            </a:r>
            <a:r>
              <a:rPr lang="fr" sz="1600"/>
              <a:t> leur point de vue sur les pondérations</a:t>
            </a:r>
            <a:endParaRPr sz="1600"/>
          </a:p>
          <a:p>
            <a:pPr indent="-330200" lvl="0" marL="457200" rtl="0" algn="l">
              <a:spcBef>
                <a:spcPts val="0"/>
              </a:spcBef>
              <a:spcAft>
                <a:spcPts val="0"/>
              </a:spcAft>
              <a:buSzPts val="1600"/>
              <a:buChar char="-"/>
            </a:pPr>
            <a:r>
              <a:rPr lang="fr" sz="1600"/>
              <a:t>Processus d’amélioration continue itératif </a:t>
            </a:r>
            <a:endParaRPr sz="1600"/>
          </a:p>
        </p:txBody>
      </p:sp>
      <p:pic>
        <p:nvPicPr>
          <p:cNvPr id="153" name="Google Shape;153;p28" title="1554756966824.png"/>
          <p:cNvPicPr preferRelativeResize="0"/>
          <p:nvPr/>
        </p:nvPicPr>
        <p:blipFill>
          <a:blip r:embed="rId3">
            <a:alphaModFix/>
          </a:blip>
          <a:stretch>
            <a:fillRect/>
          </a:stretch>
        </p:blipFill>
        <p:spPr>
          <a:xfrm>
            <a:off x="5830600" y="2999050"/>
            <a:ext cx="3564099" cy="1946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