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30.png"/><Relationship Id="rId7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noFill/>
          <a:ln cap="flat" cmpd="sng" w="1587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noFill/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PROOF OF CONCEPT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1828800"/>
            <a:ext cx="9326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Assistant intelligent 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recommandation d’événements culturels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POC RAG — Puls-Events  •  Versailles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709160"/>
            <a:ext cx="3246120" cy="1371600"/>
          </a:xfrm>
          <a:prstGeom prst="roundRect">
            <a:avLst>
              <a:gd fmla="val 5333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C9A227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49651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1572768" y="49103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51560" y="5458968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OpenAgenda — Culture Versailles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389120" y="4709160"/>
            <a:ext cx="3246120" cy="1371600"/>
          </a:xfrm>
          <a:prstGeom prst="roundRect">
            <a:avLst>
              <a:gd fmla="val 5333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pu_C9A227.png"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49651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5138928" y="49103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617720" y="5458968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LangChain • Mistral • FAISS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955280" y="4709160"/>
            <a:ext cx="3246120" cy="1371600"/>
          </a:xfrm>
          <a:prstGeom prst="roundRect">
            <a:avLst>
              <a:gd fmla="val 5333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monitor_C9A227.png"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3880" y="49651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8705088" y="49103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Démonstration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83880" y="5458968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Streamlit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01 — CADRAGE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Contexte et besoin métier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" y="1874520"/>
            <a:ext cx="7040880" cy="1051560"/>
          </a:xfrm>
          <a:prstGeom prst="roundRect">
            <a:avLst>
              <a:gd fmla="val 608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68680" y="216712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arget_FFFFFF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2267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1554480" y="1947672"/>
            <a:ext cx="5989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Puls-Events souhaite tester un chatbot intelligent pour recommander des événements culturels.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3108960"/>
            <a:ext cx="7040880" cy="1051560"/>
          </a:xfrm>
          <a:prstGeom prst="roundRect">
            <a:avLst>
              <a:gd fmla="val 608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68680" y="340156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FFFFFF.png" id="48" name="Google Shape;4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264" y="35021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1554480" y="3182112"/>
            <a:ext cx="5989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Le POC s’appuie sur des données réelles issues d’OpenAgenda.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" y="4343400"/>
            <a:ext cx="7040880" cy="1051560"/>
          </a:xfrm>
          <a:prstGeom prst="roundRect">
            <a:avLst>
              <a:gd fmla="val 608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52" name="Google Shape;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64" y="47365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1554480" y="4416552"/>
            <a:ext cx="5989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Les réponses doivent être précises et fondées sur les événements disponibles.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001000" y="1874520"/>
            <a:ext cx="3520440" cy="3703320"/>
          </a:xfrm>
          <a:prstGeom prst="roundRect">
            <a:avLst>
              <a:gd fmla="val 2078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321040" y="21945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PÉRIMÈTRE GÉOGRAPHIQUE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321040" y="26974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Versailles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321040" y="361188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Le POC est volontairement circonscrit à un territoire maîtrisé pour valider l’approche avant extension.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01 — CADRAGE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Objectifs du POC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1920240"/>
            <a:ext cx="5349240" cy="1783080"/>
          </a:xfrm>
          <a:prstGeom prst="roundRect">
            <a:avLst>
              <a:gd fmla="val 410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1B2A4A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416" y="23225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914400" y="288036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Collecte &amp; nettoyage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14400" y="318211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Collecter et nettoyer les événements publics.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309360" y="1920240"/>
            <a:ext cx="5349240" cy="1783080"/>
          </a:xfrm>
          <a:prstGeom prst="roundRect">
            <a:avLst>
              <a:gd fmla="val 410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1B2A4A.png" id="73" name="Google Shape;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1696" y="23225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6583680" y="288036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Base vectorielle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583680" y="318211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Créer une base vectorielle permettant une recherche sémantique.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fmla="val 410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914400" y="429768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message_1B2A4A.png"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416" y="44256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914400" y="498348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Recommandations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14400" y="528523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Générer des recommandations contextualisées avec Mistral.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309360" y="4023360"/>
            <a:ext cx="5349240" cy="1783080"/>
          </a:xfrm>
          <a:prstGeom prst="roundRect">
            <a:avLst>
              <a:gd fmla="val 410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583680" y="429768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monitor_1B2A4A.png" id="83" name="Google Shape;8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1696" y="44256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6583680" y="498348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Démonstration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583680" y="528523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Fournir un projet reproductible, testable et démontrable avec Streamlit.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02 — DONNÉES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Acquisition et préparation des données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0080" y="1874520"/>
            <a:ext cx="6400800" cy="3703320"/>
          </a:xfrm>
          <a:prstGeom prst="roundRect">
            <a:avLst>
              <a:gd fmla="val 1975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60120" y="214884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960120" y="2423160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Agenda Culture Versailles — UID 60871835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60120" y="2990088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960120" y="326440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98 événements sauvegardés dans data/events_versailles.csv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60120" y="3831336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CHAMPS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60120" y="4105656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title, description, city, date, begin_date, 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60120" y="4672584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FORMAT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960120" y="4946904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begin_date au format ISO, exploitable par Pandas pour les tests temporels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360920" y="1874520"/>
            <a:ext cx="4160520" cy="3703320"/>
          </a:xfrm>
          <a:prstGeom prst="roundRect">
            <a:avLst>
              <a:gd fmla="val 1975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C9A227.png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0" y="2194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7589520" y="274320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mbria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98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680960" y="397764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événements collectés et stockés en CSV, prêts pour la vectorisation.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02 — DONNÉES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Stratégie de chunking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Les données sont des fiches événementielles courtes — pas de longs documents PDF à découper.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22960" y="2697480"/>
            <a:ext cx="2743200" cy="1371600"/>
          </a:xfrm>
          <a:prstGeom prst="roundRect">
            <a:avLst>
              <a:gd fmla="val 533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1 événement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22960" y="344728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OpenAgenda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0" y="32186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4251960" y="2697480"/>
            <a:ext cx="2743200" cy="1371600"/>
          </a:xfrm>
          <a:prstGeom prst="roundRect">
            <a:avLst>
              <a:gd fmla="val 5333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251960" y="3017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 Document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251960" y="344728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8040" y="32186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7680960" y="2697480"/>
            <a:ext cx="2743200" cy="1371600"/>
          </a:xfrm>
          <a:prstGeom prst="roundRect">
            <a:avLst>
              <a:gd fmla="val 533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680960" y="3017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1 chunk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680960" y="344728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vectorisé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40080" y="466344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896112" y="4919472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1B2A4A.png" id="129" name="Google Shape;1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5029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1508760" y="48463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Cohésion préservée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508760" y="521208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Le titre, la date, la ville et la description restent regroupés ensemble.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217920" y="466344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473952" y="4919472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1B2A4A.png"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5029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7086600" y="48463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Sens métier conservé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086600" y="521208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Cette stratégie limite le nombre d’embeddings tout en préservant le contexte.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03 — INDEXATION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Embeddings et indexation FAISS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40080" y="1874520"/>
            <a:ext cx="5120640" cy="1737360"/>
          </a:xfrm>
          <a:prstGeom prst="roundRect">
            <a:avLst>
              <a:gd fmla="val 4211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932688" y="2167128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pu_1B2A4A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" y="23042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1645920" y="21671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Mistral Embed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932688" y="2834640"/>
            <a:ext cx="4535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Transforme le contenu de chaque Document en vecteur numérique.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217920" y="1874520"/>
            <a:ext cx="5120640" cy="1737360"/>
          </a:xfrm>
          <a:prstGeom prst="roundRect">
            <a:avLst>
              <a:gd fmla="val 4211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510528" y="2167128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_1B2A4A.png" id="152" name="Google Shape;1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7688" y="23042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7223760" y="21671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FAISS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510528" y="2834640"/>
            <a:ext cx="4535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Indexe ces vecteurs pour une recherche rapide par similarité sémantique.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40080" y="3886200"/>
            <a:ext cx="10881360" cy="1600200"/>
          </a:xfrm>
          <a:prstGeom prst="roundRect">
            <a:avLst>
              <a:gd fmla="val 4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C9A227.png" id="156" name="Google Shape;15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4434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554480" y="4160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vectorstore/faiss_versailles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554480" y="4498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La base est sauvegardée localement pour un rechargement rapide.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8"/>
          <p:cNvCxnSpPr/>
          <p:nvPr/>
        </p:nvCxnSpPr>
        <p:spPr>
          <a:xfrm>
            <a:off x="6858000" y="4069080"/>
            <a:ext cx="0" cy="1234440"/>
          </a:xfrm>
          <a:prstGeom prst="straightConnector1">
            <a:avLst/>
          </a:prstGeom>
          <a:noFill/>
          <a:ln cap="flat" cmpd="sng" w="12700">
            <a:solidFill>
              <a:srgbClr val="D8D4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8"/>
          <p:cNvSpPr/>
          <p:nvPr/>
        </p:nvSpPr>
        <p:spPr>
          <a:xfrm>
            <a:off x="7132320" y="4160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index.faiss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132320" y="44348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Index vectoriel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9235440" y="4160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index.pkl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235440" y="44348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Association avec les Documents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03 — INDEXATION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Fonctionnement du système RAG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40080" y="2194560"/>
            <a:ext cx="2468880" cy="3200400"/>
          </a:xfrm>
          <a:prstGeom prst="roundRect">
            <a:avLst>
              <a:gd fmla="val 296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868680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message_FFFFFF.png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3182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868680" y="37307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68680" y="411480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La question utilisateur est transformée en embedding.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178" name="Google Shape;1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248" y="36576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3364992" y="2194560"/>
            <a:ext cx="2468880" cy="3200400"/>
          </a:xfrm>
          <a:prstGeom prst="roundRect">
            <a:avLst>
              <a:gd fmla="val 296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3593592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593592" y="306324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_FFFFFF.png" id="182" name="Google Shape;18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2464" y="3182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3593592" y="37307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Recherche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593592" y="411480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FAISS recherche les 4 Documents les plus proches sémantiquement.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36576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6089904" y="2194560"/>
            <a:ext cx="2468880" cy="3200400"/>
          </a:xfrm>
          <a:prstGeom prst="roundRect">
            <a:avLst>
              <a:gd fmla="val 2963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318504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318504" y="306324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FFFFFF.png" id="189" name="Google Shape;18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7376" y="3182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6318504" y="37307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318504" y="411480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Les Documents retrouvés sont assemblés dans un contexte.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072" y="36576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8814816" y="2194560"/>
            <a:ext cx="2468880" cy="3200400"/>
          </a:xfrm>
          <a:prstGeom prst="roundRect">
            <a:avLst>
              <a:gd fmla="val 2963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9043416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043416" y="306324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pu_1B2A4A.png" id="196" name="Google Shape;19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62288" y="3182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9043416" y="37307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Génération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9043416" y="411480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Mistral Small génère une réponse uniquement à partir de ce contexte.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04 — EXPÉRIENCE UTILISATEUR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Interface Streamlit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40080" y="1874520"/>
            <a:ext cx="6858000" cy="841248"/>
          </a:xfrm>
          <a:prstGeom prst="roundRect">
            <a:avLst>
              <a:gd fmla="val 6522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841248" y="2066544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message_FFFFFF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2167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1508760" y="1947672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Saisie en langage naturel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508760" y="2276856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L’utilisateur saisit une question en langage naturel.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40080" y="2862072"/>
            <a:ext cx="6858000" cy="841248"/>
          </a:xfrm>
          <a:prstGeom prst="roundRect">
            <a:avLst>
              <a:gd fmla="val 6522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841248" y="3054096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_FFFFFF.png" id="214" name="Google Shape;2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832" y="3154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1508760" y="2935224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Recherche des événements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508760" y="32644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L’application charge la base FAISS et recherche les événements pertinents.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40080" y="3849624"/>
            <a:ext cx="6858000" cy="841248"/>
          </a:xfrm>
          <a:prstGeom prst="roundRect">
            <a:avLst>
              <a:gd fmla="val 6522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41248" y="404164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zap_FFFFFF.png" id="219" name="Google Shape;21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832" y="41422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1508760" y="3922776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Réponse générée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508760" y="425196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Le chatbot affiche une réponse naturelle et concise.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40080" y="4837176"/>
            <a:ext cx="6858000" cy="841248"/>
          </a:xfrm>
          <a:prstGeom prst="roundRect">
            <a:avLst>
              <a:gd fmla="val 6522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41248" y="50292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FFFFFF.png" id="224" name="Google Shape;22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832" y="5129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1508760" y="491032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Sources affichées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508760" y="5239512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Les événements sources sont affichés avec titre, date, ville et URL.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818120" y="1874520"/>
            <a:ext cx="3703320" cy="3977640"/>
          </a:xfrm>
          <a:prstGeom prst="roundRect">
            <a:avLst>
              <a:gd fmla="val 246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8092440" y="2148840"/>
            <a:ext cx="3154680" cy="502920"/>
          </a:xfrm>
          <a:prstGeom prst="roundRect">
            <a:avLst>
              <a:gd fmla="val 10909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8229600" y="2267712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🔍 Quels concerts ce week-end 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092440" y="2788920"/>
            <a:ext cx="3154680" cy="1234440"/>
          </a:xfrm>
          <a:prstGeom prst="roundRect">
            <a:avLst>
              <a:gd fmla="val 4444" name="adj"/>
            </a:avLst>
          </a:prstGeom>
          <a:solidFill>
            <a:srgbClr val="243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8275320" y="2926080"/>
            <a:ext cx="2788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Réponse du chatbot fondée sur les événements retrouvés dans FAISS, avec un ton naturel et concis.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8092440" y="4206240"/>
            <a:ext cx="3154680" cy="548640"/>
          </a:xfrm>
          <a:prstGeom prst="roundRect">
            <a:avLst>
              <a:gd fmla="val 10000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C9A227.png"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0" y="43525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8595360" y="432511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Concert — 15/09 — Versailles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092440" y="4892040"/>
            <a:ext cx="3154680" cy="548640"/>
          </a:xfrm>
          <a:prstGeom prst="roundRect">
            <a:avLst>
              <a:gd fmla="val 10000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C9A227.png" id="236" name="Google Shape;23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0" y="50383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8595360" y="501091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Exposition — 20/09 — Versailles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05 — QUALITÉ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Tests unitaires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40080" y="1874520"/>
            <a:ext cx="5349240" cy="640080"/>
          </a:xfrm>
          <a:prstGeom prst="roundRect">
            <a:avLst>
              <a:gd fmla="val 8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C9A227.png"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0391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1325880" y="18745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Existence du CSV et dataset non vide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309360" y="1874520"/>
            <a:ext cx="5349240" cy="640080"/>
          </a:xfrm>
          <a:prstGeom prst="roundRect">
            <a:avLst>
              <a:gd fmla="val 8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C9A227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20391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6995160" y="18745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Présence des colonnes obligatoires, sans champ requis vide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40080" y="2788920"/>
            <a:ext cx="5349240" cy="640080"/>
          </a:xfrm>
          <a:prstGeom prst="roundRect">
            <a:avLst>
              <a:gd fmla="val 8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C9A227.png"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9535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1325880" y="27889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Tous les événements localisés à Versailles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309360" y="2788920"/>
            <a:ext cx="5349240" cy="640080"/>
          </a:xfrm>
          <a:prstGeom prst="roundRect">
            <a:avLst>
              <a:gd fmla="val 8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C9A227.png" id="256" name="Google Shape;2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29535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1"/>
          <p:cNvSpPr/>
          <p:nvPr/>
        </p:nvSpPr>
        <p:spPr>
          <a:xfrm>
            <a:off x="6995160" y="27889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Événements à venir ou de moins d’un 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40080" y="3703320"/>
            <a:ext cx="5349240" cy="640080"/>
          </a:xfrm>
          <a:prstGeom prst="roundRect">
            <a:avLst>
              <a:gd fmla="val 8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C9A227.png"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8679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1325880" y="37033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Absence de doublons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309360" y="3703320"/>
            <a:ext cx="5349240" cy="640080"/>
          </a:xfrm>
          <a:prstGeom prst="roundRect">
            <a:avLst>
              <a:gd fmla="val 8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C9A227.png" id="262" name="Google Shape;2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38679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6995160" y="37033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Présence des fichiers index.faiss et index.pkl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fmla="val 7368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zap_C9A227.png" id="265" name="Google Shape;2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535838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/>
          <p:nvPr/>
        </p:nvSpPr>
        <p:spPr>
          <a:xfrm>
            <a:off x="1417320" y="507492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Exécution avec Pytest — intégration possible dans GitHub Actions.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05 — QUALITÉ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Jeu de test annoté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40080" y="1874520"/>
            <a:ext cx="4023360" cy="3703320"/>
          </a:xfrm>
          <a:prstGeom prst="roundRect">
            <a:avLst>
              <a:gd fmla="val 1975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lipboard_C9A227.png" id="276" name="Google Shape;2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194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2"/>
          <p:cNvSpPr/>
          <p:nvPr/>
        </p:nvSpPr>
        <p:spPr>
          <a:xfrm>
            <a:off x="822960" y="274320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~10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14400" y="3840480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couples question / réponse attendue dans evaluation_dataset.csv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4937750" y="1874538"/>
            <a:ext cx="6537900" cy="3703200"/>
          </a:xfrm>
          <a:prstGeom prst="roundRect">
            <a:avLst>
              <a:gd fmla="val 4571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5148675" y="2107020"/>
            <a:ext cx="5943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Évaluation qualitative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257800" y="2579873"/>
            <a:ext cx="59436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RÉSULTATS MOYENS</a:t>
            </a:r>
            <a:endParaRPr sz="1150">
              <a:solidFill>
                <a:srgbClr val="6E7A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6E7A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6E7A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6E7A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Similarité sémantique : 0.812</a:t>
            </a:r>
            <a:endParaRPr sz="1150">
              <a:solidFill>
                <a:srgbClr val="6E7A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Faithfulness : 0.78</a:t>
            </a:r>
            <a:endParaRPr sz="1150">
              <a:solidFill>
                <a:srgbClr val="6E7A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6E7A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06 — BILAN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Résultats et limites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40080" y="1874520"/>
            <a:ext cx="5349240" cy="3703320"/>
          </a:xfrm>
          <a:prstGeom prst="roundRect">
            <a:avLst>
              <a:gd fmla="val 1975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rending_C9A227.png" id="291" name="Google Shape;2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148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/>
          <p:nvPr/>
        </p:nvSpPr>
        <p:spPr>
          <a:xfrm>
            <a:off x="1417320" y="21945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RÉSULTATS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eck_FFFFFF.png" id="293" name="Google Shape;2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7889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1280160" y="271576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FF6"/>
                </a:solidFill>
                <a:latin typeface="Calibri"/>
                <a:ea typeface="Calibri"/>
                <a:cs typeface="Calibri"/>
                <a:sym typeface="Calibri"/>
              </a:rPr>
              <a:t>POC fonctionnel avec 98 événements indexés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eck_FFFFFF.png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4747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1280160" y="340156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FF6"/>
                </a:solidFill>
                <a:latin typeface="Calibri"/>
                <a:ea typeface="Calibri"/>
                <a:cs typeface="Calibri"/>
                <a:sym typeface="Calibri"/>
              </a:rPr>
              <a:t>Recherche sémantique opérationnelle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eck_FFFFFF.png" id="297" name="Google Shape;2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4160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1280160" y="408736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FF6"/>
                </a:solidFill>
                <a:latin typeface="Calibri"/>
                <a:ea typeface="Calibri"/>
                <a:cs typeface="Calibri"/>
                <a:sym typeface="Calibri"/>
              </a:rPr>
              <a:t>Génération de réponses contextualisées fonctionnelle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172200" y="1874520"/>
            <a:ext cx="5349240" cy="3703320"/>
          </a:xfrm>
          <a:prstGeom prst="roundRect">
            <a:avLst>
              <a:gd fmla="val 1975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492240" y="21945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LIMITES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492240" y="278892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812280" y="265176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Périmètre restreint à Versailles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492240" y="3447288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6812280" y="33101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Dépendance à OpenAgenda et à l’API Mistral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6492240" y="4105656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6812280" y="396849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Pas d’historique conversationnel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492240" y="4764024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6812280" y="462686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6324A"/>
                </a:solidFill>
                <a:latin typeface="Calibri"/>
                <a:ea typeface="Calibri"/>
                <a:cs typeface="Calibri"/>
                <a:sym typeface="Calibri"/>
              </a:rPr>
              <a:t>Évaluation encore principalement qualitative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07 — PROCHAINES ÉTAPES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Recommandations pour une version finale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40080" y="1874520"/>
            <a:ext cx="3429000" cy="1691640"/>
          </a:xfrm>
          <a:prstGeom prst="roundRect">
            <a:avLst>
              <a:gd fmla="val 4324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zap_1B2A4A.png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984" y="22494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896112" y="2743200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Automatiser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96112" y="304495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La mise à jour des événements et la reconstruction de l’index.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325112" y="1874520"/>
            <a:ext cx="3429000" cy="1691640"/>
          </a:xfrm>
          <a:prstGeom prst="roundRect">
            <a:avLst>
              <a:gd fmla="val 4324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4581144" y="2130552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1B2A4A.png" id="324" name="Google Shape;3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0016" y="22494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4"/>
          <p:cNvSpPr/>
          <p:nvPr/>
        </p:nvSpPr>
        <p:spPr>
          <a:xfrm>
            <a:off x="4581144" y="2743200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Étendre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581144" y="304495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Le système à plusieurs villes et agendas.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8010144" y="1874520"/>
            <a:ext cx="3429000" cy="1691640"/>
          </a:xfrm>
          <a:prstGeom prst="roundRect">
            <a:avLst>
              <a:gd fmla="val 4324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8266176" y="2130552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1B2A4A.png" id="329" name="Google Shape;3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5048" y="22494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4"/>
          <p:cNvSpPr/>
          <p:nvPr/>
        </p:nvSpPr>
        <p:spPr>
          <a:xfrm>
            <a:off x="8266176" y="2743200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Filtrer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8266176" y="304495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Ajouter des filtres structurés : date, catégorie, gratuité, accessibilité.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640080" y="3822192"/>
            <a:ext cx="3429000" cy="1691640"/>
          </a:xfrm>
          <a:prstGeom prst="roundRect">
            <a:avLst>
              <a:gd fmla="val 4324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896112" y="4078224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rending_1B2A4A.png" id="334" name="Google Shape;33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984" y="4197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4"/>
          <p:cNvSpPr/>
          <p:nvPr/>
        </p:nvSpPr>
        <p:spPr>
          <a:xfrm>
            <a:off x="896112" y="4690872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Évaluer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896112" y="4992624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Mettre en place des métriques d’évaluation RAG automatisées.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4325112" y="3822192"/>
            <a:ext cx="3429000" cy="1691640"/>
          </a:xfrm>
          <a:prstGeom prst="roundRect">
            <a:avLst>
              <a:gd fmla="val 4324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4581144" y="4078224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nch_1B2A4A.png" id="339" name="Google Shape;33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0016" y="4197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4"/>
          <p:cNvSpPr/>
          <p:nvPr/>
        </p:nvSpPr>
        <p:spPr>
          <a:xfrm>
            <a:off x="4581144" y="4690872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Séparer &amp; sécuriser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4581144" y="4992624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Découpler la logique RAG de l’interface et sécuriser la gestion des secrets.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08 — VUE D’ENSEMBLE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640080" y="80467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Architecture globale du POC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40080" y="1828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PRÉPARATION DE LA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640080" y="214884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731520" y="214884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OpenAgenda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53" name="Google Shape;3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760" y="25191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/>
          <p:nvPr/>
        </p:nvSpPr>
        <p:spPr>
          <a:xfrm>
            <a:off x="2926080" y="214884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3017520" y="214884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CSV nettoyé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56" name="Google Shape;3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25191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5"/>
          <p:cNvSpPr/>
          <p:nvPr/>
        </p:nvSpPr>
        <p:spPr>
          <a:xfrm>
            <a:off x="5212080" y="214884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303520" y="214884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Documents / chunks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59" name="Google Shape;3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0" y="25191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5"/>
          <p:cNvSpPr/>
          <p:nvPr/>
        </p:nvSpPr>
        <p:spPr>
          <a:xfrm>
            <a:off x="7498080" y="214884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7589520" y="214884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Mistral Embed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62" name="Google Shape;3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0" y="25191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9784080" y="214884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9875520" y="214884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640080" y="3703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RÉPONSE EN LIGNE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640080" y="402336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2234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731520" y="402336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68" name="Google Shape;3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760" y="43936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5"/>
          <p:cNvSpPr/>
          <p:nvPr/>
        </p:nvSpPr>
        <p:spPr>
          <a:xfrm>
            <a:off x="2926080" y="402336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2234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3017520" y="402336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Recherche top-k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43936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/>
          <p:nvPr/>
        </p:nvSpPr>
        <p:spPr>
          <a:xfrm>
            <a:off x="5212080" y="402336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2234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303520" y="402336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74" name="Google Shape;3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0" y="43936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5"/>
          <p:cNvSpPr/>
          <p:nvPr/>
        </p:nvSpPr>
        <p:spPr>
          <a:xfrm>
            <a:off x="7498080" y="402336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2234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7589520" y="402336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Mistral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77" name="Google Shape;3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0" y="43936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5"/>
          <p:cNvSpPr/>
          <p:nvPr/>
        </p:nvSpPr>
        <p:spPr>
          <a:xfrm>
            <a:off x="9784080" y="4023360"/>
            <a:ext cx="1965960" cy="960120"/>
          </a:xfrm>
          <a:prstGeom prst="roundRect">
            <a:avLst>
              <a:gd fmla="val 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9875520" y="4023360"/>
            <a:ext cx="1783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Réponse Streamlit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fmla="val 7059" name="adj"/>
            </a:avLst>
          </a:prstGeom>
          <a:solidFill>
            <a:srgbClr val="F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La base vectorielle FAISS, construite une fois hors-ligne, est interrogée à chaque question pour alimenter la génération de réponse.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noFill/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822960" y="13716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Une base solide pour une recommandation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culturelle contextualisée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822960" y="288036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7DCEA"/>
                </a:solidFill>
                <a:latin typeface="Calibri"/>
                <a:ea typeface="Calibri"/>
                <a:cs typeface="Calibri"/>
                <a:sym typeface="Calibri"/>
              </a:rPr>
              <a:t>Le POC démontre qu’un système RAG peut exploiter des données événementielles réelles pour fournir des recommandations culturelles contextualisées.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822960" y="4937760"/>
            <a:ext cx="1874520" cy="777240"/>
          </a:xfrm>
          <a:prstGeom prst="roundRect">
            <a:avLst>
              <a:gd fmla="val 7059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822960" y="493776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94" name="Google Shape;3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2344" y="52166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6"/>
          <p:cNvSpPr/>
          <p:nvPr/>
        </p:nvSpPr>
        <p:spPr>
          <a:xfrm>
            <a:off x="3008376" y="4937760"/>
            <a:ext cx="1874520" cy="777240"/>
          </a:xfrm>
          <a:prstGeom prst="roundRect">
            <a:avLst>
              <a:gd fmla="val 7059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3008376" y="493776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397" name="Google Shape;3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52166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6"/>
          <p:cNvSpPr/>
          <p:nvPr/>
        </p:nvSpPr>
        <p:spPr>
          <a:xfrm>
            <a:off x="5193792" y="4937760"/>
            <a:ext cx="1874520" cy="777240"/>
          </a:xfrm>
          <a:prstGeom prst="roundRect">
            <a:avLst>
              <a:gd fmla="val 7059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5193792" y="493776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400" name="Google Shape;4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3176" y="52166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6"/>
          <p:cNvSpPr/>
          <p:nvPr/>
        </p:nvSpPr>
        <p:spPr>
          <a:xfrm>
            <a:off x="7379208" y="4937760"/>
            <a:ext cx="1874520" cy="777240"/>
          </a:xfrm>
          <a:prstGeom prst="roundRect">
            <a:avLst>
              <a:gd fmla="val 7059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7379208" y="493776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_C9A227.png" id="403" name="Google Shape;4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592" y="52166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6"/>
          <p:cNvSpPr/>
          <p:nvPr/>
        </p:nvSpPr>
        <p:spPr>
          <a:xfrm>
            <a:off x="9564624" y="4937760"/>
            <a:ext cx="1874520" cy="777240"/>
          </a:xfrm>
          <a:prstGeom prst="roundRect">
            <a:avLst>
              <a:gd fmla="val 705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9564624" y="493776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A9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