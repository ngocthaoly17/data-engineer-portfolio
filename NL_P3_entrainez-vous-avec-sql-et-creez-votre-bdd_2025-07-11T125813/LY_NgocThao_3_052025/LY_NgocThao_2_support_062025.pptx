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a5c3a6d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a5c3a6d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a5c3a6da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a5c3a6da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a5c3a6da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a5c3a6da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a5c3a6da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a5c3a6da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b864ef2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b864ef2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a5c3a6da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a5c3a6da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d2e3f90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d2e3f90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4b2cda3a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4b2cda3a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4b2cda3a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4b2cda3a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4b2cda3a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4b2cda3a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4b2cda3a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4b2cda3a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4b2cda3a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4b2cda3a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4b2cda3a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4b2cda3a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4b2cda3a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4b2cda3a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4b2cda3a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4b2cda3a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4b2cda3a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4b2cda3a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4b2cda3a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4b2cda3a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4b2cda3a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4b2cda3a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d2e3f904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6d2e3f904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spreadsheets/d/1y-exFbuDgyBIVn-28Xj1mYWsq2qUfZZF7gg7MDfrqA8/edit?gid=1779858090#gid=1779858090" TargetMode="External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document/u/0/d/1tkzsQI4F_nq6CIY5n0lDqm8oW62yLUVy5eAGERqwheA/edit?usp=drive_f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500">
                <a:solidFill>
                  <a:srgbClr val="271A38"/>
                </a:solidFill>
                <a:highlight>
                  <a:srgbClr val="FFFAEE"/>
                </a:highlight>
              </a:rPr>
              <a:t>PROJET 3 - SQL ET BASE DE </a:t>
            </a:r>
            <a:r>
              <a:rPr b="1" lang="fr" sz="3500">
                <a:solidFill>
                  <a:srgbClr val="271A38"/>
                </a:solidFill>
                <a:highlight>
                  <a:srgbClr val="FFFAEE"/>
                </a:highlight>
              </a:rPr>
              <a:t>DONNÉES</a:t>
            </a:r>
            <a:endParaRPr sz="6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Contexte du Projet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Titre :</a:t>
            </a:r>
            <a:r>
              <a:rPr lang="fr" sz="1100">
                <a:solidFill>
                  <a:schemeClr val="dk1"/>
                </a:solidFill>
              </a:rPr>
              <a:t> Analyse des Transactions Immobilières en France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Source de données : Données immobilières Opensource fournies par OC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Contenu 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Objectif : Analyser les ventes immobilières en France pour l’année 2020 à partir de données ouvertes.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Données utilisées :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 sz="1100">
                <a:solidFill>
                  <a:schemeClr val="dk1"/>
                </a:solidFill>
              </a:rPr>
              <a:t>Transactions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mutations</a:t>
            </a:r>
            <a:r>
              <a:rPr lang="fr" sz="1100">
                <a:solidFill>
                  <a:schemeClr val="dk1"/>
                </a:solidFill>
              </a:rPr>
              <a:t>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 sz="1100">
                <a:solidFill>
                  <a:schemeClr val="dk1"/>
                </a:solidFill>
              </a:rPr>
              <a:t>Informations sur les biens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locaux</a:t>
            </a:r>
            <a:r>
              <a:rPr lang="fr" sz="1100">
                <a:solidFill>
                  <a:schemeClr val="dk1"/>
                </a:solidFill>
              </a:rPr>
              <a:t>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fr" sz="1100">
                <a:solidFill>
                  <a:schemeClr val="dk1"/>
                </a:solidFill>
              </a:rPr>
              <a:t>Référentiels géographiques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communes</a:t>
            </a:r>
            <a:r>
              <a:rPr lang="fr" sz="1100">
                <a:solidFill>
                  <a:schemeClr val="dk1"/>
                </a:solidFill>
              </a:rPr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départements</a:t>
            </a:r>
            <a:r>
              <a:rPr lang="fr" sz="1100">
                <a:solidFill>
                  <a:schemeClr val="dk1"/>
                </a:solidFill>
              </a:rPr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regions</a:t>
            </a:r>
            <a:r>
              <a:rPr lang="fr" sz="1100">
                <a:solidFill>
                  <a:schemeClr val="dk1"/>
                </a:solidFill>
              </a:rPr>
              <a:t>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Technologies : SQLlite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Données et Modèle Relationnel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Contenu (schéma ou liste des tables) :</a:t>
            </a:r>
            <a:endParaRPr b="1"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mutations(id, date_mutation, valeur_fonciere, local_id)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locaux(id, type_local, surface_reelle_bati, nombre_pieces_principales, com_id)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communes(com_id, com_nom, coddep, ptot)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departements(coddep, dep_nom, codreg)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regions(reg_code, reg_nom, regrgp_nom)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Lien logique :</a:t>
            </a:r>
            <a:endParaRPr b="1"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mutations.local_id → locaux.id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locaux.com_id → communes.ID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communes.coddep → departements.coddep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departements.codreg → regions.reg_code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Dictionnaire de données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3"/>
              </a:rPr>
              <a:t>https://docs.google.com/spreadsheets/d/1y-exFbuDgyBIVn-28Xj1mYWsq2qUfZZF7gg7MDfrqA8/edit?gid=1779858090#gid=1779858090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 title="Capture d’écran 2025-06-22 1340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025" y="1108775"/>
            <a:ext cx="6476574" cy="27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 title="Capture d’écran 2025-06-22 1339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625" y="1109925"/>
            <a:ext cx="4013224" cy="37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Schéma relationnelle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 title="Capture d’écran 2025-06-21 2103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8626" y="77550"/>
            <a:ext cx="5986750" cy="481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Requêtes et Analyses Clés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Contenu (liste synthétique des requêtes) :</a:t>
            </a:r>
            <a:endParaRPr b="1"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Volume de ventes par semestre, région et commune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Proportion des ventes selon le nombre de pièces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Prix moyen du m² par département et région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Comparaisons : maisons vs appartements, 2 pièces vs 3 pièces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Taux d’évolution des ventes T1 → T2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Méthodologie :</a:t>
            </a:r>
            <a:endParaRPr b="1"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Jointures entre les tables géographiques et transactionnelles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Filtres temporels (semestre, trimestre)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100">
                <a:solidFill>
                  <a:schemeClr val="dk1"/>
                </a:solidFill>
              </a:rPr>
              <a:t>Groupements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 BY</a:t>
            </a:r>
            <a:r>
              <a:rPr lang="fr" sz="1100">
                <a:solidFill>
                  <a:schemeClr val="dk1"/>
                </a:solidFill>
              </a:rPr>
              <a:t>) et agrégats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fr" sz="1100">
                <a:solidFill>
                  <a:schemeClr val="dk1"/>
                </a:solidFill>
              </a:rPr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AVG</a:t>
            </a:r>
            <a:r>
              <a:rPr lang="fr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 u="sng">
                <a:solidFill>
                  <a:schemeClr val="hlink"/>
                </a:solidFill>
                <a:hlinkClick r:id="rId3"/>
              </a:rPr>
              <a:t>https://docs.google.com/document/u/0/d/1tkzsQI4F_nq6CIY5n0lDqm8oW62yLUVy5eAGERqwheA/edit?usp=drive_fs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Requêtes 1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20" title="Capture d’écran 2025-07-11 1205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00" y="1228500"/>
            <a:ext cx="8368601" cy="326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1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848" y="1004975"/>
            <a:ext cx="5406201" cy="4105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1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dk1"/>
                </a:solidFill>
              </a:rPr>
              <a:t>Requêtes 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2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8127" y="896750"/>
            <a:ext cx="4890174" cy="42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2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dk1"/>
                </a:solidFill>
              </a:rPr>
              <a:t>Requêtes 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3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0673" y="762675"/>
            <a:ext cx="5872176" cy="438082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3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dk1"/>
                </a:solidFill>
              </a:rPr>
              <a:t>Requêtes 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4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600" y="754825"/>
            <a:ext cx="6559925" cy="438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4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dk1"/>
                </a:solidFill>
              </a:rPr>
              <a:t>Requêtes 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5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9902" y="866900"/>
            <a:ext cx="6287275" cy="427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dk1"/>
                </a:solidFill>
              </a:rPr>
              <a:t>Requêtes 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6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597" y="1017724"/>
            <a:ext cx="7596403" cy="39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6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dk1"/>
                </a:solidFill>
              </a:rPr>
              <a:t>Requêtes 7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7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250" y="630600"/>
            <a:ext cx="6884351" cy="45129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7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dk1"/>
                </a:solidFill>
              </a:rPr>
              <a:t>Requêtes 8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501" y="750025"/>
            <a:ext cx="6851625" cy="439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8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dk1"/>
                </a:solidFill>
              </a:rPr>
              <a:t>Requêtes 9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9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7651" y="908825"/>
            <a:ext cx="5820475" cy="423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9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dk1"/>
                </a:solidFill>
              </a:rPr>
              <a:t>Requêtes 10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0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0850" y="781050"/>
            <a:ext cx="5731049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0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dk1"/>
                </a:solidFill>
              </a:rPr>
              <a:t>Requêtes 11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1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6451" y="801575"/>
            <a:ext cx="5163500" cy="43419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1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dk1"/>
                </a:solidFill>
              </a:rPr>
              <a:t>Requêtes 12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Démarche</a:t>
            </a:r>
            <a:endParaRPr/>
          </a:p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grandes étapes de la méthodologie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expliquer comment a été fait le nettoyage de données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