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hSeR5+b8wW/HnnBhRe9tHD53Q2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mailto:lythao@hotmail.fr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lythao@hotmail.fr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jeMkhemuMzIYTdYglmc2UsFYe1bHKSGc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airbyte credentials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db.infoclimat_raw.deleteMany({})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db.infoclimat_hourly.deleteMany({})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db.wu_observations.deleteMany({})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règle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problème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pressure_hpa_looks_like_inHg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pression en </a:t>
            </a:r>
            <a:r>
              <a:rPr b="1" lang="en-US"/>
              <a:t>inHg</a:t>
            </a:r>
            <a:r>
              <a:rPr lang="en-US"/>
              <a:t> au lieu de </a:t>
            </a:r>
            <a:r>
              <a:rPr b="1" lang="en-US"/>
              <a:t>hPa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temperature_c_looks_like_F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température en </a:t>
            </a:r>
            <a:r>
              <a:rPr b="1" lang="en-US"/>
              <a:t>Fahrenheit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range:pressure_hpa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valeurs hors plage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range:temperature_c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quelques valeurs hors plage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Cela veut dire que la pression atmosphérique </a:t>
            </a:r>
            <a:r>
              <a:rPr b="1" lang="en-US">
                <a:solidFill>
                  <a:schemeClr val="dk1"/>
                </a:solidFill>
              </a:rPr>
              <a:t>doit être entre 870 hPa et 1085 hPa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_id: ObjectId('69b44bc4862472ff87f6071c'),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station: 'ICHTEGEM_BE',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rule: 'unit_coherence:pressure_hpa_looks_like_inHg',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failed_rows: 288,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failure_rate: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_id: ObjectId('69b44bc4862472ff87f6071c'),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station: 'ICHTEGEM_BE',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rule: 'unit_coherence:temperature_c_looks_like_F',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failed_rows: 288,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failure_rate: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_id: ObjectId('69b44bc4862472ff87f6071f'),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station: 'LA_MADELEINE_FR',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rule: 'range:pressure_hpa[870,1085]',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failed_rows: 288,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failure_rate: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_id: ObjectId('69b44bc4862472ff87f6071f'),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station: 'LA_MADELEINE_FR',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rule: 'range:temperature_c[-50,60]',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failed_rows: 45,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failure_rate: 0.15625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_id: ObjectId('69b44bc4862472ff87f6071f'),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station: 'LA_MADELEINE_FR',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rule: 'unit_coherence:pressure_hpa_looks_like_inHg',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failed_rows: 288,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failure_rate: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_id: ObjectId('69b44bc4862472ff87f6071f'),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station: 'LA_MADELEINE_FR',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rule: 'unit_coherence:temperature_c_looks_like_F',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failed_rows: 288,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failure_rate: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db10740e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db10740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5811d70e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5811d70e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5811d70e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5811d70e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5811d70e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5811d70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ff37b49c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ff37b49c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hyperlink" Target="https://eu-west-3.console.aws.amazon.com/cloudwatch/home?region=eu-west-3#logsV2:log-groups/log-group/$252Fecs$252Fgreencoop-weather-qa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eu-west-3.console.aws.amazon.com/cloudwatch/home?region=eu-west-3#logsV2:log-groups/log-group/$252Fecs$252Fgreencoop-weather-qa" TargetMode="External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IWaHjQWmbzztaskmdte2BjgyZQHfYsiB/view" TargetMode="External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0.jp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254995" y="2579238"/>
            <a:ext cx="968200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Projet 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Forecast 2.0 — Pipeline Data Météo sur AWS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GreenAndCoop — Présentation technique (2026-02-14)</a:t>
            </a:r>
            <a:endParaRPr/>
          </a:p>
        </p:txBody>
      </p:sp>
      <p:sp>
        <p:nvSpPr>
          <p:cNvPr id="86" name="Google Shape;86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Contexte : GreenAndCoop et le besoin métier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731520" y="2011680"/>
            <a:ext cx="5303520" cy="50292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Entreprise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2651760"/>
            <a:ext cx="56694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GreenAndCoop</a:t>
            </a:r>
            <a:r>
              <a:rPr b="0" i="0" lang="en-US" sz="2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entreprise fournisseur</a:t>
            </a:r>
            <a:r>
              <a:rPr lang="en-US" sz="20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d’électricité renouvelable.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En tant que Data Engineer, objectif : fournir quotidiennement des données météo fiables aux Data Scientists.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675120" y="2011680"/>
            <a:ext cx="4754880" cy="50292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Pourquoi la prévision est critique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675120" y="2651760"/>
            <a:ext cx="4755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Ces prévisions sont essentielles pour l’entreprise car elles permettent de 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Équilibrer le réseau électrique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Assurer en temps réel l’équilibre entre production et consommation afin d’éviter des pénalités financières.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Optimiser la production d’énergie renouvelable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Les sources comme le solaire et l’éolien étant intermittentes, des prévisions précises permettent de mieux planifier leur utilisation.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Réduire les coûts énergétiques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De bonnes prévisions limitent les achats d’électricité en urgence sur le marché de gros, souvent à des prix élevés.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Objectif global : améliorer la précision des prévisions de demande électrique.</a:t>
            </a:r>
            <a:endParaRPr/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9751600" y="6276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731520" y="640080"/>
            <a:ext cx="62181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Demande du projet Forecast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31529" y="2011675"/>
            <a:ext cx="9805500" cy="50280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 2.0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731529" y="2651750"/>
            <a:ext cx="98055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Dans le cadre du projet </a:t>
            </a:r>
            <a:r>
              <a:rPr b="1" lang="en-US" sz="1500">
                <a:solidFill>
                  <a:schemeClr val="dk1"/>
                </a:solidFill>
              </a:rPr>
              <a:t>Forecast 2.0</a:t>
            </a:r>
            <a:r>
              <a:rPr lang="en-US" sz="1500">
                <a:solidFill>
                  <a:schemeClr val="dk1"/>
                </a:solidFill>
              </a:rPr>
              <a:t>, GreenCoop souhaite </a:t>
            </a:r>
            <a:r>
              <a:rPr b="1" lang="en-US" sz="1500">
                <a:solidFill>
                  <a:schemeClr val="dk1"/>
                </a:solidFill>
              </a:rPr>
              <a:t>améliorer la précision de ses modèles</a:t>
            </a:r>
            <a:r>
              <a:rPr lang="en-US" sz="1500">
                <a:solidFill>
                  <a:schemeClr val="dk1"/>
                </a:solidFill>
              </a:rPr>
              <a:t> en intégrant </a:t>
            </a:r>
            <a:r>
              <a:rPr b="1" lang="en-US" sz="1500">
                <a:solidFill>
                  <a:schemeClr val="dk1"/>
                </a:solidFill>
              </a:rPr>
              <a:t>de nouvelles sources de données météorologiques</a:t>
            </a:r>
            <a:r>
              <a:rPr lang="en-US" sz="1500">
                <a:solidFill>
                  <a:schemeClr val="dk1"/>
                </a:solidFill>
              </a:rPr>
              <a:t>, notamment 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stations météorologiques open-data,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stations amateurs (ex : réseau Infoclimat),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données envoyées toutes les </a:t>
            </a:r>
            <a:r>
              <a:rPr b="1" lang="en-US" sz="1500">
                <a:solidFill>
                  <a:schemeClr val="dk1"/>
                </a:solidFill>
              </a:rPr>
              <a:t>10, 15 ou 30 minutes</a:t>
            </a:r>
            <a:endParaRPr b="1" sz="15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Contrainte SI </a:t>
            </a:r>
            <a:r>
              <a:rPr b="0" i="0" lang="en-US" sz="15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: travailler sur AWS ; stockage dans MongoDB hébergée sur AWS.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r>
              <a:rPr b="0" i="0" lang="en-US" sz="15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permettre un accès direct côté ML (SageMaker).</a:t>
            </a:r>
            <a:endParaRPr sz="1500"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9761625" y="61859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Objectifs techniques du pipeline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731520" y="2011680"/>
            <a:ext cx="5669280" cy="50292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que l’on doit garantir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731520" y="2651760"/>
            <a:ext cx="5669280" cy="330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Ingestion automatisée et robuste </a:t>
            </a:r>
            <a:r>
              <a:rPr b="0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(multi-sources, multi-formats).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Schéma flexible permettant de conserver tous les champs </a:t>
            </a:r>
            <a:r>
              <a:rPr b="0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(NoSQL).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Qualité</a:t>
            </a:r>
            <a:r>
              <a:rPr b="0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validation, taux d’erreur mesuré, logs exploitables.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Accessibilité</a:t>
            </a:r>
            <a:r>
              <a:rPr b="0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données disponibles rapidement après dépôt / collecte.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675120" y="2011680"/>
            <a:ext cx="4754880" cy="50292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Pourquoi MongoDB sur AWS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6675120" y="2651760"/>
            <a:ext cx="4754880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Schéma flexible pour données hétérogènes.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Requêtes par station, fenêtre temporelle, agrégations.</a:t>
            </a:r>
            <a:endParaRPr/>
          </a:p>
        </p:txBody>
      </p:sp>
      <p:sp>
        <p:nvSpPr>
          <p:cNvPr id="115" name="Google Shape;115;p5"/>
          <p:cNvSpPr txBox="1"/>
          <p:nvPr>
            <p:ph idx="12" type="sldNum"/>
          </p:nvPr>
        </p:nvSpPr>
        <p:spPr>
          <a:xfrm>
            <a:off x="9781675" y="6276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Architecture globale (vue logique)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22960" y="2743200"/>
            <a:ext cx="2468880" cy="1097280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Sources météo</a:t>
            </a:r>
            <a:b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(InfoClimat / WU)</a:t>
            </a:r>
            <a:b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CSV • XLSX • Parquet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657600" y="2743200"/>
            <a:ext cx="2011680" cy="1097280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AWS S3</a:t>
            </a:r>
            <a:b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Landing zone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317270" y="2743155"/>
            <a:ext cx="2469000" cy="1097400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AWS Lambda</a:t>
            </a:r>
            <a:b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Ingestion / Parsing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434280" y="2743125"/>
            <a:ext cx="2194500" cy="1097400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b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sur ECS</a:t>
            </a:r>
            <a:endParaRPr/>
          </a:p>
        </p:txBody>
      </p:sp>
      <p:cxnSp>
        <p:nvCxnSpPr>
          <p:cNvPr id="125" name="Google Shape;125;p6"/>
          <p:cNvCxnSpPr/>
          <p:nvPr/>
        </p:nvCxnSpPr>
        <p:spPr>
          <a:xfrm>
            <a:off x="3291840" y="329184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6" name="Google Shape;126;p6"/>
          <p:cNvCxnSpPr/>
          <p:nvPr/>
        </p:nvCxnSpPr>
        <p:spPr>
          <a:xfrm>
            <a:off x="5669270" y="3228855"/>
            <a:ext cx="648000" cy="5100"/>
          </a:xfrm>
          <a:prstGeom prst="straightConnector1">
            <a:avLst/>
          </a:prstGeom>
          <a:noFill/>
          <a:ln cap="flat" cmpd="sng" w="25400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7" name="Google Shape;127;p6"/>
          <p:cNvSpPr txBox="1"/>
          <p:nvPr/>
        </p:nvSpPr>
        <p:spPr>
          <a:xfrm>
            <a:off x="822960" y="5303325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Déclenchement : arrivée de fichiers sur S3 → exécution Lambda → insertion / mise à jour MongoDB.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Traçabilité : logs et métriques via CloudWatch.</a:t>
            </a:r>
            <a:endParaRPr/>
          </a:p>
        </p:txBody>
      </p:sp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9821775" y="63062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6" title="824298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525" y="3628697"/>
            <a:ext cx="823066" cy="823050"/>
          </a:xfrm>
          <a:prstGeom prst="rect">
            <a:avLst/>
          </a:prstGeom>
          <a:solidFill>
            <a:srgbClr val="F0F6FF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130" name="Google Shape;130;p6" title="Amazon-S3-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2074" y="3514026"/>
            <a:ext cx="782750" cy="937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6"/>
          <p:cNvCxnSpPr/>
          <p:nvPr/>
        </p:nvCxnSpPr>
        <p:spPr>
          <a:xfrm>
            <a:off x="8786270" y="3228855"/>
            <a:ext cx="648000" cy="5100"/>
          </a:xfrm>
          <a:prstGeom prst="straightConnector1">
            <a:avLst/>
          </a:prstGeom>
          <a:noFill/>
          <a:ln cap="flat" cmpd="sng" w="25400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pic>
        <p:nvPicPr>
          <p:cNvPr id="132" name="Google Shape;132;p6" title="image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41450" y="3361450"/>
            <a:ext cx="876675" cy="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 title="awslambd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54150" y="3443123"/>
            <a:ext cx="995250" cy="9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Schéma MongoDB (collections)</a:t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367745" y="1689580"/>
            <a:ext cx="5669400" cy="50280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Collections proposées</a:t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367745" y="2329660"/>
            <a:ext cx="566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infoclimat_raw </a:t>
            </a: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: ingestion brute (données conservées).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wu_observations : observations normalisées (WU).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infoclimat_hourly </a:t>
            </a: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: agrégation horaire (prête pour analyse/ML).</a:t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6311345" y="1689580"/>
            <a:ext cx="4755000" cy="50280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Exemples de requêtes</a:t>
            </a:r>
            <a:endParaRPr/>
          </a:p>
        </p:txBody>
      </p:sp>
      <p:sp>
        <p:nvSpPr>
          <p:cNvPr id="142" name="Google Shape;142;p10"/>
          <p:cNvSpPr txBox="1"/>
          <p:nvPr/>
        </p:nvSpPr>
        <p:spPr>
          <a:xfrm>
            <a:off x="6311350" y="2329650"/>
            <a:ext cx="5210100" cy="20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use weather</a:t>
            </a:r>
            <a:endParaRPr sz="1100">
              <a:solidFill>
                <a:srgbClr val="9748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db.infoclimat_raw.countDocuments()</a:t>
            </a:r>
            <a:endParaRPr sz="1100">
              <a:solidFill>
                <a:srgbClr val="9748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db.infoclimat_hourly.countDocuments()</a:t>
            </a:r>
            <a:endParaRPr sz="1100">
              <a:solidFill>
                <a:srgbClr val="9748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db.infoclimat_raw.findOne({}, {_id: 0})</a:t>
            </a:r>
            <a:endParaRPr sz="1100">
              <a:solidFill>
                <a:srgbClr val="9748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db.infoclimat_hourly.find().limit(5)</a:t>
            </a:r>
            <a:endParaRPr sz="1100">
              <a:solidFill>
                <a:srgbClr val="9748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db.infoclimat_hourly.find().limit(5).pretty()</a:t>
            </a:r>
            <a:endParaRPr sz="1100">
              <a:solidFill>
                <a:srgbClr val="9748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db.infoclimat_hourly.find({}, {_id: 0, station_id: 1, dh_utc: 1, temperature: 1}).sort({ingested_at: -1}).limit(10)</a:t>
            </a:r>
            <a:endParaRPr sz="1100">
              <a:solidFill>
                <a:srgbClr val="97480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db.infoclimat_hourly.find({id_station:"07015"})</a:t>
            </a:r>
            <a:b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  <a:t>  .sort({dh_utc:-1}).limit(10)</a:t>
            </a:r>
            <a:endParaRPr sz="11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10"/>
          <p:cNvSpPr txBox="1"/>
          <p:nvPr>
            <p:ph idx="12" type="sldNum"/>
          </p:nvPr>
        </p:nvSpPr>
        <p:spPr>
          <a:xfrm>
            <a:off x="9791700" y="62561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1781625" y="4528475"/>
            <a:ext cx="37881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db.wu_observations.find({station_id:"LA_MADELEINE_FR"})</a:t>
            </a:r>
            <a:br>
              <a:rPr lang="en-US" sz="9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  .sort({dh_utc:-1}).limit(10)</a:t>
            </a:r>
            <a:endParaRPr sz="9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db.wu_observations.find({station_id:"ICHTEGEM_BE"})</a:t>
            </a:r>
            <a:endParaRPr sz="9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.sort({dh_utc:-1})</a:t>
            </a:r>
            <a:endParaRPr sz="9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.limit(10)</a:t>
            </a:r>
            <a:br>
              <a:rPr lang="en-US" sz="1100">
                <a:solidFill>
                  <a:srgbClr val="974806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1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5724050" y="4481125"/>
            <a:ext cx="4430400" cy="2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db.data_quality_reports.countDocuments()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db.data_quality_reports.find().sort({_id:-1}).limit(10).pretty()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db.data_quality_reports.aggregate([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{$unwind: "$rules"},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{$match: {"rules.failure_rate": {$gt: 0}}},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{$project: {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station: "$meta.station_id",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rule: "$rules.rule",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failed_rows: "$rules.failed_rows",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failure_rate: "$rules.failure_rate"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}}</a:t>
            </a:r>
            <a:endParaRPr sz="9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Stack technique (AWS + outils)</a:t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731520" y="2011680"/>
            <a:ext cx="5669280" cy="50292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/>
          </a:p>
        </p:txBody>
      </p:sp>
      <p:sp>
        <p:nvSpPr>
          <p:cNvPr id="152" name="Google Shape;152;p12"/>
          <p:cNvSpPr txBox="1"/>
          <p:nvPr/>
        </p:nvSpPr>
        <p:spPr>
          <a:xfrm>
            <a:off x="731520" y="2651760"/>
            <a:ext cx="5669280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r>
              <a:rPr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landing zone des fichiers et historique.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Lambda : parsing, validation, agrégation, chargement.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ECS</a:t>
            </a:r>
            <a:r>
              <a:rPr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hébergement MongoDB en conteneur.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CloudWatch : logs, métriques, alertes.</a:t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6675120" y="2011680"/>
            <a:ext cx="4754880" cy="50292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Outils</a:t>
            </a:r>
            <a:endParaRPr/>
          </a:p>
        </p:txBody>
      </p:sp>
      <p:sp>
        <p:nvSpPr>
          <p:cNvPr id="154" name="Google Shape;154;p12"/>
          <p:cNvSpPr txBox="1"/>
          <p:nvPr/>
        </p:nvSpPr>
        <p:spPr>
          <a:xfrm>
            <a:off x="6675120" y="2651760"/>
            <a:ext cx="4754880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r>
              <a:rPr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packaging et déploiement reproductible.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r>
              <a:rPr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stockage flexible (NoSQL).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US" sz="19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: ingestion et transformations.</a:t>
            </a:r>
            <a:endParaRPr/>
          </a:p>
        </p:txBody>
      </p:sp>
      <p:sp>
        <p:nvSpPr>
          <p:cNvPr id="155" name="Google Shape;155;p12"/>
          <p:cNvSpPr txBox="1"/>
          <p:nvPr>
            <p:ph idx="12" type="sldNum"/>
          </p:nvPr>
        </p:nvSpPr>
        <p:spPr>
          <a:xfrm>
            <a:off x="9721525" y="61859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texte, logiciel, Logiciel multimédia, capture d’écran&#10;&#10;Le contenu généré par l’IA peut être incorrect."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889" y="1413257"/>
            <a:ext cx="11908221" cy="403148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3"/>
          <p:cNvSpPr txBox="1"/>
          <p:nvPr/>
        </p:nvSpPr>
        <p:spPr>
          <a:xfrm>
            <a:off x="731520" y="640080"/>
            <a:ext cx="24497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S3 Buckets</a:t>
            </a:r>
            <a:endParaRPr b="1" sz="4000">
              <a:solidFill>
                <a:srgbClr val="1223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>
            <p:ph idx="12" type="sldNum"/>
          </p:nvPr>
        </p:nvSpPr>
        <p:spPr>
          <a:xfrm>
            <a:off x="9761625" y="62561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capture d’écran, texte, logiciel, Logiciel multimédia&#10;&#10;Le contenu généré par l’IA peut être incorrect."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551" y="1418111"/>
            <a:ext cx="11324897" cy="507229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4"/>
          <p:cNvSpPr txBox="1"/>
          <p:nvPr/>
        </p:nvSpPr>
        <p:spPr>
          <a:xfrm>
            <a:off x="731520" y="640080"/>
            <a:ext cx="89972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ECS : service conteneurisé pour Mongodb</a:t>
            </a:r>
            <a:endParaRPr b="1" sz="4000">
              <a:solidFill>
                <a:srgbClr val="1223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 txBox="1"/>
          <p:nvPr>
            <p:ph idx="12" type="sldNum"/>
          </p:nvPr>
        </p:nvSpPr>
        <p:spPr>
          <a:xfrm>
            <a:off x="9728800" y="62260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texte, logiciel, Logiciel multimédia, capture d’écran&#10;&#10;Le contenu généré par l’IA peut être incorrect."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872475"/>
            <a:ext cx="11734800" cy="434544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 txBox="1"/>
          <p:nvPr/>
        </p:nvSpPr>
        <p:spPr>
          <a:xfrm>
            <a:off x="731520" y="640080"/>
            <a:ext cx="735592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ECR conteneur des scripts lambda</a:t>
            </a:r>
            <a:endParaRPr b="1" sz="4000">
              <a:solidFill>
                <a:srgbClr val="1223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>
            <p:ph idx="12" type="sldNum"/>
          </p:nvPr>
        </p:nvSpPr>
        <p:spPr>
          <a:xfrm>
            <a:off x="9731525" y="62761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texte, logiciel, capture d’écran&#10;&#10;Le contenu généré par l’IA peut être incorrect." id="181" name="Google Shape;1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988" y="2218081"/>
            <a:ext cx="11812024" cy="292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349330" y="919003"/>
            <a:ext cx="112526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2 lambda pour les triggers à la réception des fichiers</a:t>
            </a:r>
            <a:endParaRPr b="1" sz="4000">
              <a:solidFill>
                <a:srgbClr val="1223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>
            <p:ph idx="12" type="sldNum"/>
          </p:nvPr>
        </p:nvSpPr>
        <p:spPr>
          <a:xfrm>
            <a:off x="9721525" y="62360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db10740e7_0_10"/>
          <p:cNvSpPr txBox="1"/>
          <p:nvPr>
            <p:ph idx="12" type="sldNum"/>
          </p:nvPr>
        </p:nvSpPr>
        <p:spPr>
          <a:xfrm>
            <a:off x="9701475" y="62561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g3cdb10740e7_0_10"/>
          <p:cNvSpPr txBox="1"/>
          <p:nvPr/>
        </p:nvSpPr>
        <p:spPr>
          <a:xfrm>
            <a:off x="310800" y="1836425"/>
            <a:ext cx="5594700" cy="47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</a:rPr>
              <a:t>Pour le QA:</a:t>
            </a:r>
            <a:endParaRPr b="1" sz="12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98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Pour chaque station, les observations sont récupérées depuis MongoDB.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 ensemble de règles de qualité est ensuite appliqué sur les données.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Ces contrôles permettent de vérifier que les données sont fiables, complètes et cohérentes.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Règles vérifiées 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Timestamp valide : la date/heure est bien présente et au bon format.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Doublons : détection d’observations identiques ou répétées.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Valeurs aberrantes : repérage de valeurs anormalement hautes ou basses.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Température cohérente : vérification que les températures restent dans des plages plausibles.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Pression cohérente : contrôle que les valeurs de pression sont réalistes et dans la bonne unité.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" name="Google Shape;190;g3cdb10740e7_0_10"/>
          <p:cNvSpPr/>
          <p:nvPr/>
        </p:nvSpPr>
        <p:spPr>
          <a:xfrm>
            <a:off x="852975" y="1484275"/>
            <a:ext cx="8520300" cy="135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cdb10740e7_0_10"/>
          <p:cNvSpPr txBox="1"/>
          <p:nvPr/>
        </p:nvSpPr>
        <p:spPr>
          <a:xfrm>
            <a:off x="731520" y="640080"/>
            <a:ext cx="1078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QA and Accessibility</a:t>
            </a:r>
            <a:endParaRPr/>
          </a:p>
        </p:txBody>
      </p:sp>
      <p:sp>
        <p:nvSpPr>
          <p:cNvPr id="192" name="Google Shape;192;g3cdb10740e7_0_10"/>
          <p:cNvSpPr txBox="1"/>
          <p:nvPr/>
        </p:nvSpPr>
        <p:spPr>
          <a:xfrm>
            <a:off x="6240375" y="1756075"/>
            <a:ext cx="5594700" cy="5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</a:rPr>
              <a:t>Pour accessibilité :</a:t>
            </a:r>
            <a:endParaRPr b="1" sz="12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La requête est </a:t>
            </a:r>
            <a:r>
              <a:rPr b="1" lang="en-US" sz="1100">
                <a:solidFill>
                  <a:schemeClr val="dk1"/>
                </a:solidFill>
              </a:rPr>
              <a:t>exécutée 30 fois</a:t>
            </a:r>
            <a:r>
              <a:rPr lang="en-US" sz="1100">
                <a:solidFill>
                  <a:schemeClr val="dk1"/>
                </a:solidFill>
              </a:rPr>
              <a:t> dans les mêmes conditions pour obtenir un échantillon représentatif des performances.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À </a:t>
            </a:r>
            <a:r>
              <a:rPr b="1" lang="en-US" sz="1100">
                <a:solidFill>
                  <a:schemeClr val="dk1"/>
                </a:solidFill>
              </a:rPr>
              <a:t>chaque exécution</a:t>
            </a:r>
            <a:r>
              <a:rPr lang="en-US" sz="1100">
                <a:solidFill>
                  <a:schemeClr val="dk1"/>
                </a:solidFill>
              </a:rPr>
              <a:t>, le </a:t>
            </a:r>
            <a:r>
              <a:rPr b="1" lang="en-US" sz="1100">
                <a:solidFill>
                  <a:schemeClr val="dk1"/>
                </a:solidFill>
              </a:rPr>
              <a:t>temps de réponse</a:t>
            </a:r>
            <a:r>
              <a:rPr lang="en-US" sz="1100">
                <a:solidFill>
                  <a:schemeClr val="dk1"/>
                </a:solidFill>
              </a:rPr>
              <a:t> est mesuré (temps nécessaire pour que la requête s’exécute et retourne le résultat).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On obtient donc </a:t>
            </a:r>
            <a:r>
              <a:rPr b="1" lang="en-US" sz="1100">
                <a:solidFill>
                  <a:schemeClr val="dk1"/>
                </a:solidFill>
              </a:rPr>
              <a:t>30 temps d’exécution</a:t>
            </a:r>
            <a:r>
              <a:rPr lang="en-US" sz="1100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À partir de ces mesures, plusieurs indicateurs sont calculés 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Moyenne</a:t>
            </a:r>
            <a:r>
              <a:rPr lang="en-US" sz="1100">
                <a:solidFill>
                  <a:schemeClr val="dk1"/>
                </a:solidFill>
              </a:rPr>
              <a:t> : temps d’exécution moyen de la requête.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Médiane (p50)</a:t>
            </a:r>
            <a:r>
              <a:rPr lang="en-US" sz="1100">
                <a:solidFill>
                  <a:schemeClr val="dk1"/>
                </a:solidFill>
              </a:rPr>
              <a:t> : temps sous lequel </a:t>
            </a:r>
            <a:r>
              <a:rPr b="1" lang="en-US" sz="1100">
                <a:solidFill>
                  <a:schemeClr val="dk1"/>
                </a:solidFill>
              </a:rPr>
              <a:t>50 % des requêtes</a:t>
            </a:r>
            <a:r>
              <a:rPr lang="en-US" sz="1100">
                <a:solidFill>
                  <a:schemeClr val="dk1"/>
                </a:solidFill>
              </a:rPr>
              <a:t> se terminent.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p95</a:t>
            </a:r>
            <a:r>
              <a:rPr lang="en-US" sz="1100">
                <a:solidFill>
                  <a:schemeClr val="dk1"/>
                </a:solidFill>
              </a:rPr>
              <a:t> : temps sous lequel </a:t>
            </a:r>
            <a:r>
              <a:rPr b="1" lang="en-US" sz="1100">
                <a:solidFill>
                  <a:schemeClr val="dk1"/>
                </a:solidFill>
              </a:rPr>
              <a:t>95 % des requêtes</a:t>
            </a:r>
            <a:r>
              <a:rPr lang="en-US" sz="1100">
                <a:solidFill>
                  <a:schemeClr val="dk1"/>
                </a:solidFill>
              </a:rPr>
              <a:t> se terminent, utile pour identifier les lenteurs rares.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Minimum (min)</a:t>
            </a:r>
            <a:r>
              <a:rPr lang="en-US" sz="1100">
                <a:solidFill>
                  <a:schemeClr val="dk1"/>
                </a:solidFill>
              </a:rPr>
              <a:t> : exécution la </a:t>
            </a:r>
            <a:r>
              <a:rPr b="1" lang="en-US" sz="1100">
                <a:solidFill>
                  <a:schemeClr val="dk1"/>
                </a:solidFill>
              </a:rPr>
              <a:t>plus rapide</a:t>
            </a:r>
            <a:r>
              <a:rPr lang="en-US" sz="1100">
                <a:solidFill>
                  <a:schemeClr val="dk1"/>
                </a:solidFill>
              </a:rPr>
              <a:t> observée.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Maximum (max)</a:t>
            </a:r>
            <a:r>
              <a:rPr lang="en-US" sz="1100">
                <a:solidFill>
                  <a:schemeClr val="dk1"/>
                </a:solidFill>
              </a:rPr>
              <a:t> : exécution la </a:t>
            </a:r>
            <a:r>
              <a:rPr b="1" lang="en-US" sz="1100">
                <a:solidFill>
                  <a:schemeClr val="dk1"/>
                </a:solidFill>
              </a:rPr>
              <a:t>plus lente</a:t>
            </a:r>
            <a:r>
              <a:rPr lang="en-US" sz="1100">
                <a:solidFill>
                  <a:schemeClr val="dk1"/>
                </a:solidFill>
              </a:rPr>
              <a:t> observée.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95811d70ea_0_9" title="Capture d’écran 2026-02-28 2252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1050"/>
            <a:ext cx="12192000" cy="551832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95811d70ea_0_9"/>
          <p:cNvSpPr txBox="1"/>
          <p:nvPr/>
        </p:nvSpPr>
        <p:spPr>
          <a:xfrm>
            <a:off x="591875" y="347400"/>
            <a:ext cx="5558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u="sng">
                <a:solidFill>
                  <a:srgbClr val="006CE0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/ecs/greencoop-weather-qa</a:t>
            </a:r>
            <a:endParaRPr sz="4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95811d70ea_0_9"/>
          <p:cNvSpPr txBox="1"/>
          <p:nvPr>
            <p:ph idx="12" type="sldNum"/>
          </p:nvPr>
        </p:nvSpPr>
        <p:spPr>
          <a:xfrm>
            <a:off x="9811750" y="63363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5811d70ea_0_15"/>
          <p:cNvSpPr txBox="1"/>
          <p:nvPr/>
        </p:nvSpPr>
        <p:spPr>
          <a:xfrm>
            <a:off x="591875" y="347400"/>
            <a:ext cx="5558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u="sng">
                <a:solidFill>
                  <a:srgbClr val="006CE0"/>
                </a:solidFill>
                <a:highlight>
                  <a:srgbClr val="FCFCFD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/ecs/greencoop-weather-qa</a:t>
            </a:r>
            <a:endParaRPr sz="4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g395811d70ea_0_15" title="Capture d’écran 2026-02-28 2256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7275" y="1577025"/>
            <a:ext cx="12286549" cy="398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5811d70ea_0_15"/>
          <p:cNvSpPr txBox="1"/>
          <p:nvPr>
            <p:ph idx="12" type="sldNum"/>
          </p:nvPr>
        </p:nvSpPr>
        <p:spPr>
          <a:xfrm>
            <a:off x="9741550" y="62260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95811d70ea_0_33" title="Capture d’écran 2026-02-28 2302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75" y="1071563"/>
            <a:ext cx="6962775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95811d70ea_0_33" title="Capture d’écran 2026-02-28 2312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6500" y="0"/>
            <a:ext cx="3961325" cy="49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95811d70ea_0_33" title="Capture d’écran 2026-02-28 2332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6500" y="2931075"/>
            <a:ext cx="3961325" cy="392693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95811d70ea_0_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2233D"/>
                </a:solidFill>
                <a:latin typeface="Calibri"/>
                <a:ea typeface="Calibri"/>
                <a:cs typeface="Calibri"/>
                <a:sym typeface="Calibri"/>
              </a:rPr>
              <a:t>Démonstration et prochaines étapes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731527" y="2011675"/>
            <a:ext cx="4963500" cy="50280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Démonstration (réunion projet)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731525" y="2651750"/>
            <a:ext cx="49635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Déposer un fichier source sur S3 et observer le déclenchement Lambda.</a:t>
            </a:r>
            <a:endParaRPr sz="18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Vérifier l’insertion dans MongoDB (raw + hourly).</a:t>
            </a:r>
            <a:endParaRPr sz="18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Consulter les logs CloudWatch (ingestion, erreurs, latence).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"/>
          <p:cNvSpPr txBox="1"/>
          <p:nvPr>
            <p:ph idx="12" type="sldNum"/>
          </p:nvPr>
        </p:nvSpPr>
        <p:spPr>
          <a:xfrm>
            <a:off x="9761625" y="62560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5917127" y="2011675"/>
            <a:ext cx="4963500" cy="502800"/>
          </a:xfrm>
          <a:prstGeom prst="rect">
            <a:avLst/>
          </a:prstGeom>
          <a:solidFill>
            <a:srgbClr val="0072C6"/>
          </a:solidFill>
          <a:ln cap="flat" cmpd="sng" w="9525">
            <a:solidFill>
              <a:srgbClr val="007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Proposition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5917125" y="2651750"/>
            <a:ext cx="4963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Tables des rejets pour les données qui ne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respectent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pas les critères qualités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ff37b49c4_1_0"/>
          <p:cNvSpPr txBox="1"/>
          <p:nvPr>
            <p:ph idx="12" type="sldNum"/>
          </p:nvPr>
        </p:nvSpPr>
        <p:spPr>
          <a:xfrm>
            <a:off x="9954825" y="63282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0" name="Google Shape;230;g3cff37b49c4_1_0" title="2026-03-13 21-31-3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8976" y="0"/>
            <a:ext cx="91440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/>
          <p:nvPr/>
        </p:nvSpPr>
        <p:spPr>
          <a:xfrm>
            <a:off x="4783109" y="2105072"/>
            <a:ext cx="1078158" cy="633742"/>
          </a:xfrm>
          <a:prstGeom prst="flowChartDecision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Police, texte, conception, Graphique&#10;&#10;Le contenu généré par l’IA peut être incorrect.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9947" y="2088115"/>
            <a:ext cx="843425" cy="833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vaisselle&#10;&#10;Le contenu généré par l’IA peut être incorrect." id="237" name="Google Shape;2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3947" y="2504827"/>
            <a:ext cx="1122093" cy="1122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Police, texte, conception, Graphique&#10;&#10;Le contenu généré par l’IA peut être incorrect." id="238" name="Google Shape;2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1955" y="3526274"/>
            <a:ext cx="843425" cy="833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/>
          <p:nvPr/>
        </p:nvSpPr>
        <p:spPr>
          <a:xfrm>
            <a:off x="4725116" y="3725956"/>
            <a:ext cx="1078158" cy="633742"/>
          </a:xfrm>
          <a:prstGeom prst="flowChartDecision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8"/>
          <p:cNvCxnSpPr>
            <a:endCxn id="235" idx="1"/>
          </p:cNvCxnSpPr>
          <p:nvPr/>
        </p:nvCxnSpPr>
        <p:spPr>
          <a:xfrm>
            <a:off x="4153409" y="2421943"/>
            <a:ext cx="6297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1" name="Google Shape;241;p18"/>
          <p:cNvSpPr txBox="1"/>
          <p:nvPr/>
        </p:nvSpPr>
        <p:spPr>
          <a:xfrm>
            <a:off x="5048479" y="2252666"/>
            <a:ext cx="5474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Contrôle qualité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4990485" y="3870885"/>
            <a:ext cx="5474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Contrôle qualité</a:t>
            </a:r>
            <a:endParaRPr/>
          </a:p>
        </p:txBody>
      </p:sp>
      <p:cxnSp>
        <p:nvCxnSpPr>
          <p:cNvPr id="243" name="Google Shape;243;p18"/>
          <p:cNvCxnSpPr/>
          <p:nvPr/>
        </p:nvCxnSpPr>
        <p:spPr>
          <a:xfrm>
            <a:off x="4095379" y="4042827"/>
            <a:ext cx="629736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Une image contenant Graphique, cercle, symbole, Caractère coloré&#10;&#10;Le contenu généré par l’IA peut être incorrect." id="244" name="Google Shape;2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1670" y="2504827"/>
            <a:ext cx="357412" cy="357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Graphique, cercle, symbole, Caractère coloré&#10;&#10;Le contenu généré par l’IA peut être incorrect." id="245" name="Google Shape;2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5320" y="4123045"/>
            <a:ext cx="357412" cy="357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Panneau de stop, Panneau de signalisation, signe, symbole&#10;&#10;Le contenu généré par l’IA peut être incorrect." id="246" name="Google Shape;2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1822" y="985262"/>
            <a:ext cx="475822" cy="4758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Panneau de stop, Panneau de signalisation, signe, symbole&#10;&#10;Le contenu généré par l’IA peut être incorrect." id="247" name="Google Shape;2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829" y="4803329"/>
            <a:ext cx="475822" cy="4758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Graphique, logo&#10;&#10;Le contenu généré par l’IA peut être incorrect." id="248" name="Google Shape;24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6460" y="2510563"/>
            <a:ext cx="2784505" cy="13922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18"/>
          <p:cNvCxnSpPr>
            <a:stCxn id="235" idx="3"/>
          </p:cNvCxnSpPr>
          <p:nvPr/>
        </p:nvCxnSpPr>
        <p:spPr>
          <a:xfrm>
            <a:off x="5861267" y="2421943"/>
            <a:ext cx="1649100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0" name="Google Shape;250;p18"/>
          <p:cNvCxnSpPr>
            <a:stCxn id="239" idx="3"/>
          </p:cNvCxnSpPr>
          <p:nvPr/>
        </p:nvCxnSpPr>
        <p:spPr>
          <a:xfrm flipH="1" rot="10800000">
            <a:off x="5803274" y="4040127"/>
            <a:ext cx="1707000" cy="27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1" name="Google Shape;251;p18"/>
          <p:cNvSpPr/>
          <p:nvPr/>
        </p:nvSpPr>
        <p:spPr>
          <a:xfrm>
            <a:off x="9402876" y="4820935"/>
            <a:ext cx="2156178" cy="1392253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endParaRPr/>
          </a:p>
        </p:txBody>
      </p:sp>
      <p:cxnSp>
        <p:nvCxnSpPr>
          <p:cNvPr id="252" name="Google Shape;252;p18"/>
          <p:cNvCxnSpPr>
            <a:stCxn id="248" idx="2"/>
          </p:cNvCxnSpPr>
          <p:nvPr/>
        </p:nvCxnSpPr>
        <p:spPr>
          <a:xfrm>
            <a:off x="9088713" y="3902816"/>
            <a:ext cx="1026000" cy="918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3" name="Google Shape;253;p18"/>
          <p:cNvSpPr txBox="1"/>
          <p:nvPr/>
        </p:nvSpPr>
        <p:spPr>
          <a:xfrm>
            <a:off x="5793416" y="2448226"/>
            <a:ext cx="1202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acceptées dans la table d’analyse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5773543" y="4072912"/>
            <a:ext cx="1202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acceptées dans la table d’analyse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4075555" y="4994839"/>
            <a:ext cx="120255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rejetées dans une table des rejets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Utilisés par les analystes qualités pour trouver la cause des rejets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4181833" y="668505"/>
            <a:ext cx="1202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rejetées dans une table des rejets</a:t>
            </a:r>
            <a:endParaRPr/>
          </a:p>
        </p:txBody>
      </p:sp>
      <p:pic>
        <p:nvPicPr>
          <p:cNvPr descr="Une image contenant texte, Police, Graphique, logo&#10;&#10;Le contenu généré par l’IA peut être incorrect." id="257" name="Google Shape;25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61822" y="131632"/>
            <a:ext cx="1440237" cy="7201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18"/>
          <p:cNvCxnSpPr>
            <a:stCxn id="235" idx="0"/>
          </p:cNvCxnSpPr>
          <p:nvPr/>
        </p:nvCxnSpPr>
        <p:spPr>
          <a:xfrm rot="10800000">
            <a:off x="5322188" y="1007072"/>
            <a:ext cx="0" cy="10980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9" name="Google Shape;259;p18"/>
          <p:cNvCxnSpPr>
            <a:stCxn id="239" idx="2"/>
          </p:cNvCxnSpPr>
          <p:nvPr/>
        </p:nvCxnSpPr>
        <p:spPr>
          <a:xfrm>
            <a:off x="5264195" y="4359698"/>
            <a:ext cx="0" cy="9738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Une image contenant texte, Police, Graphique, logo&#10;&#10;Le contenu généré par l’IA peut être incorrect." id="260" name="Google Shape;26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4385" y="5462821"/>
            <a:ext cx="1440237" cy="720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 mâle avec un remplissage uni" id="261" name="Google Shape;26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88840" y="4674605"/>
            <a:ext cx="534432" cy="534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 mâle avec un remplissage uni" id="262" name="Google Shape;2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03003" y="4674605"/>
            <a:ext cx="534432" cy="534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 mâle avec un remplissage uni" id="263" name="Google Shape;26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99876" y="4674605"/>
            <a:ext cx="534432" cy="5344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18"/>
          <p:cNvCxnSpPr>
            <a:stCxn id="237" idx="3"/>
            <a:endCxn id="236" idx="1"/>
          </p:cNvCxnSpPr>
          <p:nvPr/>
        </p:nvCxnSpPr>
        <p:spPr>
          <a:xfrm flipH="1" rot="10800000">
            <a:off x="2376040" y="2504874"/>
            <a:ext cx="933900" cy="561000"/>
          </a:xfrm>
          <a:prstGeom prst="bentConnector3">
            <a:avLst>
              <a:gd fmla="val 46812" name="adj1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5" name="Google Shape;265;p18"/>
          <p:cNvCxnSpPr>
            <a:stCxn id="237" idx="3"/>
            <a:endCxn id="238" idx="1"/>
          </p:cNvCxnSpPr>
          <p:nvPr/>
        </p:nvCxnSpPr>
        <p:spPr>
          <a:xfrm>
            <a:off x="2376040" y="3065874"/>
            <a:ext cx="876000" cy="8772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6" name="Google Shape;266;p18"/>
          <p:cNvSpPr txBox="1"/>
          <p:nvPr>
            <p:ph idx="12" type="sldNum"/>
          </p:nvPr>
        </p:nvSpPr>
        <p:spPr>
          <a:xfrm>
            <a:off x="9722975" y="62560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