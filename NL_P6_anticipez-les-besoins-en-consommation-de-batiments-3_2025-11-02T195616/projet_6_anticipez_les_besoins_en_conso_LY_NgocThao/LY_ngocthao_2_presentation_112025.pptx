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Old Standard TT"/>
      <p:regular r:id="rId26"/>
      <p:bold r:id="rId27"/>
      <p:italic r:id="rId28"/>
    </p:embeddedFon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CB2281-C767-4FD7-9050-95E07D536AF9}">
  <a:tblStyle styleId="{A7CB2281-C767-4FD7-9050-95E07D536AF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ldStandardTT-regular.fntdata"/><Relationship Id="rId25" Type="http://schemas.openxmlformats.org/officeDocument/2006/relationships/slide" Target="slides/slide19.xml"/><Relationship Id="rId28" Type="http://schemas.openxmlformats.org/officeDocument/2006/relationships/font" Target="fonts/OldStandardTT-italic.fntdata"/><Relationship Id="rId27" Type="http://schemas.openxmlformats.org/officeDocument/2006/relationships/font" Target="fonts/OldStandardT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RobotoMon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ad810ac4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ad810ac4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ad810ac42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9ad810ac42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ad810ac42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ad810ac42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ad810ac42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ad810ac42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9b6b80cdf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9b6b80cdf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b6b80cd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b6b80cd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9b6b80cdf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9b6b80cdf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b6b80cdf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b6b80cdf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b6b80cdf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b6b80cdf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b6b80cdf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9b6b80cdf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d430c6c7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d430c6c7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ad810ac42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ad810ac42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ad810ac42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ad810ac42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ad810ac42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ad810ac42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ad810ac42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ad810ac42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bdf53e8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bdf53e8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b3d3732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b3d3732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fr">
                <a:solidFill>
                  <a:schemeClr val="dk1"/>
                </a:solidFill>
              </a:rPr>
              <a:t>Dans le cadre de l’objectif de </a:t>
            </a:r>
            <a:r>
              <a:rPr b="1" lang="fr">
                <a:solidFill>
                  <a:schemeClr val="dk1"/>
                </a:solidFill>
              </a:rPr>
              <a:t>neutralité carbone de Seattle d’ici 2050</a:t>
            </a:r>
            <a:r>
              <a:rPr lang="fr">
                <a:solidFill>
                  <a:schemeClr val="dk1"/>
                </a:solidFill>
              </a:rPr>
              <a:t>, ce projet s’est concentré sur les </a:t>
            </a:r>
            <a:r>
              <a:rPr b="1" lang="fr">
                <a:solidFill>
                  <a:schemeClr val="dk1"/>
                </a:solidFill>
              </a:rPr>
              <a:t>bâtiments non résidentiels</a:t>
            </a:r>
            <a:r>
              <a:rPr lang="fr">
                <a:solidFill>
                  <a:schemeClr val="dk1"/>
                </a:solidFill>
              </a:rPr>
              <a:t>, qui représentent une part importante des émissions de CO₂.</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Les relevés énergétiques existants sont </a:t>
            </a:r>
            <a:r>
              <a:rPr b="1" lang="fr">
                <a:solidFill>
                  <a:schemeClr val="dk1"/>
                </a:solidFill>
              </a:rPr>
              <a:t>coûteux et incomplets</a:t>
            </a:r>
            <a:r>
              <a:rPr lang="fr">
                <a:solidFill>
                  <a:schemeClr val="dk1"/>
                </a:solidFill>
              </a:rPr>
              <a:t>, ce qui limite la capacité de la ville à suivre précisément les émissions de l’ensemble du parc immobilier. Pour pallier ce problème, nous avons développé un </a:t>
            </a:r>
            <a:r>
              <a:rPr b="1" lang="fr">
                <a:solidFill>
                  <a:schemeClr val="dk1"/>
                </a:solidFill>
              </a:rPr>
              <a:t>modèle de prédiction des émissions et de la consommation énergétique</a:t>
            </a:r>
            <a:r>
              <a:rPr lang="fr">
                <a:solidFill>
                  <a:schemeClr val="dk1"/>
                </a:solidFill>
              </a:rPr>
              <a:t> à partir des caractéristiques des bâtiments (surface, usage, année de construction, localisation…).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Le </a:t>
            </a:r>
            <a:r>
              <a:rPr b="1" lang="fr">
                <a:solidFill>
                  <a:schemeClr val="dk1"/>
                </a:solidFill>
              </a:rPr>
              <a:t>Random Forest Regressor</a:t>
            </a:r>
            <a:r>
              <a:rPr lang="fr">
                <a:solidFill>
                  <a:schemeClr val="dk1"/>
                </a:solidFill>
              </a:rPr>
              <a:t> a été retenu pour ses performances supérieures et sa capacité à capturer les relations non linéaires entre les variables. Les résultats montrent que </a:t>
            </a:r>
            <a:r>
              <a:rPr b="1" lang="fr">
                <a:solidFill>
                  <a:schemeClr val="dk1"/>
                </a:solidFill>
              </a:rPr>
              <a:t>la consommation d’électricité, l’intensité énergétique et la superficie totale</a:t>
            </a:r>
            <a:r>
              <a:rPr lang="fr">
                <a:solidFill>
                  <a:schemeClr val="dk1"/>
                </a:solidFill>
              </a:rPr>
              <a:t> sont les facteurs les plus influents dans les émissions de GES.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Le modèle a été </a:t>
            </a:r>
            <a:r>
              <a:rPr b="1" lang="fr">
                <a:solidFill>
                  <a:schemeClr val="dk1"/>
                </a:solidFill>
              </a:rPr>
              <a:t>déployé sur BentoML et Cloud Run</a:t>
            </a:r>
            <a:r>
              <a:rPr lang="fr">
                <a:solidFill>
                  <a:schemeClr val="dk1"/>
                </a:solidFill>
              </a:rPr>
              <a:t>, ce qui permet désormais de </a:t>
            </a:r>
            <a:r>
              <a:rPr b="1" lang="fr">
                <a:solidFill>
                  <a:schemeClr val="dk1"/>
                </a:solidFill>
              </a:rPr>
              <a:t>prévoir rapidement les émissions pour les bâtiments non mesurés</a:t>
            </a:r>
            <a:r>
              <a:rPr lang="fr">
                <a:solidFill>
                  <a:schemeClr val="dk1"/>
                </a:solidFill>
              </a:rPr>
              <a:t>, facilitant la planification énergétique et les initiatives de réduction de carbone à l’échelle de la ville.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bdf53e81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bdf53e81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Dans le cadre de l’objectif de neutralité carbone de Seattle d’ici 2050, ce projet s’est concentré sur les bâtiments non résidentiels, qui représentent une part importante des émissions de CO₂.</a:t>
            </a:r>
            <a:endParaRPr/>
          </a:p>
          <a:p>
            <a:pPr indent="0" lvl="0" marL="0" rtl="0" algn="l">
              <a:spcBef>
                <a:spcPts val="0"/>
              </a:spcBef>
              <a:spcAft>
                <a:spcPts val="0"/>
              </a:spcAft>
              <a:buNone/>
            </a:pPr>
            <a:r>
              <a:t/>
            </a:r>
            <a:endParaRPr/>
          </a:p>
          <a:p>
            <a:pPr indent="0" lvl="0" marL="0" rtl="0" algn="l">
              <a:spcBef>
                <a:spcPts val="0"/>
              </a:spcBef>
              <a:spcAft>
                <a:spcPts val="0"/>
              </a:spcAft>
              <a:buNone/>
            </a:pPr>
            <a:r>
              <a:rPr lang="fr"/>
              <a:t>Les relevés énergétiques existants sont coûteux et incomplets, ce qui limite la capacité de la ville à suivre précisément les émissions de l’ensemble du parc immobilier. Pour pallier ce problème, nous avons développé un modèle de prédiction des émissions et de la consommation énergétique à partir des caractéristiques des bâtiments (surface, usage, année de construction, localisation…).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fr"/>
              <a:t>Le Random Forest Regressor a été retenu pour ses performances supérieures et sa capacité à capturer les relations non linéaires entre les variables. Les résultats montrent que la consommation d’électricité, l’intensité énergétique et la superficie totale sont les facteurs les plus influents dans les émissions de GES.</a:t>
            </a:r>
            <a:endParaRPr/>
          </a:p>
          <a:p>
            <a:pPr indent="0" lvl="0" marL="0" rtl="0" algn="l">
              <a:spcBef>
                <a:spcPts val="0"/>
              </a:spcBef>
              <a:spcAft>
                <a:spcPts val="0"/>
              </a:spcAft>
              <a:buNone/>
            </a:pPr>
            <a:r>
              <a:t/>
            </a:r>
            <a:endParaRPr/>
          </a:p>
          <a:p>
            <a:pPr indent="0" lvl="0" marL="0" rtl="0" algn="l">
              <a:spcBef>
                <a:spcPts val="0"/>
              </a:spcBef>
              <a:spcAft>
                <a:spcPts val="0"/>
              </a:spcAft>
              <a:buNone/>
            </a:pPr>
            <a:r>
              <a:rPr lang="fr"/>
              <a:t>Le modèle a été déployé sur BentoML et Cloud Run, ce qui permet désormais de prévoir rapidement les émissions pour les bâtiments non mesurés, facilitant la planification énergétique et les initiatives de réduction de carbone à l’échelle de la ville.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energy-prediction-service-ny3jby36sq-uc.a.run.ap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Prédiction de la consommation d'énergie des bâtiments</a:t>
            </a:r>
            <a:endParaRPr/>
          </a:p>
        </p:txBody>
      </p:sp>
      <p:sp>
        <p:nvSpPr>
          <p:cNvPr id="60" name="Google Shape;60;p13"/>
          <p:cNvSpPr txBox="1"/>
          <p:nvPr/>
        </p:nvSpPr>
        <p:spPr>
          <a:xfrm>
            <a:off x="489175" y="4227225"/>
            <a:ext cx="4580700" cy="6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accent1"/>
                </a:solidFill>
                <a:latin typeface="Old Standard TT"/>
                <a:ea typeface="Old Standard TT"/>
                <a:cs typeface="Old Standard TT"/>
                <a:sym typeface="Old Standard TT"/>
              </a:rPr>
              <a:t>LY Ngoc Thao - Ville de Seattle -  21/10/2025</a:t>
            </a:r>
            <a:endParaRPr sz="1800">
              <a:solidFill>
                <a:schemeClr val="accent1"/>
              </a:solidFill>
              <a:latin typeface="Old Standard TT"/>
              <a:ea typeface="Old Standard TT"/>
              <a:cs typeface="Old Standard TT"/>
              <a:sym typeface="Old Standard T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Contexte</a:t>
            </a:r>
            <a:endParaRPr/>
          </a:p>
        </p:txBody>
      </p:sp>
      <p:sp>
        <p:nvSpPr>
          <p:cNvPr id="66" name="Google Shape;66;p1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Font typeface="Arial"/>
              <a:buChar char="●"/>
            </a:pPr>
            <a:r>
              <a:rPr lang="fr" sz="1100">
                <a:latin typeface="Arial"/>
                <a:ea typeface="Arial"/>
                <a:cs typeface="Arial"/>
                <a:sym typeface="Arial"/>
              </a:rPr>
              <a:t>La </a:t>
            </a:r>
            <a:r>
              <a:rPr b="1" lang="fr" sz="1100">
                <a:latin typeface="Arial"/>
                <a:ea typeface="Arial"/>
                <a:cs typeface="Arial"/>
                <a:sym typeface="Arial"/>
              </a:rPr>
              <a:t>ville de Seattle</a:t>
            </a:r>
            <a:r>
              <a:rPr lang="fr" sz="1100">
                <a:latin typeface="Arial"/>
                <a:ea typeface="Arial"/>
                <a:cs typeface="Arial"/>
                <a:sym typeface="Arial"/>
              </a:rPr>
              <a:t> vise la </a:t>
            </a:r>
            <a:r>
              <a:rPr b="1" lang="fr" sz="1100">
                <a:latin typeface="Arial"/>
                <a:ea typeface="Arial"/>
                <a:cs typeface="Arial"/>
                <a:sym typeface="Arial"/>
              </a:rPr>
              <a:t>neutralité carbone d’ici 2050</a:t>
            </a:r>
            <a:r>
              <a:rPr lang="fr" sz="1100">
                <a:latin typeface="Arial"/>
                <a:ea typeface="Arial"/>
                <a:cs typeface="Arial"/>
                <a:sym typeface="Arial"/>
              </a:rPr>
              <a:t>.</a:t>
            </a:r>
            <a:br>
              <a:rPr lang="fr"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fr" sz="1100">
                <a:latin typeface="Arial"/>
                <a:ea typeface="Arial"/>
                <a:cs typeface="Arial"/>
                <a:sym typeface="Arial"/>
              </a:rPr>
              <a:t>Les </a:t>
            </a:r>
            <a:r>
              <a:rPr b="1" lang="fr" sz="1100">
                <a:latin typeface="Arial"/>
                <a:ea typeface="Arial"/>
                <a:cs typeface="Arial"/>
                <a:sym typeface="Arial"/>
              </a:rPr>
              <a:t>bâtiments non résidentiels</a:t>
            </a:r>
            <a:r>
              <a:rPr lang="fr" sz="1100">
                <a:latin typeface="Arial"/>
                <a:ea typeface="Arial"/>
                <a:cs typeface="Arial"/>
                <a:sym typeface="Arial"/>
              </a:rPr>
              <a:t> représentent une part importante des </a:t>
            </a:r>
            <a:r>
              <a:rPr b="1" lang="fr" sz="1100">
                <a:latin typeface="Arial"/>
                <a:ea typeface="Arial"/>
                <a:cs typeface="Arial"/>
                <a:sym typeface="Arial"/>
              </a:rPr>
              <a:t>émissions de CO₂</a:t>
            </a:r>
            <a:r>
              <a:rPr lang="fr" sz="1100">
                <a:latin typeface="Arial"/>
                <a:ea typeface="Arial"/>
                <a:cs typeface="Arial"/>
                <a:sym typeface="Arial"/>
              </a:rPr>
              <a:t>.</a:t>
            </a:r>
            <a:br>
              <a:rPr lang="fr"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fr" sz="1100">
                <a:latin typeface="Arial"/>
                <a:ea typeface="Arial"/>
                <a:cs typeface="Arial"/>
                <a:sym typeface="Arial"/>
              </a:rPr>
              <a:t>En </a:t>
            </a:r>
            <a:r>
              <a:rPr b="1" lang="fr" sz="1100">
                <a:latin typeface="Arial"/>
                <a:ea typeface="Arial"/>
                <a:cs typeface="Arial"/>
                <a:sym typeface="Arial"/>
              </a:rPr>
              <a:t>2016</a:t>
            </a:r>
            <a:r>
              <a:rPr lang="fr" sz="1100">
                <a:latin typeface="Arial"/>
                <a:ea typeface="Arial"/>
                <a:cs typeface="Arial"/>
                <a:sym typeface="Arial"/>
              </a:rPr>
              <a:t>, des relevés précis ont mesuré la </a:t>
            </a:r>
            <a:r>
              <a:rPr b="1" lang="fr" sz="1100">
                <a:latin typeface="Arial"/>
                <a:ea typeface="Arial"/>
                <a:cs typeface="Arial"/>
                <a:sym typeface="Arial"/>
              </a:rPr>
              <a:t>consommation énergétique</a:t>
            </a:r>
            <a:r>
              <a:rPr lang="fr" sz="1100">
                <a:latin typeface="Arial"/>
                <a:ea typeface="Arial"/>
                <a:cs typeface="Arial"/>
                <a:sym typeface="Arial"/>
              </a:rPr>
              <a:t> de plusieurs bâtiments.</a:t>
            </a:r>
            <a:br>
              <a:rPr lang="fr"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fr" sz="1100">
                <a:latin typeface="Arial"/>
                <a:ea typeface="Arial"/>
                <a:cs typeface="Arial"/>
                <a:sym typeface="Arial"/>
              </a:rPr>
              <a:t>Ces relevés sont </a:t>
            </a:r>
            <a:r>
              <a:rPr b="1" lang="fr" sz="1100">
                <a:latin typeface="Arial"/>
                <a:ea typeface="Arial"/>
                <a:cs typeface="Arial"/>
                <a:sym typeface="Arial"/>
              </a:rPr>
              <a:t>coûteux</a:t>
            </a:r>
            <a:r>
              <a:rPr lang="fr" sz="1100">
                <a:latin typeface="Arial"/>
                <a:ea typeface="Arial"/>
                <a:cs typeface="Arial"/>
                <a:sym typeface="Arial"/>
              </a:rPr>
              <a:t> et ne couvrent pas tout le parc immobilier.</a:t>
            </a:r>
            <a:br>
              <a:rPr lang="fr"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fr" sz="1100">
                <a:latin typeface="Arial"/>
                <a:ea typeface="Arial"/>
                <a:cs typeface="Arial"/>
                <a:sym typeface="Arial"/>
              </a:rPr>
              <a:t>Objectif : </a:t>
            </a:r>
            <a:r>
              <a:rPr b="1" lang="fr" sz="1100">
                <a:latin typeface="Arial"/>
                <a:ea typeface="Arial"/>
                <a:cs typeface="Arial"/>
                <a:sym typeface="Arial"/>
              </a:rPr>
              <a:t>prédire la consommation d’énergie et les émissions de CO₂</a:t>
            </a:r>
            <a:r>
              <a:rPr lang="fr" sz="1100">
                <a:latin typeface="Arial"/>
                <a:ea typeface="Arial"/>
                <a:cs typeface="Arial"/>
                <a:sym typeface="Arial"/>
              </a:rPr>
              <a:t> pour les bâtiments non mesurés, à partir de leurs </a:t>
            </a:r>
            <a:r>
              <a:rPr b="1" lang="fr" sz="1100">
                <a:latin typeface="Arial"/>
                <a:ea typeface="Arial"/>
                <a:cs typeface="Arial"/>
                <a:sym typeface="Arial"/>
              </a:rPr>
              <a:t>caractéristiques </a:t>
            </a:r>
            <a:r>
              <a:rPr lang="fr" sz="1100">
                <a:latin typeface="Arial"/>
                <a:ea typeface="Arial"/>
                <a:cs typeface="Arial"/>
                <a:sym typeface="Arial"/>
              </a:rPr>
              <a:t>(surface, usage, année, localisation…).</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Jeu de données</a:t>
            </a:r>
            <a:endParaRPr/>
          </a:p>
        </p:txBody>
      </p:sp>
      <p:sp>
        <p:nvSpPr>
          <p:cNvPr id="72" name="Google Shape;72;p1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fr"/>
              <a:t>Source : relevés 2016 (agents de la ville)</a:t>
            </a:r>
            <a:endParaRPr/>
          </a:p>
          <a:p>
            <a:pPr indent="0" lvl="0" marL="0" rtl="0" algn="l">
              <a:spcBef>
                <a:spcPts val="1200"/>
              </a:spcBef>
              <a:spcAft>
                <a:spcPts val="0"/>
              </a:spcAft>
              <a:buClr>
                <a:schemeClr val="dk1"/>
              </a:buClr>
              <a:buSzPct val="61111"/>
              <a:buFont typeface="Arial"/>
              <a:buNone/>
            </a:pPr>
            <a:r>
              <a:rPr lang="fr"/>
              <a:t>Types de features :</a:t>
            </a:r>
            <a:endParaRPr/>
          </a:p>
          <a:p>
            <a:pPr indent="-287972" lvl="0" marL="457200" rtl="0" algn="l">
              <a:spcBef>
                <a:spcPts val="1200"/>
              </a:spcBef>
              <a:spcAft>
                <a:spcPts val="0"/>
              </a:spcAft>
              <a:buSzPct val="100000"/>
              <a:buFont typeface="Arial"/>
              <a:buChar char="●"/>
            </a:pPr>
            <a:r>
              <a:rPr b="1" lang="fr" sz="1100">
                <a:latin typeface="Arial"/>
                <a:ea typeface="Arial"/>
                <a:cs typeface="Arial"/>
                <a:sym typeface="Arial"/>
              </a:rPr>
              <a:t>Type de bâtiment et usage</a:t>
            </a:r>
            <a:r>
              <a:rPr lang="fr" sz="1100">
                <a:latin typeface="Arial"/>
                <a:ea typeface="Arial"/>
                <a:cs typeface="Arial"/>
                <a:sym typeface="Arial"/>
              </a:rPr>
              <a:t> : </a:t>
            </a:r>
            <a:r>
              <a:rPr lang="fr" sz="1100">
                <a:solidFill>
                  <a:srgbClr val="188038"/>
                </a:solidFill>
                <a:latin typeface="Roboto Mono"/>
                <a:ea typeface="Roboto Mono"/>
                <a:cs typeface="Roboto Mono"/>
                <a:sym typeface="Roboto Mono"/>
              </a:rPr>
              <a:t>BuildingType</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PrimaryPropertyType</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LargestPropertyUseType</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SecondLargestPropertyUseType</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ThirdLargestPropertyUseType</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ListOfAllPropertyUseTypes</a:t>
            </a:r>
            <a:br>
              <a:rPr lang="fr"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87972" lvl="0" marL="457200" rtl="0" algn="l">
              <a:spcBef>
                <a:spcPts val="0"/>
              </a:spcBef>
              <a:spcAft>
                <a:spcPts val="0"/>
              </a:spcAft>
              <a:buSzPct val="100000"/>
              <a:buFont typeface="Arial"/>
              <a:buChar char="●"/>
            </a:pPr>
            <a:r>
              <a:rPr b="1" lang="fr" sz="1100">
                <a:latin typeface="Arial"/>
                <a:ea typeface="Arial"/>
                <a:cs typeface="Arial"/>
                <a:sym typeface="Arial"/>
              </a:rPr>
              <a:t>Localisation géographique</a:t>
            </a:r>
            <a:r>
              <a:rPr lang="fr" sz="1100">
                <a:latin typeface="Arial"/>
                <a:ea typeface="Arial"/>
                <a:cs typeface="Arial"/>
                <a:sym typeface="Arial"/>
              </a:rPr>
              <a:t> : </a:t>
            </a:r>
            <a:r>
              <a:rPr lang="fr" sz="1100">
                <a:solidFill>
                  <a:srgbClr val="188038"/>
                </a:solidFill>
                <a:latin typeface="Roboto Mono"/>
                <a:ea typeface="Roboto Mono"/>
                <a:cs typeface="Roboto Mono"/>
                <a:sym typeface="Roboto Mono"/>
              </a:rPr>
              <a:t>Address</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City</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State</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Neighborhood</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Latitude</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Longitude</a:t>
            </a:r>
            <a:br>
              <a:rPr lang="fr"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87972" lvl="0" marL="457200" rtl="0" algn="l">
              <a:spcBef>
                <a:spcPts val="0"/>
              </a:spcBef>
              <a:spcAft>
                <a:spcPts val="0"/>
              </a:spcAft>
              <a:buSzPct val="100000"/>
              <a:buFont typeface="Arial"/>
              <a:buChar char="●"/>
            </a:pPr>
            <a:r>
              <a:rPr b="1" lang="fr" sz="1100">
                <a:latin typeface="Arial"/>
                <a:ea typeface="Arial"/>
                <a:cs typeface="Arial"/>
                <a:sym typeface="Arial"/>
              </a:rPr>
              <a:t>Dimensions physiques</a:t>
            </a:r>
            <a:r>
              <a:rPr lang="fr" sz="1100">
                <a:latin typeface="Arial"/>
                <a:ea typeface="Arial"/>
                <a:cs typeface="Arial"/>
                <a:sym typeface="Arial"/>
              </a:rPr>
              <a:t> : </a:t>
            </a:r>
            <a:r>
              <a:rPr lang="fr" sz="1100">
                <a:solidFill>
                  <a:srgbClr val="188038"/>
                </a:solidFill>
                <a:latin typeface="Roboto Mono"/>
                <a:ea typeface="Roboto Mono"/>
                <a:cs typeface="Roboto Mono"/>
                <a:sym typeface="Roboto Mono"/>
              </a:rPr>
              <a:t>NumberofBuildings</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NumberofFloors</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PropertyGFATotal</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PropertyGFAParking</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PropertyGFABuilding(s)</a:t>
            </a:r>
            <a:br>
              <a:rPr lang="fr"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87972" lvl="0" marL="457200" rtl="0" algn="l">
              <a:spcBef>
                <a:spcPts val="0"/>
              </a:spcBef>
              <a:spcAft>
                <a:spcPts val="0"/>
              </a:spcAft>
              <a:buSzPct val="100000"/>
              <a:buFont typeface="Arial"/>
              <a:buChar char="●"/>
            </a:pPr>
            <a:r>
              <a:rPr b="1" lang="fr" sz="1100">
                <a:latin typeface="Arial"/>
                <a:ea typeface="Arial"/>
                <a:cs typeface="Arial"/>
                <a:sym typeface="Arial"/>
              </a:rPr>
              <a:t>Énergie consommée</a:t>
            </a:r>
            <a:r>
              <a:rPr lang="fr" sz="1100">
                <a:latin typeface="Arial"/>
                <a:ea typeface="Arial"/>
                <a:cs typeface="Arial"/>
                <a:sym typeface="Arial"/>
              </a:rPr>
              <a:t> : </a:t>
            </a:r>
            <a:r>
              <a:rPr lang="fr" sz="1100">
                <a:solidFill>
                  <a:srgbClr val="188038"/>
                </a:solidFill>
                <a:latin typeface="Roboto Mono"/>
                <a:ea typeface="Roboto Mono"/>
                <a:cs typeface="Roboto Mono"/>
                <a:sym typeface="Roboto Mono"/>
              </a:rPr>
              <a:t>SiteEnergyUse(kBtu)</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SiteEnergyUseWN(kBtu)</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SteamUse(kBtu)</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Electricity(kWh)</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Electricity(kBtu)</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NaturalGas(therms)</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NaturalGas(kBtu)</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SiteEUI(kBtu/sf)</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SiteEUIWN(kBtu/sf)</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SourceEUI(kBtu/sf)</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SourceEUIWN(kBtu/sf)</a:t>
            </a:r>
            <a:br>
              <a:rPr lang="fr"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87972" lvl="0" marL="457200" rtl="0" algn="l">
              <a:spcBef>
                <a:spcPts val="0"/>
              </a:spcBef>
              <a:spcAft>
                <a:spcPts val="0"/>
              </a:spcAft>
              <a:buSzPct val="100000"/>
              <a:buFont typeface="Arial"/>
              <a:buChar char="●"/>
            </a:pPr>
            <a:r>
              <a:rPr lang="fr" sz="1100">
                <a:latin typeface="Arial"/>
                <a:ea typeface="Arial"/>
                <a:cs typeface="Arial"/>
                <a:sym typeface="Arial"/>
              </a:rPr>
              <a:t>🔹 </a:t>
            </a:r>
            <a:r>
              <a:rPr b="1" lang="fr" sz="1100">
                <a:latin typeface="Arial"/>
                <a:ea typeface="Arial"/>
                <a:cs typeface="Arial"/>
                <a:sym typeface="Arial"/>
              </a:rPr>
              <a:t>Performances environnementales</a:t>
            </a:r>
            <a:r>
              <a:rPr lang="fr" sz="1100">
                <a:latin typeface="Arial"/>
                <a:ea typeface="Arial"/>
                <a:cs typeface="Arial"/>
                <a:sym typeface="Arial"/>
              </a:rPr>
              <a:t> : </a:t>
            </a:r>
            <a:r>
              <a:rPr lang="fr" sz="1100">
                <a:solidFill>
                  <a:srgbClr val="188038"/>
                </a:solidFill>
                <a:latin typeface="Roboto Mono"/>
                <a:ea typeface="Roboto Mono"/>
                <a:cs typeface="Roboto Mono"/>
                <a:sym typeface="Roboto Mono"/>
              </a:rPr>
              <a:t>TotalGHGEmissions</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GHGEmissionsIntensity</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ENERGYSTARScore</a:t>
            </a:r>
            <a:br>
              <a:rPr lang="fr"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87972" lvl="0" marL="457200" rtl="0" algn="l">
              <a:spcBef>
                <a:spcPts val="0"/>
              </a:spcBef>
              <a:spcAft>
                <a:spcPts val="0"/>
              </a:spcAft>
              <a:buSzPct val="100000"/>
              <a:buFont typeface="Arial"/>
              <a:buChar char="●"/>
            </a:pPr>
            <a:r>
              <a:rPr lang="fr" sz="1100">
                <a:latin typeface="Arial"/>
                <a:ea typeface="Arial"/>
                <a:cs typeface="Arial"/>
                <a:sym typeface="Arial"/>
              </a:rPr>
              <a:t>🔹 </a:t>
            </a:r>
            <a:r>
              <a:rPr b="1" lang="fr" sz="1100">
                <a:latin typeface="Arial"/>
                <a:ea typeface="Arial"/>
                <a:cs typeface="Arial"/>
                <a:sym typeface="Arial"/>
              </a:rPr>
              <a:t>Statuts et indicateurs</a:t>
            </a:r>
            <a:r>
              <a:rPr lang="fr" sz="1100">
                <a:latin typeface="Arial"/>
                <a:ea typeface="Arial"/>
                <a:cs typeface="Arial"/>
                <a:sym typeface="Arial"/>
              </a:rPr>
              <a:t> : </a:t>
            </a:r>
            <a:r>
              <a:rPr lang="fr" sz="1100">
                <a:solidFill>
                  <a:srgbClr val="188038"/>
                </a:solidFill>
                <a:latin typeface="Roboto Mono"/>
                <a:ea typeface="Roboto Mono"/>
                <a:cs typeface="Roboto Mono"/>
                <a:sym typeface="Roboto Mono"/>
              </a:rPr>
              <a:t>DefaultData</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ComplianceStatus</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Outlier</a:t>
            </a:r>
            <a:r>
              <a:rPr lang="fr" sz="1100">
                <a:latin typeface="Arial"/>
                <a:ea typeface="Arial"/>
                <a:cs typeface="Arial"/>
                <a:sym typeface="Arial"/>
              </a:rPr>
              <a:t>, </a:t>
            </a:r>
            <a:r>
              <a:rPr lang="fr" sz="1100">
                <a:solidFill>
                  <a:srgbClr val="188038"/>
                </a:solidFill>
                <a:latin typeface="Roboto Mono"/>
                <a:ea typeface="Roboto Mono"/>
                <a:cs typeface="Roboto Mono"/>
                <a:sym typeface="Roboto Mono"/>
              </a:rPr>
              <a:t>Comments</a:t>
            </a:r>
            <a:br>
              <a:rPr lang="fr" sz="1100">
                <a:solidFill>
                  <a:srgbClr val="188038"/>
                </a:solidFill>
                <a:latin typeface="Roboto Mono"/>
                <a:ea typeface="Roboto Mono"/>
                <a:cs typeface="Roboto Mono"/>
                <a:sym typeface="Roboto Mono"/>
              </a:rPr>
            </a:br>
            <a:endParaRPr/>
          </a:p>
          <a:p>
            <a:pPr indent="0" lvl="0" marL="0" rtl="0" algn="l">
              <a:spcBef>
                <a:spcPts val="1200"/>
              </a:spcBef>
              <a:spcAft>
                <a:spcPts val="1200"/>
              </a:spcAft>
              <a:buNone/>
            </a:pPr>
            <a:r>
              <a:rPr lang="fr"/>
              <a:t>Taille du dataset :  33</a:t>
            </a:r>
            <a:r>
              <a:rPr lang="fr"/>
              <a:t>76</a:t>
            </a:r>
            <a:r>
              <a:rPr lang="fr"/>
              <a:t> lignes — 31 features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Démarche Crisp</a:t>
            </a:r>
            <a:endParaRPr/>
          </a:p>
        </p:txBody>
      </p:sp>
      <p:pic>
        <p:nvPicPr>
          <p:cNvPr id="78" name="Google Shape;78;p16" title="1_JYbymHifAk7aQ1pHm_IdMQ.png"/>
          <p:cNvPicPr preferRelativeResize="0"/>
          <p:nvPr/>
        </p:nvPicPr>
        <p:blipFill>
          <a:blip r:embed="rId3">
            <a:alphaModFix/>
          </a:blip>
          <a:stretch>
            <a:fillRect/>
          </a:stretch>
        </p:blipFill>
        <p:spPr>
          <a:xfrm>
            <a:off x="2553974" y="1058225"/>
            <a:ext cx="3759401" cy="37667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Préparation des données (pipeline)</a:t>
            </a:r>
            <a:endParaRPr/>
          </a:p>
        </p:txBody>
      </p:sp>
      <p:sp>
        <p:nvSpPr>
          <p:cNvPr id="84" name="Google Shape;84;p17"/>
          <p:cNvSpPr txBox="1"/>
          <p:nvPr>
            <p:ph idx="1" type="body"/>
          </p:nvPr>
        </p:nvSpPr>
        <p:spPr>
          <a:xfrm>
            <a:off x="311700" y="1171600"/>
            <a:ext cx="8520600" cy="3819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688"/>
              <a:buFont typeface="Arial"/>
              <a:buNone/>
            </a:pPr>
            <a:r>
              <a:rPr lang="fr" sz="887">
                <a:latin typeface="Arial"/>
                <a:ea typeface="Arial"/>
                <a:cs typeface="Arial"/>
                <a:sym typeface="Arial"/>
              </a:rPr>
              <a:t>🔹 </a:t>
            </a:r>
            <a:r>
              <a:rPr b="1" lang="fr" sz="887">
                <a:latin typeface="Arial"/>
                <a:ea typeface="Arial"/>
                <a:cs typeface="Arial"/>
                <a:sym typeface="Arial"/>
              </a:rPr>
              <a:t>Suppression des colonnes inutiles</a:t>
            </a:r>
            <a:r>
              <a:rPr lang="fr" sz="887">
                <a:latin typeface="Arial"/>
                <a:ea typeface="Arial"/>
                <a:cs typeface="Arial"/>
                <a:sym typeface="Arial"/>
              </a:rPr>
              <a:t> : retrait des identifiants, adresses et variables textuelles non pertinentes (</a:t>
            </a:r>
            <a:r>
              <a:rPr lang="fr" sz="887">
                <a:solidFill>
                  <a:srgbClr val="188038"/>
                </a:solidFill>
                <a:latin typeface="Roboto Mono"/>
                <a:ea typeface="Roboto Mono"/>
                <a:cs typeface="Roboto Mono"/>
                <a:sym typeface="Roboto Mono"/>
              </a:rPr>
              <a:t>PropertyName</a:t>
            </a:r>
            <a:r>
              <a:rPr lang="fr" sz="887">
                <a:latin typeface="Arial"/>
                <a:ea typeface="Arial"/>
                <a:cs typeface="Arial"/>
                <a:sym typeface="Arial"/>
              </a:rPr>
              <a:t>, </a:t>
            </a:r>
            <a:r>
              <a:rPr lang="fr" sz="887">
                <a:solidFill>
                  <a:srgbClr val="188038"/>
                </a:solidFill>
                <a:latin typeface="Roboto Mono"/>
                <a:ea typeface="Roboto Mono"/>
                <a:cs typeface="Roboto Mono"/>
                <a:sym typeface="Roboto Mono"/>
              </a:rPr>
              <a:t>City</a:t>
            </a:r>
            <a:r>
              <a:rPr lang="fr" sz="887">
                <a:latin typeface="Arial"/>
                <a:ea typeface="Arial"/>
                <a:cs typeface="Arial"/>
                <a:sym typeface="Arial"/>
              </a:rPr>
              <a:t>, </a:t>
            </a:r>
            <a:r>
              <a:rPr lang="fr" sz="887">
                <a:solidFill>
                  <a:srgbClr val="188038"/>
                </a:solidFill>
                <a:latin typeface="Roboto Mono"/>
                <a:ea typeface="Roboto Mono"/>
                <a:cs typeface="Roboto Mono"/>
                <a:sym typeface="Roboto Mono"/>
              </a:rPr>
              <a:t>Address</a:t>
            </a:r>
            <a:r>
              <a:rPr lang="fr" sz="887">
                <a:latin typeface="Arial"/>
                <a:ea typeface="Arial"/>
                <a:cs typeface="Arial"/>
                <a:sym typeface="Arial"/>
              </a:rPr>
              <a:t>, etc.) pour éviter le bruit et la redondance.</a:t>
            </a:r>
            <a:endParaRPr sz="8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lang="fr" sz="887">
                <a:latin typeface="Arial"/>
                <a:ea typeface="Arial"/>
                <a:cs typeface="Arial"/>
                <a:sym typeface="Arial"/>
              </a:rPr>
              <a:t>🔹 </a:t>
            </a:r>
            <a:r>
              <a:rPr b="1" lang="fr" sz="887">
                <a:latin typeface="Arial"/>
                <a:ea typeface="Arial"/>
                <a:cs typeface="Arial"/>
                <a:sym typeface="Arial"/>
              </a:rPr>
              <a:t>Nettoyage des valeurs extrêmes (outliers)</a:t>
            </a:r>
            <a:r>
              <a:rPr lang="fr" sz="887">
                <a:latin typeface="Arial"/>
                <a:ea typeface="Arial"/>
                <a:cs typeface="Arial"/>
                <a:sym typeface="Arial"/>
              </a:rPr>
              <a:t> : suppression des 1 % de valeurs les plus faibles et les 1 % les plus élevées de la cible pour limiter l’influence des valeurs aberrantes.</a:t>
            </a:r>
            <a:endParaRPr sz="8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lang="fr" sz="887">
                <a:latin typeface="Arial"/>
                <a:ea typeface="Arial"/>
                <a:cs typeface="Arial"/>
                <a:sym typeface="Arial"/>
              </a:rPr>
              <a:t>🔹 </a:t>
            </a:r>
            <a:r>
              <a:rPr b="1" lang="fr" sz="887">
                <a:latin typeface="Arial"/>
                <a:ea typeface="Arial"/>
                <a:cs typeface="Arial"/>
                <a:sym typeface="Arial"/>
              </a:rPr>
              <a:t>Suppression des variables fortement corrélées</a:t>
            </a:r>
            <a:r>
              <a:rPr lang="fr" sz="887">
                <a:latin typeface="Arial"/>
                <a:ea typeface="Arial"/>
                <a:cs typeface="Arial"/>
                <a:sym typeface="Arial"/>
              </a:rPr>
              <a:t> : suppression automatique des colonnes dont la corrélation absolue &gt; 0.9 afin d’éviter la multicolinéarité.</a:t>
            </a:r>
            <a:endParaRPr sz="8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lang="fr" sz="887">
                <a:latin typeface="Arial"/>
                <a:ea typeface="Arial"/>
                <a:cs typeface="Arial"/>
                <a:sym typeface="Arial"/>
              </a:rPr>
              <a:t>🔹 </a:t>
            </a:r>
            <a:r>
              <a:rPr b="1" lang="fr" sz="887">
                <a:latin typeface="Arial"/>
                <a:ea typeface="Arial"/>
                <a:cs typeface="Arial"/>
                <a:sym typeface="Arial"/>
              </a:rPr>
              <a:t>Encodage des variables catégorielles</a:t>
            </a:r>
            <a:r>
              <a:rPr lang="fr" sz="887">
                <a:latin typeface="Arial"/>
                <a:ea typeface="Arial"/>
                <a:cs typeface="Arial"/>
                <a:sym typeface="Arial"/>
              </a:rPr>
              <a:t> : transformation en variables binaires avec </a:t>
            </a:r>
            <a:r>
              <a:rPr lang="fr" sz="887">
                <a:solidFill>
                  <a:srgbClr val="188038"/>
                </a:solidFill>
                <a:latin typeface="Roboto Mono"/>
                <a:ea typeface="Roboto Mono"/>
                <a:cs typeface="Roboto Mono"/>
                <a:sym typeface="Roboto Mono"/>
              </a:rPr>
              <a:t>pd.get_dummies(drop_first=True)</a:t>
            </a:r>
            <a:r>
              <a:rPr lang="fr" sz="887">
                <a:latin typeface="Arial"/>
                <a:ea typeface="Arial"/>
                <a:cs typeface="Arial"/>
                <a:sym typeface="Arial"/>
              </a:rPr>
              <a:t>.</a:t>
            </a:r>
            <a:endParaRPr sz="8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lang="fr" sz="887">
                <a:latin typeface="Arial"/>
                <a:ea typeface="Arial"/>
                <a:cs typeface="Arial"/>
                <a:sym typeface="Arial"/>
              </a:rPr>
              <a:t>🔹 </a:t>
            </a:r>
            <a:r>
              <a:rPr b="1" lang="fr" sz="887">
                <a:latin typeface="Arial"/>
                <a:ea typeface="Arial"/>
                <a:cs typeface="Arial"/>
                <a:sym typeface="Arial"/>
              </a:rPr>
              <a:t>Remplacement des valeurs infinies par NaN</a:t>
            </a:r>
            <a:r>
              <a:rPr lang="fr" sz="887">
                <a:latin typeface="Arial"/>
                <a:ea typeface="Arial"/>
                <a:cs typeface="Arial"/>
                <a:sym typeface="Arial"/>
              </a:rPr>
              <a:t> : </a:t>
            </a:r>
            <a:r>
              <a:rPr lang="fr" sz="887">
                <a:solidFill>
                  <a:srgbClr val="188038"/>
                </a:solidFill>
                <a:latin typeface="Roboto Mono"/>
                <a:ea typeface="Roboto Mono"/>
                <a:cs typeface="Roboto Mono"/>
                <a:sym typeface="Roboto Mono"/>
              </a:rPr>
              <a:t>X = X.replace([np.inf, -np.inf], np.nan)</a:t>
            </a:r>
            <a:r>
              <a:rPr lang="fr" sz="887">
                <a:latin typeface="Arial"/>
                <a:ea typeface="Arial"/>
                <a:cs typeface="Arial"/>
                <a:sym typeface="Arial"/>
              </a:rPr>
              <a:t> pour éviter les erreurs dans les modèles.</a:t>
            </a:r>
            <a:endParaRPr sz="8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lang="fr" sz="887">
                <a:latin typeface="Arial"/>
                <a:ea typeface="Arial"/>
                <a:cs typeface="Arial"/>
                <a:sym typeface="Arial"/>
              </a:rPr>
              <a:t>🔹 </a:t>
            </a:r>
            <a:r>
              <a:rPr b="1" lang="fr" sz="887">
                <a:latin typeface="Arial"/>
                <a:ea typeface="Arial"/>
                <a:cs typeface="Arial"/>
                <a:sym typeface="Arial"/>
              </a:rPr>
              <a:t>Imputation des valeurs manquantes</a:t>
            </a:r>
            <a:r>
              <a:rPr lang="fr" sz="887">
                <a:latin typeface="Arial"/>
                <a:ea typeface="Arial"/>
                <a:cs typeface="Arial"/>
                <a:sym typeface="Arial"/>
              </a:rPr>
              <a:t> : remplissage des colonnes numériques par la moyenne (</a:t>
            </a:r>
            <a:r>
              <a:rPr lang="fr" sz="887">
                <a:solidFill>
                  <a:srgbClr val="188038"/>
                </a:solidFill>
                <a:latin typeface="Roboto Mono"/>
                <a:ea typeface="Roboto Mono"/>
                <a:cs typeface="Roboto Mono"/>
                <a:sym typeface="Roboto Mono"/>
              </a:rPr>
              <a:t>SimpleImputer(strategy="mean")</a:t>
            </a:r>
            <a:r>
              <a:rPr lang="fr" sz="887">
                <a:latin typeface="Arial"/>
                <a:ea typeface="Arial"/>
                <a:cs typeface="Arial"/>
                <a:sym typeface="Arial"/>
              </a:rPr>
              <a:t>).</a:t>
            </a:r>
            <a:endParaRPr sz="887">
              <a:latin typeface="Arial"/>
              <a:ea typeface="Arial"/>
              <a:cs typeface="Arial"/>
              <a:sym typeface="Arial"/>
            </a:endParaRPr>
          </a:p>
          <a:p>
            <a:pPr indent="0" lvl="0" marL="0" rtl="0" algn="l">
              <a:lnSpc>
                <a:spcPct val="95000"/>
              </a:lnSpc>
              <a:spcBef>
                <a:spcPts val="1200"/>
              </a:spcBef>
              <a:spcAft>
                <a:spcPts val="0"/>
              </a:spcAft>
              <a:buClr>
                <a:schemeClr val="dk1"/>
              </a:buClr>
              <a:buSzPts val="688"/>
              <a:buFont typeface="Arial"/>
              <a:buNone/>
            </a:pPr>
            <a:r>
              <a:rPr lang="fr" sz="887">
                <a:latin typeface="Arial"/>
                <a:ea typeface="Arial"/>
                <a:cs typeface="Arial"/>
                <a:sym typeface="Arial"/>
              </a:rPr>
              <a:t>🔹 </a:t>
            </a:r>
            <a:r>
              <a:rPr b="1" lang="fr" sz="887">
                <a:latin typeface="Arial"/>
                <a:ea typeface="Arial"/>
                <a:cs typeface="Arial"/>
                <a:sym typeface="Arial"/>
              </a:rPr>
              <a:t>Création de nouvelles variables (feature engineering)</a:t>
            </a:r>
            <a:r>
              <a:rPr lang="fr" sz="887">
                <a:latin typeface="Arial"/>
                <a:ea typeface="Arial"/>
                <a:cs typeface="Arial"/>
                <a:sym typeface="Arial"/>
              </a:rPr>
              <a:t> :</a:t>
            </a:r>
            <a:br>
              <a:rPr lang="fr" sz="887">
                <a:latin typeface="Arial"/>
                <a:ea typeface="Arial"/>
                <a:cs typeface="Arial"/>
                <a:sym typeface="Arial"/>
              </a:rPr>
            </a:br>
            <a:endParaRPr sz="887">
              <a:latin typeface="Arial"/>
              <a:ea typeface="Arial"/>
              <a:cs typeface="Arial"/>
              <a:sym typeface="Arial"/>
            </a:endParaRPr>
          </a:p>
          <a:p>
            <a:pPr indent="-284956" lvl="0" marL="457200" rtl="0" algn="l">
              <a:lnSpc>
                <a:spcPct val="95000"/>
              </a:lnSpc>
              <a:spcBef>
                <a:spcPts val="1200"/>
              </a:spcBef>
              <a:spcAft>
                <a:spcPts val="0"/>
              </a:spcAft>
              <a:buSzPts val="888"/>
              <a:buFont typeface="Arial"/>
              <a:buChar char="●"/>
            </a:pPr>
            <a:r>
              <a:rPr lang="fr" sz="887">
                <a:solidFill>
                  <a:srgbClr val="188038"/>
                </a:solidFill>
                <a:latin typeface="Roboto Mono"/>
                <a:ea typeface="Roboto Mono"/>
                <a:cs typeface="Roboto Mono"/>
                <a:sym typeface="Roboto Mono"/>
              </a:rPr>
              <a:t>AvgGFA_perFloor</a:t>
            </a:r>
            <a:r>
              <a:rPr lang="fr" sz="887">
                <a:latin typeface="Arial"/>
                <a:ea typeface="Arial"/>
                <a:cs typeface="Arial"/>
                <a:sym typeface="Arial"/>
              </a:rPr>
              <a:t> = surface moyenne par étage</a:t>
            </a:r>
            <a:br>
              <a:rPr lang="fr" sz="887">
                <a:latin typeface="Arial"/>
                <a:ea typeface="Arial"/>
                <a:cs typeface="Arial"/>
                <a:sym typeface="Arial"/>
              </a:rPr>
            </a:br>
            <a:endParaRPr sz="887">
              <a:latin typeface="Arial"/>
              <a:ea typeface="Arial"/>
              <a:cs typeface="Arial"/>
              <a:sym typeface="Arial"/>
            </a:endParaRPr>
          </a:p>
          <a:p>
            <a:pPr indent="-284956" lvl="0" marL="457200" rtl="0" algn="l">
              <a:lnSpc>
                <a:spcPct val="95000"/>
              </a:lnSpc>
              <a:spcBef>
                <a:spcPts val="0"/>
              </a:spcBef>
              <a:spcAft>
                <a:spcPts val="0"/>
              </a:spcAft>
              <a:buSzPts val="888"/>
              <a:buFont typeface="Arial"/>
              <a:buChar char="●"/>
            </a:pPr>
            <a:r>
              <a:rPr lang="fr" sz="887">
                <a:solidFill>
                  <a:srgbClr val="188038"/>
                </a:solidFill>
                <a:latin typeface="Roboto Mono"/>
                <a:ea typeface="Roboto Mono"/>
                <a:cs typeface="Roboto Mono"/>
                <a:sym typeface="Roboto Mono"/>
              </a:rPr>
              <a:t>AvgGFA_perBuilding</a:t>
            </a:r>
            <a:r>
              <a:rPr lang="fr" sz="887">
                <a:latin typeface="Arial"/>
                <a:ea typeface="Arial"/>
                <a:cs typeface="Arial"/>
                <a:sym typeface="Arial"/>
              </a:rPr>
              <a:t> = surface moyenne par bâtiment</a:t>
            </a:r>
            <a:br>
              <a:rPr lang="fr" sz="887">
                <a:latin typeface="Arial"/>
                <a:ea typeface="Arial"/>
                <a:cs typeface="Arial"/>
                <a:sym typeface="Arial"/>
              </a:rPr>
            </a:br>
            <a:endParaRPr sz="887">
              <a:latin typeface="Arial"/>
              <a:ea typeface="Arial"/>
              <a:cs typeface="Arial"/>
              <a:sym typeface="Arial"/>
            </a:endParaRPr>
          </a:p>
          <a:p>
            <a:pPr indent="-284956" lvl="0" marL="457200" rtl="0" algn="l">
              <a:lnSpc>
                <a:spcPct val="95000"/>
              </a:lnSpc>
              <a:spcBef>
                <a:spcPts val="0"/>
              </a:spcBef>
              <a:spcAft>
                <a:spcPts val="0"/>
              </a:spcAft>
              <a:buSzPts val="888"/>
              <a:buFont typeface="Arial"/>
              <a:buChar char="●"/>
            </a:pPr>
            <a:r>
              <a:rPr lang="fr" sz="887">
                <a:solidFill>
                  <a:srgbClr val="188038"/>
                </a:solidFill>
                <a:latin typeface="Roboto Mono"/>
                <a:ea typeface="Roboto Mono"/>
                <a:cs typeface="Roboto Mono"/>
                <a:sym typeface="Roboto Mono"/>
              </a:rPr>
              <a:t>GHG_per_sqft</a:t>
            </a:r>
            <a:r>
              <a:rPr lang="fr" sz="887">
                <a:latin typeface="Arial"/>
                <a:ea typeface="Arial"/>
                <a:cs typeface="Arial"/>
                <a:sym typeface="Arial"/>
              </a:rPr>
              <a:t> = émissions de GES par m²</a:t>
            </a:r>
            <a:br>
              <a:rPr lang="fr" sz="887">
                <a:latin typeface="Arial"/>
                <a:ea typeface="Arial"/>
                <a:cs typeface="Arial"/>
                <a:sym typeface="Arial"/>
              </a:rPr>
            </a:br>
            <a:endParaRPr sz="887">
              <a:latin typeface="Arial"/>
              <a:ea typeface="Arial"/>
              <a:cs typeface="Arial"/>
              <a:sym typeface="Arial"/>
            </a:endParaRPr>
          </a:p>
          <a:p>
            <a:pPr indent="-284956" lvl="0" marL="457200" rtl="0" algn="l">
              <a:lnSpc>
                <a:spcPct val="95000"/>
              </a:lnSpc>
              <a:spcBef>
                <a:spcPts val="0"/>
              </a:spcBef>
              <a:spcAft>
                <a:spcPts val="0"/>
              </a:spcAft>
              <a:buSzPts val="888"/>
              <a:buFont typeface="Arial"/>
              <a:buChar char="●"/>
            </a:pPr>
            <a:r>
              <a:rPr lang="fr" sz="887">
                <a:solidFill>
                  <a:srgbClr val="188038"/>
                </a:solidFill>
                <a:latin typeface="Roboto Mono"/>
                <a:ea typeface="Roboto Mono"/>
                <a:cs typeface="Roboto Mono"/>
                <a:sym typeface="Roboto Mono"/>
              </a:rPr>
              <a:t>DecadeBuilt</a:t>
            </a:r>
            <a:r>
              <a:rPr lang="fr" sz="887">
                <a:latin typeface="Arial"/>
                <a:ea typeface="Arial"/>
                <a:cs typeface="Arial"/>
                <a:sym typeface="Arial"/>
              </a:rPr>
              <a:t> = décennie de construction</a:t>
            </a:r>
            <a:br>
              <a:rPr lang="fr" sz="887">
                <a:latin typeface="Arial"/>
                <a:ea typeface="Arial"/>
                <a:cs typeface="Arial"/>
                <a:sym typeface="Arial"/>
              </a:rPr>
            </a:br>
            <a:endParaRPr sz="887">
              <a:latin typeface="Arial"/>
              <a:ea typeface="Arial"/>
              <a:cs typeface="Arial"/>
              <a:sym typeface="Arial"/>
            </a:endParaRPr>
          </a:p>
          <a:p>
            <a:pPr indent="-284956" lvl="0" marL="457200" rtl="0" algn="l">
              <a:lnSpc>
                <a:spcPct val="95000"/>
              </a:lnSpc>
              <a:spcBef>
                <a:spcPts val="0"/>
              </a:spcBef>
              <a:spcAft>
                <a:spcPts val="0"/>
              </a:spcAft>
              <a:buSzPts val="888"/>
              <a:buFont typeface="Arial"/>
              <a:buChar char="●"/>
            </a:pPr>
            <a:r>
              <a:rPr lang="fr" sz="887">
                <a:solidFill>
                  <a:srgbClr val="188038"/>
                </a:solidFill>
                <a:latin typeface="Roboto Mono"/>
                <a:ea typeface="Roboto Mono"/>
                <a:cs typeface="Roboto Mono"/>
                <a:sym typeface="Roboto Mono"/>
              </a:rPr>
              <a:t>IsCertified</a:t>
            </a:r>
            <a:r>
              <a:rPr lang="fr" sz="887">
                <a:latin typeface="Arial"/>
                <a:ea typeface="Arial"/>
                <a:cs typeface="Arial"/>
                <a:sym typeface="Arial"/>
              </a:rPr>
              <a:t> = indicateur de certification énergétique (1 si certifié, 0 sinon)</a:t>
            </a:r>
            <a:endParaRPr sz="887">
              <a:latin typeface="Arial"/>
              <a:ea typeface="Arial"/>
              <a:cs typeface="Arial"/>
              <a:sym typeface="Arial"/>
            </a:endParaRPr>
          </a:p>
          <a:p>
            <a:pPr indent="0" lvl="0" marL="0" rtl="0" algn="l">
              <a:lnSpc>
                <a:spcPct val="95000"/>
              </a:lnSpc>
              <a:spcBef>
                <a:spcPts val="1200"/>
              </a:spcBef>
              <a:spcAft>
                <a:spcPts val="1200"/>
              </a:spcAft>
              <a:buSzPts val="688"/>
              <a:buNone/>
            </a:pPr>
            <a:r>
              <a:t/>
            </a:r>
            <a:endParaRPr sz="1125"/>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Analyse exploratoire (principaux insights)</a:t>
            </a:r>
            <a:endParaRPr/>
          </a:p>
        </p:txBody>
      </p:sp>
      <p:pic>
        <p:nvPicPr>
          <p:cNvPr id="90" name="Google Shape;90;p18" title="download.png"/>
          <p:cNvPicPr preferRelativeResize="0"/>
          <p:nvPr/>
        </p:nvPicPr>
        <p:blipFill>
          <a:blip r:embed="rId3">
            <a:alphaModFix/>
          </a:blip>
          <a:stretch>
            <a:fillRect/>
          </a:stretch>
        </p:blipFill>
        <p:spPr>
          <a:xfrm>
            <a:off x="2907050" y="1370775"/>
            <a:ext cx="5994549" cy="3264700"/>
          </a:xfrm>
          <a:prstGeom prst="rect">
            <a:avLst/>
          </a:prstGeom>
          <a:noFill/>
          <a:ln>
            <a:noFill/>
          </a:ln>
        </p:spPr>
      </p:pic>
      <p:sp>
        <p:nvSpPr>
          <p:cNvPr id="91" name="Google Shape;91;p18"/>
          <p:cNvSpPr txBox="1"/>
          <p:nvPr/>
        </p:nvSpPr>
        <p:spPr>
          <a:xfrm>
            <a:off x="311700" y="2041075"/>
            <a:ext cx="23946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dk1"/>
                </a:solidFill>
              </a:rPr>
              <a:t>Ce graphique montre </a:t>
            </a:r>
            <a:r>
              <a:rPr b="1" lang="fr">
                <a:solidFill>
                  <a:schemeClr val="dk1"/>
                </a:solidFill>
              </a:rPr>
              <a:t>comment se répartissent les bâtiments selon leur année de construction</a:t>
            </a:r>
            <a:r>
              <a:rPr lang="fr">
                <a:solidFill>
                  <a:schemeClr val="dk1"/>
                </a:solidFill>
              </a:rPr>
              <a:t>.</a:t>
            </a:r>
            <a:endParaRPr>
              <a:solidFill>
                <a:schemeClr val="dk1"/>
              </a:solidFill>
            </a:endParaRPr>
          </a:p>
          <a:p>
            <a:pPr indent="0" lvl="0" marL="0" rtl="0" algn="l">
              <a:spcBef>
                <a:spcPts val="0"/>
              </a:spcBef>
              <a:spcAft>
                <a:spcPts val="0"/>
              </a:spcAft>
              <a:buNone/>
            </a:pPr>
            <a:r>
              <a:rPr lang="fr">
                <a:solidFill>
                  <a:schemeClr val="dk1"/>
                </a:solidFill>
              </a:rPr>
              <a:t>Il permet de visualiser </a:t>
            </a:r>
            <a:r>
              <a:rPr b="1" lang="fr">
                <a:solidFill>
                  <a:schemeClr val="dk1"/>
                </a:solidFill>
              </a:rPr>
              <a:t>quand la majorité des bâtiments ont été construits</a:t>
            </a:r>
            <a:r>
              <a:rPr lang="fr">
                <a:solidFill>
                  <a:schemeClr val="dk1"/>
                </a:solidFill>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9" title="download.png"/>
          <p:cNvPicPr preferRelativeResize="0"/>
          <p:nvPr/>
        </p:nvPicPr>
        <p:blipFill>
          <a:blip r:embed="rId3">
            <a:alphaModFix/>
          </a:blip>
          <a:stretch>
            <a:fillRect/>
          </a:stretch>
        </p:blipFill>
        <p:spPr>
          <a:xfrm>
            <a:off x="3497550" y="1072300"/>
            <a:ext cx="5416850" cy="2963825"/>
          </a:xfrm>
          <a:prstGeom prst="rect">
            <a:avLst/>
          </a:prstGeom>
          <a:noFill/>
          <a:ln>
            <a:noFill/>
          </a:ln>
        </p:spPr>
      </p:pic>
      <p:sp>
        <p:nvSpPr>
          <p:cNvPr id="97" name="Google Shape;97;p19"/>
          <p:cNvSpPr txBox="1"/>
          <p:nvPr/>
        </p:nvSpPr>
        <p:spPr>
          <a:xfrm>
            <a:off x="130800" y="559900"/>
            <a:ext cx="2847300" cy="370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fr" sz="1000">
                <a:solidFill>
                  <a:schemeClr val="dk1"/>
                </a:solidFill>
              </a:rPr>
              <a:t> Ce graphique représente la </a:t>
            </a:r>
            <a:r>
              <a:rPr b="1" lang="fr" sz="1000">
                <a:solidFill>
                  <a:schemeClr val="dk1"/>
                </a:solidFill>
              </a:rPr>
              <a:t>distribution des superficies totales (GFA)</a:t>
            </a:r>
            <a:r>
              <a:rPr lang="fr" sz="1000">
                <a:solidFill>
                  <a:schemeClr val="dk1"/>
                </a:solidFill>
              </a:rPr>
              <a:t> des bâtiments dans ton dataset.</a:t>
            </a:r>
            <a:endParaRPr sz="1000">
              <a:solidFill>
                <a:schemeClr val="dk1"/>
              </a:solidFill>
            </a:endParaRPr>
          </a:p>
          <a:p>
            <a:pPr indent="-292100" lvl="0" marL="457200" rtl="0" algn="l">
              <a:lnSpc>
                <a:spcPct val="115000"/>
              </a:lnSpc>
              <a:spcBef>
                <a:spcPts val="1400"/>
              </a:spcBef>
              <a:spcAft>
                <a:spcPts val="0"/>
              </a:spcAft>
              <a:buClr>
                <a:schemeClr val="dk1"/>
              </a:buClr>
              <a:buSzPts val="1000"/>
              <a:buChar char="●"/>
            </a:pPr>
            <a:r>
              <a:rPr lang="fr" sz="1000">
                <a:solidFill>
                  <a:schemeClr val="dk1"/>
                </a:solidFill>
              </a:rPr>
              <a:t>L’</a:t>
            </a:r>
            <a:r>
              <a:rPr b="1" lang="fr" sz="1000">
                <a:solidFill>
                  <a:schemeClr val="dk1"/>
                </a:solidFill>
              </a:rPr>
              <a:t>axe horizontal (x)</a:t>
            </a:r>
            <a:r>
              <a:rPr lang="fr" sz="1000">
                <a:solidFill>
                  <a:schemeClr val="dk1"/>
                </a:solidFill>
              </a:rPr>
              <a:t> montre la </a:t>
            </a:r>
            <a:r>
              <a:rPr b="1" lang="fr" sz="1000">
                <a:solidFill>
                  <a:schemeClr val="dk1"/>
                </a:solidFill>
              </a:rPr>
              <a:t>superficie totale</a:t>
            </a:r>
            <a:r>
              <a:rPr lang="fr" sz="1000">
                <a:solidFill>
                  <a:schemeClr val="dk1"/>
                </a:solidFill>
              </a:rPr>
              <a:t> de chaque bâtiment.</a:t>
            </a:r>
            <a:br>
              <a:rPr lang="fr"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fr" sz="1000">
                <a:solidFill>
                  <a:schemeClr val="dk1"/>
                </a:solidFill>
              </a:rPr>
              <a:t>L’</a:t>
            </a:r>
            <a:r>
              <a:rPr b="1" lang="fr" sz="1000">
                <a:solidFill>
                  <a:schemeClr val="dk1"/>
                </a:solidFill>
              </a:rPr>
              <a:t>axe vertical (y)</a:t>
            </a:r>
            <a:r>
              <a:rPr lang="fr" sz="1000">
                <a:solidFill>
                  <a:schemeClr val="dk1"/>
                </a:solidFill>
              </a:rPr>
              <a:t> montre </a:t>
            </a:r>
            <a:r>
              <a:rPr b="1" lang="fr" sz="1000">
                <a:solidFill>
                  <a:schemeClr val="dk1"/>
                </a:solidFill>
              </a:rPr>
              <a:t>combien de bâtiments</a:t>
            </a:r>
            <a:r>
              <a:rPr lang="fr" sz="1000">
                <a:solidFill>
                  <a:schemeClr val="dk1"/>
                </a:solidFill>
              </a:rPr>
              <a:t> ont cette superficie.</a:t>
            </a:r>
            <a:br>
              <a:rPr lang="fr"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fr" sz="1000">
                <a:solidFill>
                  <a:schemeClr val="dk1"/>
                </a:solidFill>
              </a:rPr>
              <a:t>La limite sur l’axe x (</a:t>
            </a:r>
            <a:r>
              <a:rPr lang="fr" sz="1000">
                <a:solidFill>
                  <a:srgbClr val="188038"/>
                </a:solidFill>
                <a:latin typeface="Roboto Mono"/>
                <a:ea typeface="Roboto Mono"/>
                <a:cs typeface="Roboto Mono"/>
                <a:sym typeface="Roboto Mono"/>
              </a:rPr>
              <a:t>plt.xlim</a:t>
            </a:r>
            <a:r>
              <a:rPr lang="fr" sz="1000">
                <a:solidFill>
                  <a:schemeClr val="dk1"/>
                </a:solidFill>
              </a:rPr>
              <a:t> à 95% des données) permet de </a:t>
            </a:r>
            <a:r>
              <a:rPr b="1" lang="fr" sz="1000">
                <a:solidFill>
                  <a:schemeClr val="dk1"/>
                </a:solidFill>
              </a:rPr>
              <a:t>ne pas être gêné par les très grands bâtiments</a:t>
            </a:r>
            <a:r>
              <a:rPr lang="fr" sz="1000">
                <a:solidFill>
                  <a:schemeClr val="dk1"/>
                </a:solidFill>
              </a:rPr>
              <a:t> et de mieux visualiser la majorité des valeurs.</a:t>
            </a:r>
            <a:br>
              <a:rPr lang="fr"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fr" sz="1000">
                <a:solidFill>
                  <a:schemeClr val="dk1"/>
                </a:solidFill>
              </a:rPr>
              <a:t>Les barres vertes montrent où se </a:t>
            </a:r>
            <a:r>
              <a:rPr b="1" lang="fr" sz="1000">
                <a:solidFill>
                  <a:schemeClr val="dk1"/>
                </a:solidFill>
              </a:rPr>
              <a:t>concentrent la plupart des superficies</a:t>
            </a:r>
            <a:r>
              <a:rPr lang="fr" sz="1000">
                <a:solidFill>
                  <a:schemeClr val="dk1"/>
                </a:solidFill>
              </a:rPr>
              <a:t>, donnant une idée de la taille typique des bâtiments.</a:t>
            </a:r>
            <a:endParaRPr sz="1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20" title="download.png"/>
          <p:cNvPicPr preferRelativeResize="0"/>
          <p:nvPr/>
        </p:nvPicPr>
        <p:blipFill>
          <a:blip r:embed="rId3">
            <a:alphaModFix/>
          </a:blip>
          <a:stretch>
            <a:fillRect/>
          </a:stretch>
        </p:blipFill>
        <p:spPr>
          <a:xfrm>
            <a:off x="3786275" y="633500"/>
            <a:ext cx="4862399" cy="3462825"/>
          </a:xfrm>
          <a:prstGeom prst="rect">
            <a:avLst/>
          </a:prstGeom>
          <a:noFill/>
          <a:ln>
            <a:noFill/>
          </a:ln>
        </p:spPr>
      </p:pic>
      <p:sp>
        <p:nvSpPr>
          <p:cNvPr id="103" name="Google Shape;103;p20"/>
          <p:cNvSpPr txBox="1"/>
          <p:nvPr/>
        </p:nvSpPr>
        <p:spPr>
          <a:xfrm>
            <a:off x="272125" y="1964713"/>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Ce graphique montre </a:t>
            </a:r>
            <a:r>
              <a:rPr b="1" lang="fr" sz="1000">
                <a:solidFill>
                  <a:schemeClr val="dk1"/>
                </a:solidFill>
              </a:rPr>
              <a:t>la répartition des scores ENERGY STAR</a:t>
            </a:r>
            <a:r>
              <a:rPr lang="fr" sz="1000">
                <a:solidFill>
                  <a:schemeClr val="dk1"/>
                </a:solidFill>
              </a:rPr>
              <a:t> des bâtiments, indiquant combien ont des scores faibles, moyens ou élevés.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1" title="download.png"/>
          <p:cNvPicPr preferRelativeResize="0"/>
          <p:nvPr/>
        </p:nvPicPr>
        <p:blipFill>
          <a:blip r:embed="rId3">
            <a:alphaModFix/>
          </a:blip>
          <a:stretch>
            <a:fillRect/>
          </a:stretch>
        </p:blipFill>
        <p:spPr>
          <a:xfrm>
            <a:off x="3793422" y="559350"/>
            <a:ext cx="4838850" cy="3650250"/>
          </a:xfrm>
          <a:prstGeom prst="rect">
            <a:avLst/>
          </a:prstGeom>
          <a:noFill/>
          <a:ln>
            <a:noFill/>
          </a:ln>
        </p:spPr>
      </p:pic>
      <p:sp>
        <p:nvSpPr>
          <p:cNvPr id="109" name="Google Shape;109;p21"/>
          <p:cNvSpPr txBox="1"/>
          <p:nvPr/>
        </p:nvSpPr>
        <p:spPr>
          <a:xfrm>
            <a:off x="347725" y="1315350"/>
            <a:ext cx="3000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dk1"/>
                </a:solidFill>
              </a:rPr>
              <a:t>Ce graphique montre les </a:t>
            </a:r>
            <a:r>
              <a:rPr b="1" lang="fr">
                <a:solidFill>
                  <a:schemeClr val="dk1"/>
                </a:solidFill>
              </a:rPr>
              <a:t>10 types de propriétés les plus fréquents</a:t>
            </a:r>
            <a:r>
              <a:rPr lang="fr">
                <a:solidFill>
                  <a:schemeClr val="dk1"/>
                </a:solidFill>
              </a:rPr>
              <a:t> dans ton jeu de données, avec le </a:t>
            </a:r>
            <a:r>
              <a:rPr b="1" lang="fr">
                <a:solidFill>
                  <a:schemeClr val="dk1"/>
                </a:solidFill>
              </a:rPr>
              <a:t>nombre de bâtiments</a:t>
            </a:r>
            <a:r>
              <a:rPr lang="fr">
                <a:solidFill>
                  <a:schemeClr val="dk1"/>
                </a:solidFill>
              </a:rPr>
              <a:t> pour chacun.</a:t>
            </a:r>
            <a:endParaRPr>
              <a:solidFill>
                <a:schemeClr val="dk1"/>
              </a:solidFill>
            </a:endParaRPr>
          </a:p>
          <a:p>
            <a:pPr indent="0" lvl="0" marL="0" rtl="0" algn="l">
              <a:spcBef>
                <a:spcPts val="0"/>
              </a:spcBef>
              <a:spcAft>
                <a:spcPts val="0"/>
              </a:spcAft>
              <a:buNone/>
            </a:pPr>
            <a:r>
              <a:rPr lang="fr">
                <a:solidFill>
                  <a:schemeClr val="dk1"/>
                </a:solidFill>
              </a:rPr>
              <a:t>Les barres oranges indiquent </a:t>
            </a:r>
            <a:r>
              <a:rPr b="1" lang="fr">
                <a:solidFill>
                  <a:schemeClr val="dk1"/>
                </a:solidFill>
              </a:rPr>
              <a:t>combien de fois chaque type apparaît</a:t>
            </a:r>
            <a:r>
              <a:rPr lang="fr">
                <a:solidFill>
                  <a:schemeClr val="dk1"/>
                </a:solidFill>
              </a:rPr>
              <a:t>, permettant d’identifier </a:t>
            </a:r>
            <a:r>
              <a:rPr b="1" lang="fr">
                <a:solidFill>
                  <a:schemeClr val="dk1"/>
                </a:solidFill>
              </a:rPr>
              <a:t>les catégories de bâtiments les plus courantes</a:t>
            </a:r>
            <a:r>
              <a:rPr lang="fr">
                <a:solidFill>
                  <a:schemeClr val="dk1"/>
                </a:solidFill>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2" title="download.png"/>
          <p:cNvPicPr preferRelativeResize="0"/>
          <p:nvPr/>
        </p:nvPicPr>
        <p:blipFill>
          <a:blip r:embed="rId3">
            <a:alphaModFix/>
          </a:blip>
          <a:stretch>
            <a:fillRect/>
          </a:stretch>
        </p:blipFill>
        <p:spPr>
          <a:xfrm>
            <a:off x="3522846" y="1188625"/>
            <a:ext cx="5292475" cy="2901925"/>
          </a:xfrm>
          <a:prstGeom prst="rect">
            <a:avLst/>
          </a:prstGeom>
          <a:noFill/>
          <a:ln>
            <a:noFill/>
          </a:ln>
        </p:spPr>
      </p:pic>
      <p:sp>
        <p:nvSpPr>
          <p:cNvPr id="115" name="Google Shape;115;p22"/>
          <p:cNvSpPr txBox="1"/>
          <p:nvPr/>
        </p:nvSpPr>
        <p:spPr>
          <a:xfrm>
            <a:off x="211675" y="1871400"/>
            <a:ext cx="3000000" cy="140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1000"/>
              </a:spcAft>
              <a:buNone/>
            </a:pPr>
            <a:r>
              <a:rPr lang="fr" sz="1000">
                <a:solidFill>
                  <a:schemeClr val="dk1"/>
                </a:solidFill>
              </a:rPr>
              <a:t>Ce graphique montre la </a:t>
            </a:r>
            <a:r>
              <a:rPr b="1" lang="fr" sz="1000">
                <a:solidFill>
                  <a:schemeClr val="dk1"/>
                </a:solidFill>
              </a:rPr>
              <a:t>répartition des émissions totales de gaz à effet de serre (GES)</a:t>
            </a:r>
            <a:r>
              <a:rPr lang="fr" sz="1000">
                <a:solidFill>
                  <a:schemeClr val="dk1"/>
                </a:solidFill>
              </a:rPr>
              <a:t> des bâtiments, en indiquant combien de bâtiments émettent peu ou beaucoup de CO₂.</a:t>
            </a:r>
            <a:br>
              <a:rPr lang="fr" sz="1000">
                <a:solidFill>
                  <a:schemeClr val="dk1"/>
                </a:solidFill>
              </a:rPr>
            </a:br>
            <a:r>
              <a:rPr lang="fr" sz="1000">
                <a:solidFill>
                  <a:schemeClr val="dk1"/>
                </a:solidFill>
              </a:rPr>
              <a:t> La limite à 95% permet de </a:t>
            </a:r>
            <a:r>
              <a:rPr b="1" lang="fr" sz="1000">
                <a:solidFill>
                  <a:schemeClr val="dk1"/>
                </a:solidFill>
              </a:rPr>
              <a:t>mettre en valeur la majorité des bâtiments</a:t>
            </a:r>
            <a:r>
              <a:rPr lang="fr" sz="1000">
                <a:solidFill>
                  <a:schemeClr val="dk1"/>
                </a:solidFill>
              </a:rPr>
              <a:t> sans être influencé par les valeurs extrêmes.</a:t>
            </a:r>
            <a:endParaRPr sz="1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3" title="download.png"/>
          <p:cNvPicPr preferRelativeResize="0"/>
          <p:nvPr/>
        </p:nvPicPr>
        <p:blipFill>
          <a:blip r:embed="rId3">
            <a:alphaModFix/>
          </a:blip>
          <a:stretch>
            <a:fillRect/>
          </a:stretch>
        </p:blipFill>
        <p:spPr>
          <a:xfrm>
            <a:off x="3746675" y="624597"/>
            <a:ext cx="5199601" cy="3523775"/>
          </a:xfrm>
          <a:prstGeom prst="rect">
            <a:avLst/>
          </a:prstGeom>
          <a:noFill/>
          <a:ln>
            <a:noFill/>
          </a:ln>
        </p:spPr>
      </p:pic>
      <p:sp>
        <p:nvSpPr>
          <p:cNvPr id="121" name="Google Shape;121;p23"/>
          <p:cNvSpPr txBox="1"/>
          <p:nvPr/>
        </p:nvSpPr>
        <p:spPr>
          <a:xfrm>
            <a:off x="241675" y="1276200"/>
            <a:ext cx="3000000" cy="259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fr" sz="1000">
                <a:solidFill>
                  <a:schemeClr val="dk1"/>
                </a:solidFill>
              </a:rPr>
              <a:t> Ce graphique montre </a:t>
            </a:r>
            <a:r>
              <a:rPr b="1" lang="fr" sz="1000">
                <a:solidFill>
                  <a:schemeClr val="dk1"/>
                </a:solidFill>
              </a:rPr>
              <a:t>la relation entre la superficie totale des bâtiments et leurs émissions de GES</a:t>
            </a:r>
            <a:r>
              <a:rPr lang="fr" sz="1000">
                <a:solidFill>
                  <a:schemeClr val="dk1"/>
                </a:solidFill>
              </a:rPr>
              <a:t>.</a:t>
            </a:r>
            <a:endParaRPr sz="1000">
              <a:solidFill>
                <a:schemeClr val="dk1"/>
              </a:solidFill>
            </a:endParaRPr>
          </a:p>
          <a:p>
            <a:pPr indent="-292100" lvl="0" marL="457200" rtl="0" algn="l">
              <a:lnSpc>
                <a:spcPct val="115000"/>
              </a:lnSpc>
              <a:spcBef>
                <a:spcPts val="1000"/>
              </a:spcBef>
              <a:spcAft>
                <a:spcPts val="0"/>
              </a:spcAft>
              <a:buClr>
                <a:schemeClr val="dk1"/>
              </a:buClr>
              <a:buSzPts val="1000"/>
              <a:buChar char="●"/>
            </a:pPr>
            <a:r>
              <a:rPr lang="fr" sz="1000">
                <a:solidFill>
                  <a:schemeClr val="dk1"/>
                </a:solidFill>
              </a:rPr>
              <a:t>Chaque point représente un bâtiment.</a:t>
            </a:r>
            <a:br>
              <a:rPr lang="fr"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fr" sz="1000">
                <a:solidFill>
                  <a:schemeClr val="dk1"/>
                </a:solidFill>
              </a:rPr>
              <a:t>Il permet de voir </a:t>
            </a:r>
            <a:r>
              <a:rPr b="1" lang="fr" sz="1000">
                <a:solidFill>
                  <a:schemeClr val="dk1"/>
                </a:solidFill>
              </a:rPr>
              <a:t>si les bâtiments plus grands ont tendance à émettre plus de GES</a:t>
            </a:r>
            <a:r>
              <a:rPr lang="fr" sz="1000">
                <a:solidFill>
                  <a:schemeClr val="dk1"/>
                </a:solidFill>
              </a:rPr>
              <a:t>.</a:t>
            </a:r>
            <a:br>
              <a:rPr lang="fr"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fr" sz="1000">
                <a:solidFill>
                  <a:schemeClr val="dk1"/>
                </a:solidFill>
              </a:rPr>
              <a:t>La limite à 95% des valeurs sur les axes permet de </a:t>
            </a:r>
            <a:r>
              <a:rPr b="1" lang="fr" sz="1000">
                <a:solidFill>
                  <a:schemeClr val="dk1"/>
                </a:solidFill>
              </a:rPr>
              <a:t>mieux visualiser la majorité des données sans être gêné par les extrêmes</a:t>
            </a:r>
            <a:r>
              <a:rPr lang="fr" sz="1000">
                <a:solidFill>
                  <a:schemeClr val="dk1"/>
                </a:solidFill>
              </a:rPr>
              <a:t>.</a:t>
            </a:r>
            <a:endParaRPr sz="1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4" title="download.png"/>
          <p:cNvPicPr preferRelativeResize="0"/>
          <p:nvPr/>
        </p:nvPicPr>
        <p:blipFill>
          <a:blip r:embed="rId3">
            <a:alphaModFix/>
          </a:blip>
          <a:stretch>
            <a:fillRect/>
          </a:stretch>
        </p:blipFill>
        <p:spPr>
          <a:xfrm>
            <a:off x="3890623" y="699575"/>
            <a:ext cx="5165699" cy="3744349"/>
          </a:xfrm>
          <a:prstGeom prst="rect">
            <a:avLst/>
          </a:prstGeom>
          <a:noFill/>
          <a:ln>
            <a:noFill/>
          </a:ln>
        </p:spPr>
      </p:pic>
      <p:sp>
        <p:nvSpPr>
          <p:cNvPr id="127" name="Google Shape;127;p24"/>
          <p:cNvSpPr txBox="1"/>
          <p:nvPr/>
        </p:nvSpPr>
        <p:spPr>
          <a:xfrm>
            <a:off x="332600" y="1617725"/>
            <a:ext cx="3000000" cy="170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fr" sz="1000">
                <a:solidFill>
                  <a:schemeClr val="dk1"/>
                </a:solidFill>
              </a:rPr>
              <a:t> Ce graphique montre </a:t>
            </a:r>
            <a:r>
              <a:rPr b="1" lang="fr" sz="1000">
                <a:solidFill>
                  <a:schemeClr val="dk1"/>
                </a:solidFill>
              </a:rPr>
              <a:t>la distribution des émissions de GES selon le type de propriété</a:t>
            </a:r>
            <a:r>
              <a:rPr lang="fr" sz="1000">
                <a:solidFill>
                  <a:schemeClr val="dk1"/>
                </a:solidFill>
              </a:rPr>
              <a:t>.</a:t>
            </a:r>
            <a:endParaRPr sz="1000">
              <a:solidFill>
                <a:schemeClr val="dk1"/>
              </a:solidFill>
            </a:endParaRPr>
          </a:p>
          <a:p>
            <a:pPr indent="-292100" lvl="0" marL="457200" rtl="0" algn="l">
              <a:lnSpc>
                <a:spcPct val="115000"/>
              </a:lnSpc>
              <a:spcBef>
                <a:spcPts val="1000"/>
              </a:spcBef>
              <a:spcAft>
                <a:spcPts val="0"/>
              </a:spcAft>
              <a:buClr>
                <a:schemeClr val="dk1"/>
              </a:buClr>
              <a:buSzPts val="1000"/>
              <a:buChar char="●"/>
            </a:pPr>
            <a:r>
              <a:rPr lang="fr" sz="1000">
                <a:solidFill>
                  <a:schemeClr val="dk1"/>
                </a:solidFill>
              </a:rPr>
              <a:t>Chaque </a:t>
            </a:r>
            <a:r>
              <a:rPr b="1" lang="fr" sz="1000">
                <a:solidFill>
                  <a:schemeClr val="dk1"/>
                </a:solidFill>
              </a:rPr>
              <a:t>boîte</a:t>
            </a:r>
            <a:r>
              <a:rPr lang="fr" sz="1000">
                <a:solidFill>
                  <a:schemeClr val="dk1"/>
                </a:solidFill>
              </a:rPr>
              <a:t> représente l’étendue des émissions pour un type de bâtiment.</a:t>
            </a:r>
            <a:br>
              <a:rPr lang="fr"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fr" sz="1000">
                <a:solidFill>
                  <a:schemeClr val="dk1"/>
                </a:solidFill>
              </a:rPr>
              <a:t>Il permet de </a:t>
            </a:r>
            <a:r>
              <a:rPr b="1" lang="fr" sz="1000">
                <a:solidFill>
                  <a:schemeClr val="dk1"/>
                </a:solidFill>
              </a:rPr>
              <a:t>comparer les niveaux typiques et les valeurs extrêmes</a:t>
            </a:r>
            <a:r>
              <a:rPr lang="fr" sz="1000">
                <a:solidFill>
                  <a:schemeClr val="dk1"/>
                </a:solidFill>
              </a:rPr>
              <a:t> entre les différents types de propriétés.</a:t>
            </a:r>
            <a:endParaRPr sz="10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Modèles testés</a:t>
            </a:r>
            <a:endParaRPr/>
          </a:p>
        </p:txBody>
      </p:sp>
      <p:graphicFrame>
        <p:nvGraphicFramePr>
          <p:cNvPr id="133" name="Google Shape;133;p25"/>
          <p:cNvGraphicFramePr/>
          <p:nvPr/>
        </p:nvGraphicFramePr>
        <p:xfrm>
          <a:off x="1023600" y="1272275"/>
          <a:ext cx="3000000" cy="3000000"/>
        </p:xfrm>
        <a:graphic>
          <a:graphicData uri="http://schemas.openxmlformats.org/drawingml/2006/table">
            <a:tbl>
              <a:tblPr>
                <a:noFill/>
                <a:tableStyleId>{A7CB2281-C767-4FD7-9050-95E07D536AF9}</a:tableStyleId>
              </a:tblPr>
              <a:tblGrid>
                <a:gridCol w="1809750"/>
                <a:gridCol w="1809750"/>
                <a:gridCol w="1809750"/>
                <a:gridCol w="1809750"/>
              </a:tblGrid>
              <a:tr h="367725">
                <a:tc>
                  <a:txBody>
                    <a:bodyPr/>
                    <a:lstStyle/>
                    <a:p>
                      <a:pPr indent="0" lvl="0" marL="0" rtl="0" algn="l">
                        <a:spcBef>
                          <a:spcPts val="0"/>
                        </a:spcBef>
                        <a:spcAft>
                          <a:spcPts val="0"/>
                        </a:spcAft>
                        <a:buNone/>
                      </a:pPr>
                      <a:r>
                        <a:rPr b="1" lang="fr" sz="800"/>
                        <a:t>Modèle</a:t>
                      </a:r>
                      <a:endParaRPr b="1" sz="800"/>
                    </a:p>
                  </a:txBody>
                  <a:tcPr marT="91425" marB="91425" marR="91425" marL="91425"/>
                </a:tc>
                <a:tc>
                  <a:txBody>
                    <a:bodyPr/>
                    <a:lstStyle/>
                    <a:p>
                      <a:pPr indent="0" lvl="0" marL="0" rtl="0" algn="l">
                        <a:spcBef>
                          <a:spcPts val="0"/>
                        </a:spcBef>
                        <a:spcAft>
                          <a:spcPts val="0"/>
                        </a:spcAft>
                        <a:buNone/>
                      </a:pPr>
                      <a:r>
                        <a:rPr b="1" lang="fr" sz="800"/>
                        <a:t>Fonctionnement</a:t>
                      </a:r>
                      <a:endParaRPr b="1" sz="800"/>
                    </a:p>
                  </a:txBody>
                  <a:tcPr marT="91425" marB="91425" marR="91425" marL="91425"/>
                </a:tc>
                <a:tc>
                  <a:txBody>
                    <a:bodyPr/>
                    <a:lstStyle/>
                    <a:p>
                      <a:pPr indent="0" lvl="0" marL="0" rtl="0" algn="l">
                        <a:spcBef>
                          <a:spcPts val="0"/>
                        </a:spcBef>
                        <a:spcAft>
                          <a:spcPts val="0"/>
                        </a:spcAft>
                        <a:buNone/>
                      </a:pPr>
                      <a:r>
                        <a:rPr b="1" lang="fr" sz="800"/>
                        <a:t>Avantages</a:t>
                      </a:r>
                      <a:endParaRPr b="1" sz="800"/>
                    </a:p>
                  </a:txBody>
                  <a:tcPr marT="91425" marB="91425" marR="91425" marL="91425"/>
                </a:tc>
                <a:tc>
                  <a:txBody>
                    <a:bodyPr/>
                    <a:lstStyle/>
                    <a:p>
                      <a:pPr indent="0" lvl="0" marL="0" rtl="0" algn="l">
                        <a:spcBef>
                          <a:spcPts val="0"/>
                        </a:spcBef>
                        <a:spcAft>
                          <a:spcPts val="0"/>
                        </a:spcAft>
                        <a:buNone/>
                      </a:pPr>
                      <a:r>
                        <a:rPr b="1" lang="fr" sz="800"/>
                        <a:t>Inconvenients</a:t>
                      </a:r>
                      <a:endParaRPr b="1" sz="800"/>
                    </a:p>
                  </a:txBody>
                  <a:tcPr marT="91425" marB="91425" marR="91425" marL="91425"/>
                </a:tc>
              </a:tr>
              <a:tr h="705975">
                <a:tc>
                  <a:txBody>
                    <a:bodyPr/>
                    <a:lstStyle/>
                    <a:p>
                      <a:pPr indent="0" lvl="0" marL="0" marR="0" rtl="0" algn="l">
                        <a:lnSpc>
                          <a:spcPct val="100000"/>
                        </a:lnSpc>
                        <a:spcBef>
                          <a:spcPts val="0"/>
                        </a:spcBef>
                        <a:spcAft>
                          <a:spcPts val="0"/>
                        </a:spcAft>
                        <a:buNone/>
                      </a:pPr>
                      <a:r>
                        <a:rPr lang="fr" sz="900">
                          <a:solidFill>
                            <a:schemeClr val="dk1"/>
                          </a:solidFill>
                        </a:rPr>
                        <a:t>LinearRegression</a:t>
                      </a:r>
                      <a:endParaRPr sz="900">
                        <a:solidFill>
                          <a:schemeClr val="dk1"/>
                        </a:solidFill>
                      </a:endParaRPr>
                    </a:p>
                    <a:p>
                      <a:pPr indent="0" lvl="0" marL="0" marR="0" rtl="0" algn="l">
                        <a:lnSpc>
                          <a:spcPct val="100000"/>
                        </a:lnSpc>
                        <a:spcBef>
                          <a:spcPts val="0"/>
                        </a:spcBef>
                        <a:spcAft>
                          <a:spcPts val="0"/>
                        </a:spcAft>
                        <a:buNone/>
                      </a:pPr>
                      <a:r>
                        <a:t/>
                      </a:r>
                      <a:endParaRPr sz="90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fr" sz="900">
                          <a:solidFill>
                            <a:schemeClr val="dk1"/>
                          </a:solidFill>
                        </a:rPr>
                        <a:t>cherche une relation linéaire entre les variables explicatives (X) et la variable cible (y).</a:t>
                      </a:r>
                      <a:endParaRPr sz="900">
                        <a:solidFill>
                          <a:schemeClr val="dk1"/>
                        </a:solidFill>
                      </a:endParaRPr>
                    </a:p>
                    <a:p>
                      <a:pPr indent="0" lvl="0" marL="0" marR="0" rtl="0" algn="l">
                        <a:lnSpc>
                          <a:spcPct val="100000"/>
                        </a:lnSpc>
                        <a:spcBef>
                          <a:spcPts val="0"/>
                        </a:spcBef>
                        <a:spcAft>
                          <a:spcPts val="0"/>
                        </a:spcAft>
                        <a:buNone/>
                      </a:pPr>
                      <a:r>
                        <a:t/>
                      </a:r>
                      <a:endParaRPr sz="90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fr" sz="900">
                          <a:solidFill>
                            <a:schemeClr val="dk1"/>
                          </a:solidFill>
                        </a:rPr>
                        <a:t>Rapide à entraîner, peu de paramètres à ajuster.</a:t>
                      </a:r>
                      <a:endParaRPr sz="900">
                        <a:solidFill>
                          <a:schemeClr val="dk1"/>
                        </a:solidFill>
                      </a:endParaRPr>
                    </a:p>
                    <a:p>
                      <a:pPr indent="0" lvl="0" marL="0" marR="0" rtl="0" algn="l">
                        <a:lnSpc>
                          <a:spcPct val="100000"/>
                        </a:lnSpc>
                        <a:spcBef>
                          <a:spcPts val="0"/>
                        </a:spcBef>
                        <a:spcAft>
                          <a:spcPts val="0"/>
                        </a:spcAft>
                        <a:buNone/>
                      </a:pPr>
                      <a:r>
                        <a:t/>
                      </a:r>
                      <a:endParaRPr sz="900">
                        <a:solidFill>
                          <a:schemeClr val="dk1"/>
                        </a:solidFill>
                      </a:endParaRPr>
                    </a:p>
                  </a:txBody>
                  <a:tcPr marT="91425" marB="91425" marR="91425" marL="91425"/>
                </a:tc>
                <a:tc>
                  <a:txBody>
                    <a:bodyPr/>
                    <a:lstStyle/>
                    <a:p>
                      <a:pPr indent="0" lvl="0" marL="0" rtl="0" algn="l">
                        <a:spcBef>
                          <a:spcPts val="0"/>
                        </a:spcBef>
                        <a:spcAft>
                          <a:spcPts val="0"/>
                        </a:spcAft>
                        <a:buNone/>
                      </a:pPr>
                      <a:r>
                        <a:rPr lang="fr" sz="900">
                          <a:solidFill>
                            <a:schemeClr val="dk1"/>
                          </a:solidFill>
                        </a:rPr>
                        <a:t> Suppose une </a:t>
                      </a:r>
                      <a:r>
                        <a:rPr b="1" lang="fr" sz="900">
                          <a:solidFill>
                            <a:schemeClr val="dk1"/>
                          </a:solidFill>
                        </a:rPr>
                        <a:t>relation linéaire</a:t>
                      </a:r>
                      <a:r>
                        <a:rPr lang="fr" sz="900">
                          <a:solidFill>
                            <a:schemeClr val="dk1"/>
                          </a:solidFill>
                        </a:rPr>
                        <a:t> entre les variables, donc elle </a:t>
                      </a:r>
                      <a:r>
                        <a:rPr b="1" lang="fr" sz="900">
                          <a:solidFill>
                            <a:schemeClr val="dk1"/>
                          </a:solidFill>
                        </a:rPr>
                        <a:t>ne fonctionne pas bien si les relations sont non linéaires</a:t>
                      </a:r>
                      <a:r>
                        <a:rPr lang="fr" sz="900">
                          <a:solidFill>
                            <a:schemeClr val="dk1"/>
                          </a:solidFill>
                        </a:rPr>
                        <a:t>.</a:t>
                      </a:r>
                      <a:endParaRPr sz="600"/>
                    </a:p>
                  </a:txBody>
                  <a:tcPr marT="91425" marB="91425" marR="91425" marL="91425"/>
                </a:tc>
              </a:tr>
              <a:tr h="1103100">
                <a:tc>
                  <a:txBody>
                    <a:bodyPr/>
                    <a:lstStyle/>
                    <a:p>
                      <a:pPr indent="0" lvl="0" marL="0" marR="0" rtl="0" algn="l">
                        <a:lnSpc>
                          <a:spcPct val="100000"/>
                        </a:lnSpc>
                        <a:spcBef>
                          <a:spcPts val="0"/>
                        </a:spcBef>
                        <a:spcAft>
                          <a:spcPts val="0"/>
                        </a:spcAft>
                        <a:buNone/>
                      </a:pPr>
                      <a:r>
                        <a:rPr lang="fr" sz="900">
                          <a:solidFill>
                            <a:schemeClr val="dk1"/>
                          </a:solidFill>
                        </a:rPr>
                        <a:t>RandomForestRegressor</a:t>
                      </a:r>
                      <a:endParaRPr sz="900">
                        <a:solidFill>
                          <a:schemeClr val="dk1"/>
                        </a:solidFill>
                      </a:endParaRPr>
                    </a:p>
                    <a:p>
                      <a:pPr indent="0" lvl="0" marL="0" marR="0" rtl="0" algn="l">
                        <a:lnSpc>
                          <a:spcPct val="100000"/>
                        </a:lnSpc>
                        <a:spcBef>
                          <a:spcPts val="0"/>
                        </a:spcBef>
                        <a:spcAft>
                          <a:spcPts val="0"/>
                        </a:spcAft>
                        <a:buNone/>
                      </a:pPr>
                      <a:r>
                        <a:t/>
                      </a:r>
                      <a:endParaRPr sz="90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fr" sz="900">
                          <a:solidFill>
                            <a:schemeClr val="dk1"/>
                          </a:solidFill>
                        </a:rPr>
                        <a:t>ensemble (bagging) de plusieurs arbres de décision entraînés sur des échantillons aléatoires du jeu de données.</a:t>
                      </a:r>
                      <a:endParaRPr sz="900">
                        <a:solidFill>
                          <a:schemeClr val="dk1"/>
                        </a:solidFill>
                      </a:endParaRPr>
                    </a:p>
                    <a:p>
                      <a:pPr indent="0" lvl="0" marL="0" marR="0" rtl="0" algn="l">
                        <a:lnSpc>
                          <a:spcPct val="100000"/>
                        </a:lnSpc>
                        <a:spcBef>
                          <a:spcPts val="0"/>
                        </a:spcBef>
                        <a:spcAft>
                          <a:spcPts val="0"/>
                        </a:spcAft>
                        <a:buNone/>
                      </a:pPr>
                      <a:r>
                        <a:rPr lang="fr" sz="900">
                          <a:solidFill>
                            <a:schemeClr val="dk1"/>
                          </a:solidFill>
                        </a:rPr>
                        <a:t>La prédiction finale est la moyenne des prédictions de tous les arbres.</a:t>
                      </a:r>
                      <a:endParaRPr sz="90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fr" sz="900">
                          <a:solidFill>
                            <a:schemeClr val="dk1"/>
                          </a:solidFill>
                        </a:rPr>
                        <a:t>Robuste aux valeurs aberrantes et au surapprentissage (grâce à la moyenne des arbres).</a:t>
                      </a:r>
                      <a:endParaRPr sz="900">
                        <a:solidFill>
                          <a:schemeClr val="dk1"/>
                        </a:solidFill>
                      </a:endParaRPr>
                    </a:p>
                    <a:p>
                      <a:pPr indent="0" lvl="0" marL="0" marR="0" rtl="0" algn="l">
                        <a:lnSpc>
                          <a:spcPct val="100000"/>
                        </a:lnSpc>
                        <a:spcBef>
                          <a:spcPts val="0"/>
                        </a:spcBef>
                        <a:spcAft>
                          <a:spcPts val="0"/>
                        </a:spcAft>
                        <a:buNone/>
                      </a:pPr>
                      <a:r>
                        <a:t/>
                      </a:r>
                      <a:endParaRPr sz="900">
                        <a:solidFill>
                          <a:schemeClr val="dk1"/>
                        </a:solidFill>
                      </a:endParaRPr>
                    </a:p>
                  </a:txBody>
                  <a:tcPr marT="91425" marB="91425" marR="91425" marL="91425"/>
                </a:tc>
                <a:tc>
                  <a:txBody>
                    <a:bodyPr/>
                    <a:lstStyle/>
                    <a:p>
                      <a:pPr indent="0" lvl="0" marL="0" rtl="0" algn="l">
                        <a:spcBef>
                          <a:spcPts val="0"/>
                        </a:spcBef>
                        <a:spcAft>
                          <a:spcPts val="0"/>
                        </a:spcAft>
                        <a:buNone/>
                      </a:pPr>
                      <a:r>
                        <a:rPr lang="fr" sz="900">
                          <a:solidFill>
                            <a:schemeClr val="dk1"/>
                          </a:solidFill>
                        </a:rPr>
                        <a:t>Peut être </a:t>
                      </a:r>
                      <a:r>
                        <a:rPr b="1" lang="fr" sz="900">
                          <a:solidFill>
                            <a:schemeClr val="dk1"/>
                          </a:solidFill>
                        </a:rPr>
                        <a:t>lent et gourmand en mémoire</a:t>
                      </a:r>
                      <a:r>
                        <a:rPr lang="fr" sz="900">
                          <a:solidFill>
                            <a:schemeClr val="dk1"/>
                          </a:solidFill>
                        </a:rPr>
                        <a:t> si le nombre d’arbres et de données est très grand, et il devient </a:t>
                      </a:r>
                      <a:r>
                        <a:rPr b="1" lang="fr" sz="900">
                          <a:solidFill>
                            <a:schemeClr val="dk1"/>
                          </a:solidFill>
                        </a:rPr>
                        <a:t>moins interprétable</a:t>
                      </a:r>
                      <a:r>
                        <a:rPr lang="fr" sz="900">
                          <a:solidFill>
                            <a:schemeClr val="dk1"/>
                          </a:solidFill>
                        </a:rPr>
                        <a:t> qu’un modèle simple.</a:t>
                      </a:r>
                      <a:endParaRPr sz="600"/>
                    </a:p>
                  </a:txBody>
                  <a:tcPr marT="91425" marB="91425" marR="91425" marL="91425"/>
                </a:tc>
              </a:tr>
              <a:tr h="970725">
                <a:tc>
                  <a:txBody>
                    <a:bodyPr/>
                    <a:lstStyle/>
                    <a:p>
                      <a:pPr indent="0" lvl="0" marL="0" marR="0" rtl="0" algn="l">
                        <a:lnSpc>
                          <a:spcPct val="100000"/>
                        </a:lnSpc>
                        <a:spcBef>
                          <a:spcPts val="0"/>
                        </a:spcBef>
                        <a:spcAft>
                          <a:spcPts val="0"/>
                        </a:spcAft>
                        <a:buNone/>
                      </a:pPr>
                      <a:r>
                        <a:rPr lang="fr" sz="900">
                          <a:solidFill>
                            <a:schemeClr val="dk1"/>
                          </a:solidFill>
                        </a:rPr>
                        <a:t>SVR</a:t>
                      </a:r>
                      <a:endParaRPr sz="90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fr" sz="900">
                          <a:solidFill>
                            <a:schemeClr val="dk1"/>
                          </a:solidFill>
                        </a:rPr>
                        <a:t>basé sur les machines à vecteurs de support (SVM), mais pour la régression.</a:t>
                      </a:r>
                      <a:endParaRPr sz="90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fr" sz="900">
                          <a:solidFill>
                            <a:schemeClr val="dk1"/>
                          </a:solidFill>
                        </a:rPr>
                        <a:t>Très efficace pour des relations non linéaires grâce aux noyaux (kernels) (linéaire, polynomiale, RBF, etc.).</a:t>
                      </a:r>
                      <a:endParaRPr sz="900">
                        <a:solidFill>
                          <a:schemeClr val="dk1"/>
                        </a:solidFill>
                      </a:endParaRPr>
                    </a:p>
                  </a:txBody>
                  <a:tcPr marT="91425" marB="91425" marR="91425" marL="91425"/>
                </a:tc>
                <a:tc>
                  <a:txBody>
                    <a:bodyPr/>
                    <a:lstStyle/>
                    <a:p>
                      <a:pPr indent="0" lvl="0" marL="0" rtl="0" algn="l">
                        <a:spcBef>
                          <a:spcPts val="0"/>
                        </a:spcBef>
                        <a:spcAft>
                          <a:spcPts val="0"/>
                        </a:spcAft>
                        <a:buNone/>
                      </a:pPr>
                      <a:r>
                        <a:rPr b="1" lang="fr" sz="900">
                          <a:solidFill>
                            <a:schemeClr val="dk1"/>
                          </a:solidFill>
                        </a:rPr>
                        <a:t>Sensibilité au choix des hyperparamètres</a:t>
                      </a:r>
                      <a:r>
                        <a:rPr lang="fr" sz="900">
                          <a:solidFill>
                            <a:schemeClr val="dk1"/>
                          </a:solidFill>
                        </a:rPr>
                        <a:t> (kernel, C, gamma), ce qui peut rendre le modèle </a:t>
                      </a:r>
                      <a:r>
                        <a:rPr b="1" lang="fr" sz="900">
                          <a:solidFill>
                            <a:schemeClr val="dk1"/>
                          </a:solidFill>
                        </a:rPr>
                        <a:t>difficile à régler et lent</a:t>
                      </a:r>
                      <a:r>
                        <a:rPr lang="fr" sz="900">
                          <a:solidFill>
                            <a:schemeClr val="dk1"/>
                          </a:solidFill>
                        </a:rPr>
                        <a:t> pour de grandes quantités de données.</a:t>
                      </a:r>
                      <a:endParaRPr sz="60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Résultats des modèles</a:t>
            </a:r>
            <a:endParaRPr/>
          </a:p>
        </p:txBody>
      </p:sp>
      <p:pic>
        <p:nvPicPr>
          <p:cNvPr id="139" name="Google Shape;139;p26" title="Capture d’écran 2025-10-26 204754.png"/>
          <p:cNvPicPr preferRelativeResize="0"/>
          <p:nvPr/>
        </p:nvPicPr>
        <p:blipFill>
          <a:blip r:embed="rId3">
            <a:alphaModFix/>
          </a:blip>
          <a:stretch>
            <a:fillRect/>
          </a:stretch>
        </p:blipFill>
        <p:spPr>
          <a:xfrm>
            <a:off x="152400" y="1359175"/>
            <a:ext cx="8839201" cy="28809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Modèle sélectionné</a:t>
            </a:r>
            <a:endParaRPr/>
          </a:p>
        </p:txBody>
      </p:sp>
      <p:sp>
        <p:nvSpPr>
          <p:cNvPr id="145" name="Google Shape;145;p2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fr" sz="1100">
                <a:latin typeface="Arial"/>
                <a:ea typeface="Arial"/>
                <a:cs typeface="Arial"/>
                <a:sym typeface="Arial"/>
              </a:rPr>
              <a:t>Modèle retenu : Random Regressor</a:t>
            </a:r>
            <a:endParaRPr b="1"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fr" sz="1100">
                <a:latin typeface="Arial"/>
                <a:ea typeface="Arial"/>
                <a:cs typeface="Arial"/>
                <a:sym typeface="Arial"/>
              </a:rPr>
              <a:t>R² à test = 0.887 → très bon score, le modèle généralise plutôt bien</a:t>
            </a:r>
            <a:endParaRPr b="1" sz="1100">
              <a:latin typeface="Arial"/>
              <a:ea typeface="Arial"/>
              <a:cs typeface="Arial"/>
              <a:sym typeface="Arial"/>
            </a:endParaRPr>
          </a:p>
          <a:p>
            <a:pPr indent="0" lvl="0" marL="0" rtl="0" algn="l">
              <a:spcBef>
                <a:spcPts val="1200"/>
              </a:spcBef>
              <a:spcAft>
                <a:spcPts val="0"/>
              </a:spcAft>
              <a:buNone/>
            </a:pPr>
            <a:r>
              <a:rPr b="1" lang="fr" sz="1100">
                <a:latin typeface="Arial"/>
                <a:ea typeface="Arial"/>
                <a:cs typeface="Arial"/>
                <a:sym typeface="Arial"/>
              </a:rPr>
              <a:t>MAE et RMSE sur test relativement bas comparé aux autres modèles</a:t>
            </a:r>
            <a:endParaRPr b="1"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fr" sz="1100">
                <a:latin typeface="Arial"/>
                <a:ea typeface="Arial"/>
                <a:cs typeface="Arial"/>
                <a:sym typeface="Arial"/>
              </a:rPr>
              <a:t>Il a la </a:t>
            </a:r>
            <a:r>
              <a:rPr b="1" lang="fr" sz="1100">
                <a:latin typeface="Arial"/>
                <a:ea typeface="Arial"/>
                <a:cs typeface="Arial"/>
                <a:sym typeface="Arial"/>
              </a:rPr>
              <a:t>meilleure précision sur le test</a:t>
            </a:r>
            <a:br>
              <a:rPr b="1" lang="fr" sz="1100">
                <a:latin typeface="Arial"/>
                <a:ea typeface="Arial"/>
                <a:cs typeface="Arial"/>
                <a:sym typeface="Arial"/>
              </a:rPr>
            </a:b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lang="fr" sz="1100">
                <a:latin typeface="Arial"/>
                <a:ea typeface="Arial"/>
                <a:cs typeface="Arial"/>
                <a:sym typeface="Arial"/>
              </a:rPr>
              <a:t>Il </a:t>
            </a:r>
            <a:r>
              <a:rPr b="1" lang="fr" sz="1100">
                <a:latin typeface="Arial"/>
                <a:ea typeface="Arial"/>
                <a:cs typeface="Arial"/>
                <a:sym typeface="Arial"/>
              </a:rPr>
              <a:t>généralise correctement</a:t>
            </a:r>
            <a:r>
              <a:rPr lang="fr" sz="1100">
                <a:latin typeface="Arial"/>
                <a:ea typeface="Arial"/>
                <a:cs typeface="Arial"/>
                <a:sym typeface="Arial"/>
              </a:rPr>
              <a:t> malgré un léger surapprentissage</a:t>
            </a:r>
            <a:br>
              <a:rPr lang="fr"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fr" sz="1100">
                <a:latin typeface="Arial"/>
                <a:ea typeface="Arial"/>
                <a:cs typeface="Arial"/>
                <a:sym typeface="Arial"/>
              </a:rPr>
              <a:t>Les autres modèles font beaucoup trop d’erreurs.</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Importance des features</a:t>
            </a:r>
            <a:endParaRPr/>
          </a:p>
        </p:txBody>
      </p:sp>
      <p:sp>
        <p:nvSpPr>
          <p:cNvPr id="151" name="Google Shape;151;p28"/>
          <p:cNvSpPr txBox="1"/>
          <p:nvPr/>
        </p:nvSpPr>
        <p:spPr>
          <a:xfrm>
            <a:off x="724425" y="1971450"/>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100">
                <a:solidFill>
                  <a:schemeClr val="dk1"/>
                </a:solidFill>
              </a:rPr>
              <a:t>Les émissions de GES sont surtout influencées par </a:t>
            </a:r>
            <a:r>
              <a:rPr b="1" lang="fr" sz="1100">
                <a:solidFill>
                  <a:schemeClr val="dk1"/>
                </a:solidFill>
              </a:rPr>
              <a:t>la consommation d’électricité, l’intensité des émissions par surface et la taille totale du bâtiment</a:t>
            </a:r>
            <a:r>
              <a:rPr lang="fr" sz="1100">
                <a:solidFill>
                  <a:schemeClr val="dk1"/>
                </a:solidFill>
              </a:rPr>
              <a:t>, les autres caractéristiques ayant un impact très faible.</a:t>
            </a:r>
            <a:endParaRPr/>
          </a:p>
        </p:txBody>
      </p:sp>
      <p:pic>
        <p:nvPicPr>
          <p:cNvPr id="152" name="Google Shape;152;p28" title="Capture d’écran 2025-10-26 213714.png"/>
          <p:cNvPicPr preferRelativeResize="0"/>
          <p:nvPr/>
        </p:nvPicPr>
        <p:blipFill>
          <a:blip r:embed="rId3">
            <a:alphaModFix/>
          </a:blip>
          <a:stretch>
            <a:fillRect/>
          </a:stretch>
        </p:blipFill>
        <p:spPr>
          <a:xfrm>
            <a:off x="4571999" y="363138"/>
            <a:ext cx="4111751" cy="44172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9" title="download.png"/>
          <p:cNvPicPr preferRelativeResize="0"/>
          <p:nvPr/>
        </p:nvPicPr>
        <p:blipFill>
          <a:blip r:embed="rId3">
            <a:alphaModFix/>
          </a:blip>
          <a:stretch>
            <a:fillRect/>
          </a:stretch>
        </p:blipFill>
        <p:spPr>
          <a:xfrm>
            <a:off x="152400" y="812275"/>
            <a:ext cx="8839200" cy="351895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Déploiement avec BentoML et Cloud Run (GCP)</a:t>
            </a:r>
            <a:endParaRPr/>
          </a:p>
        </p:txBody>
      </p:sp>
      <p:sp>
        <p:nvSpPr>
          <p:cNvPr id="163" name="Google Shape;163;p30"/>
          <p:cNvSpPr txBox="1"/>
          <p:nvPr>
            <p:ph idx="1" type="body"/>
          </p:nvPr>
        </p:nvSpPr>
        <p:spPr>
          <a:xfrm>
            <a:off x="311700" y="1058225"/>
            <a:ext cx="8520600" cy="39240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Clr>
                <a:schemeClr val="dk1"/>
              </a:buClr>
              <a:buSzPts val="1100"/>
              <a:buFont typeface="Arial"/>
              <a:buNone/>
            </a:pPr>
            <a:r>
              <a:rPr b="1" lang="fr" sz="1000">
                <a:solidFill>
                  <a:srgbClr val="4A86E8"/>
                </a:solidFill>
                <a:latin typeface="Arial"/>
                <a:ea typeface="Arial"/>
                <a:cs typeface="Arial"/>
                <a:sym typeface="Arial"/>
              </a:rPr>
              <a:t>Qu’est-ce que BentoML ?</a:t>
            </a:r>
            <a:endParaRPr b="1" sz="1000">
              <a:solidFill>
                <a:srgbClr val="4A86E8"/>
              </a:solidFill>
              <a:latin typeface="Arial"/>
              <a:ea typeface="Arial"/>
              <a:cs typeface="Arial"/>
              <a:sym typeface="Arial"/>
            </a:endParaRPr>
          </a:p>
          <a:p>
            <a:pPr indent="0" lvl="0" marL="0" rtl="0" algn="l">
              <a:lnSpc>
                <a:spcPct val="100000"/>
              </a:lnSpc>
              <a:spcBef>
                <a:spcPts val="400"/>
              </a:spcBef>
              <a:spcAft>
                <a:spcPts val="0"/>
              </a:spcAft>
              <a:buNone/>
            </a:pPr>
            <a:r>
              <a:t/>
            </a:r>
            <a:endParaRPr b="1" sz="1000">
              <a:latin typeface="Arial"/>
              <a:ea typeface="Arial"/>
              <a:cs typeface="Arial"/>
              <a:sym typeface="Arial"/>
            </a:endParaRPr>
          </a:p>
          <a:p>
            <a:pPr indent="0" lvl="0" marL="0" rtl="0" algn="l">
              <a:lnSpc>
                <a:spcPct val="100000"/>
              </a:lnSpc>
              <a:spcBef>
                <a:spcPts val="0"/>
              </a:spcBef>
              <a:spcAft>
                <a:spcPts val="0"/>
              </a:spcAft>
              <a:buNone/>
            </a:pPr>
            <a:r>
              <a:rPr b="1" lang="fr" sz="1000">
                <a:latin typeface="Arial"/>
                <a:ea typeface="Arial"/>
                <a:cs typeface="Arial"/>
                <a:sym typeface="Arial"/>
              </a:rPr>
              <a:t>BentoML</a:t>
            </a:r>
            <a:r>
              <a:rPr lang="fr" sz="1000">
                <a:latin typeface="Arial"/>
                <a:ea typeface="Arial"/>
                <a:cs typeface="Arial"/>
                <a:sym typeface="Arial"/>
              </a:rPr>
              <a:t> est un </a:t>
            </a:r>
            <a:r>
              <a:rPr b="1" lang="fr" sz="1000">
                <a:latin typeface="Arial"/>
                <a:ea typeface="Arial"/>
                <a:cs typeface="Arial"/>
                <a:sym typeface="Arial"/>
              </a:rPr>
              <a:t>framework open-source</a:t>
            </a:r>
            <a:r>
              <a:rPr lang="fr" sz="1000">
                <a:latin typeface="Arial"/>
                <a:ea typeface="Arial"/>
                <a:cs typeface="Arial"/>
                <a:sym typeface="Arial"/>
              </a:rPr>
              <a:t> conçu pour </a:t>
            </a:r>
            <a:r>
              <a:rPr b="1" lang="fr" sz="1000">
                <a:latin typeface="Arial"/>
                <a:ea typeface="Arial"/>
                <a:cs typeface="Arial"/>
                <a:sym typeface="Arial"/>
              </a:rPr>
              <a:t>déployer facilement des modèles de Machine Learning</a:t>
            </a:r>
            <a:r>
              <a:rPr lang="fr" sz="1000">
                <a:latin typeface="Arial"/>
                <a:ea typeface="Arial"/>
                <a:cs typeface="Arial"/>
                <a:sym typeface="Arial"/>
              </a:rPr>
              <a:t> en production.</a:t>
            </a:r>
            <a:endParaRPr sz="1000">
              <a:latin typeface="Arial"/>
              <a:ea typeface="Arial"/>
              <a:cs typeface="Arial"/>
              <a:sym typeface="Arial"/>
            </a:endParaRPr>
          </a:p>
          <a:p>
            <a:pPr indent="0" lvl="0" marL="0" rtl="0" algn="l">
              <a:lnSpc>
                <a:spcPct val="100000"/>
              </a:lnSpc>
              <a:spcBef>
                <a:spcPts val="0"/>
              </a:spcBef>
              <a:spcAft>
                <a:spcPts val="0"/>
              </a:spcAft>
              <a:buNone/>
            </a:pPr>
            <a:r>
              <a:rPr lang="fr" sz="1000">
                <a:latin typeface="Arial"/>
                <a:ea typeface="Arial"/>
                <a:cs typeface="Arial"/>
                <a:sym typeface="Arial"/>
              </a:rPr>
              <a:t>Il permet de transformer un modèle entraîné en un </a:t>
            </a:r>
            <a:r>
              <a:rPr b="1" lang="fr" sz="1000">
                <a:latin typeface="Arial"/>
                <a:ea typeface="Arial"/>
                <a:cs typeface="Arial"/>
                <a:sym typeface="Arial"/>
              </a:rPr>
              <a:t>service web prêt à l’emploi</a:t>
            </a:r>
            <a:r>
              <a:rPr lang="fr" sz="1000">
                <a:latin typeface="Arial"/>
                <a:ea typeface="Arial"/>
                <a:cs typeface="Arial"/>
                <a:sym typeface="Arial"/>
              </a:rPr>
              <a:t>.</a:t>
            </a:r>
            <a:endParaRPr sz="1000">
              <a:latin typeface="Arial"/>
              <a:ea typeface="Arial"/>
              <a:cs typeface="Arial"/>
              <a:sym typeface="Arial"/>
            </a:endParaRPr>
          </a:p>
          <a:p>
            <a:pPr indent="0" lvl="0" marL="0" rtl="0" algn="l">
              <a:lnSpc>
                <a:spcPct val="100000"/>
              </a:lnSpc>
              <a:spcBef>
                <a:spcPts val="0"/>
              </a:spcBef>
              <a:spcAft>
                <a:spcPts val="0"/>
              </a:spcAft>
              <a:buNone/>
            </a:pPr>
            <a:r>
              <a:rPr lang="fr" sz="1000">
                <a:latin typeface="Arial"/>
                <a:ea typeface="Arial"/>
                <a:cs typeface="Arial"/>
                <a:sym typeface="Arial"/>
              </a:rPr>
              <a:t>L’objectif principal est de </a:t>
            </a:r>
            <a:r>
              <a:rPr b="1" lang="fr" sz="1000">
                <a:latin typeface="Arial"/>
                <a:ea typeface="Arial"/>
                <a:cs typeface="Arial"/>
                <a:sym typeface="Arial"/>
              </a:rPr>
              <a:t>simplifier et standardiser le passage du modèle du développement au déploiement</a:t>
            </a:r>
            <a:r>
              <a:rPr lang="fr" sz="1000">
                <a:latin typeface="Arial"/>
                <a:ea typeface="Arial"/>
                <a:cs typeface="Arial"/>
                <a:sym typeface="Arial"/>
              </a:rPr>
              <a:t>.</a:t>
            </a:r>
            <a:endParaRPr sz="1000">
              <a:latin typeface="Arial"/>
              <a:ea typeface="Arial"/>
              <a:cs typeface="Arial"/>
              <a:sym typeface="Arial"/>
            </a:endParaRPr>
          </a:p>
          <a:p>
            <a:pPr indent="0" lvl="0" marL="0" rtl="0" algn="l">
              <a:spcBef>
                <a:spcPts val="1400"/>
              </a:spcBef>
              <a:spcAft>
                <a:spcPts val="0"/>
              </a:spcAft>
              <a:buClr>
                <a:schemeClr val="dk1"/>
              </a:buClr>
              <a:buSzPts val="1100"/>
              <a:buFont typeface="Arial"/>
              <a:buNone/>
            </a:pPr>
            <a:r>
              <a:rPr b="1" lang="fr" sz="1000">
                <a:solidFill>
                  <a:srgbClr val="4A86E8"/>
                </a:solidFill>
                <a:latin typeface="Arial"/>
                <a:ea typeface="Arial"/>
                <a:cs typeface="Arial"/>
                <a:sym typeface="Arial"/>
              </a:rPr>
              <a:t>Qu’est-ce que Google Cloud Run ?</a:t>
            </a:r>
            <a:endParaRPr b="1" sz="1000">
              <a:solidFill>
                <a:srgbClr val="4A86E8"/>
              </a:solidFill>
              <a:latin typeface="Arial"/>
              <a:ea typeface="Arial"/>
              <a:cs typeface="Arial"/>
              <a:sym typeface="Arial"/>
            </a:endParaRPr>
          </a:p>
          <a:p>
            <a:pPr indent="-292100" lvl="0" marL="457200" rtl="0" algn="l">
              <a:spcBef>
                <a:spcPts val="1200"/>
              </a:spcBef>
              <a:spcAft>
                <a:spcPts val="0"/>
              </a:spcAft>
              <a:buSzPts val="1000"/>
              <a:buFont typeface="Arial"/>
              <a:buChar char="●"/>
            </a:pPr>
            <a:r>
              <a:rPr lang="fr" sz="1000">
                <a:latin typeface="Arial"/>
                <a:ea typeface="Arial"/>
                <a:cs typeface="Arial"/>
                <a:sym typeface="Arial"/>
              </a:rPr>
              <a:t>Service </a:t>
            </a:r>
            <a:r>
              <a:rPr b="1" lang="fr" sz="1000">
                <a:latin typeface="Arial"/>
                <a:ea typeface="Arial"/>
                <a:cs typeface="Arial"/>
                <a:sym typeface="Arial"/>
              </a:rPr>
              <a:t>serverless</a:t>
            </a:r>
            <a:r>
              <a:rPr lang="fr" sz="1000">
                <a:latin typeface="Arial"/>
                <a:ea typeface="Arial"/>
                <a:cs typeface="Arial"/>
                <a:sym typeface="Arial"/>
              </a:rPr>
              <a:t> de Google Cloud pour </a:t>
            </a:r>
            <a:r>
              <a:rPr b="1" lang="fr" sz="1000">
                <a:latin typeface="Arial"/>
                <a:ea typeface="Arial"/>
                <a:cs typeface="Arial"/>
                <a:sym typeface="Arial"/>
              </a:rPr>
              <a:t>exécuter des conteneurs Docker</a:t>
            </a:r>
            <a:r>
              <a:rPr lang="fr" sz="1000">
                <a:latin typeface="Arial"/>
                <a:ea typeface="Arial"/>
                <a:cs typeface="Arial"/>
                <a:sym typeface="Arial"/>
              </a:rPr>
              <a:t>.</a:t>
            </a:r>
            <a:br>
              <a:rPr lang="fr"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lang="fr" sz="1000">
                <a:latin typeface="Arial"/>
                <a:ea typeface="Arial"/>
                <a:cs typeface="Arial"/>
                <a:sym typeface="Arial"/>
              </a:rPr>
              <a:t>Pas besoin de gérer d’infrastructure — Cloud Run s’occupe du scaling automatique.</a:t>
            </a:r>
            <a:br>
              <a:rPr lang="fr" sz="1000">
                <a:latin typeface="Arial"/>
                <a:ea typeface="Arial"/>
                <a:cs typeface="Arial"/>
                <a:sym typeface="Arial"/>
              </a:rPr>
            </a:br>
            <a:endParaRPr sz="10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fr" sz="1000">
                <a:latin typeface="Arial"/>
                <a:ea typeface="Arial"/>
                <a:cs typeface="Arial"/>
                <a:sym typeface="Arial"/>
              </a:rPr>
              <a:t>Caractéristiques :</a:t>
            </a:r>
            <a:endParaRPr b="1" sz="1000">
              <a:latin typeface="Arial"/>
              <a:ea typeface="Arial"/>
              <a:cs typeface="Arial"/>
              <a:sym typeface="Arial"/>
            </a:endParaRPr>
          </a:p>
          <a:p>
            <a:pPr indent="-292100" lvl="0" marL="457200" rtl="0" algn="l">
              <a:spcBef>
                <a:spcPts val="1200"/>
              </a:spcBef>
              <a:spcAft>
                <a:spcPts val="0"/>
              </a:spcAft>
              <a:buSzPts val="1000"/>
              <a:buFont typeface="Arial"/>
              <a:buChar char="●"/>
            </a:pPr>
            <a:r>
              <a:rPr lang="fr" sz="1000">
                <a:latin typeface="Arial"/>
                <a:ea typeface="Arial"/>
                <a:cs typeface="Arial"/>
                <a:sym typeface="Arial"/>
              </a:rPr>
              <a:t>Exécute n’importe quelle image Docker</a:t>
            </a:r>
            <a:br>
              <a:rPr lang="fr"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lang="fr" sz="1000">
                <a:latin typeface="Arial"/>
                <a:ea typeface="Arial"/>
                <a:cs typeface="Arial"/>
                <a:sym typeface="Arial"/>
              </a:rPr>
              <a:t>Scalabilité automatique selon la charge</a:t>
            </a:r>
            <a:br>
              <a:rPr lang="fr"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lang="fr" sz="1000">
                <a:latin typeface="Arial"/>
                <a:ea typeface="Arial"/>
                <a:cs typeface="Arial"/>
                <a:sym typeface="Arial"/>
              </a:rPr>
              <a:t>Paiement à l’usage (seulement quand le service tourne)</a:t>
            </a:r>
            <a:br>
              <a:rPr lang="fr" sz="1000">
                <a:latin typeface="Arial"/>
                <a:ea typeface="Arial"/>
                <a:cs typeface="Arial"/>
                <a:sym typeface="Arial"/>
              </a:rPr>
            </a:br>
            <a:endParaRPr sz="1000">
              <a:latin typeface="Arial"/>
              <a:ea typeface="Arial"/>
              <a:cs typeface="Arial"/>
              <a:sym typeface="Arial"/>
            </a:endParaRPr>
          </a:p>
          <a:p>
            <a:pPr indent="0" lvl="0" marL="0" rtl="0" algn="l">
              <a:spcBef>
                <a:spcPts val="1200"/>
              </a:spcBef>
              <a:spcAft>
                <a:spcPts val="1200"/>
              </a:spcAft>
              <a:buNone/>
            </a:pPr>
            <a:r>
              <a:rPr lang="fr" sz="1100">
                <a:latin typeface="Arial"/>
                <a:ea typeface="Arial"/>
                <a:cs typeface="Arial"/>
                <a:sym typeface="Arial"/>
              </a:rPr>
              <a:t>Lien cloudrun : </a:t>
            </a:r>
            <a:r>
              <a:rPr lang="fr" sz="1000" u="sng">
                <a:solidFill>
                  <a:srgbClr val="1155CC"/>
                </a:solidFill>
                <a:latin typeface="Roboto Mono"/>
                <a:ea typeface="Roboto Mono"/>
                <a:cs typeface="Roboto Mono"/>
                <a:sym typeface="Roboto Mono"/>
                <a:hlinkClick r:id="rId3">
                  <a:extLst>
                    <a:ext uri="{A12FA001-AC4F-418D-AE19-62706E023703}">
                      <ahyp:hlinkClr val="tx"/>
                    </a:ext>
                  </a:extLst>
                </a:hlinkClick>
              </a:rPr>
              <a:t>https://energy-prediction-service-ny3jby36sq-uc.a.run.app/</a:t>
            </a:r>
            <a:endParaRPr sz="11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Conclusion</a:t>
            </a:r>
            <a:endParaRPr/>
          </a:p>
        </p:txBody>
      </p:sp>
      <p:sp>
        <p:nvSpPr>
          <p:cNvPr id="169" name="Google Shape;169;p31"/>
          <p:cNvSpPr txBox="1"/>
          <p:nvPr/>
        </p:nvSpPr>
        <p:spPr>
          <a:xfrm>
            <a:off x="589050" y="1489750"/>
            <a:ext cx="7965900" cy="290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fr" sz="1100">
                <a:solidFill>
                  <a:schemeClr val="dk1"/>
                </a:solidFill>
              </a:rPr>
              <a:t>Next Steps</a:t>
            </a:r>
            <a:endParaRPr b="1" sz="1100">
              <a:solidFill>
                <a:schemeClr val="dk1"/>
              </a:solidFill>
            </a:endParaRPr>
          </a:p>
          <a:p>
            <a:pPr indent="-285750" lvl="0" marL="457200" rtl="0" algn="l">
              <a:lnSpc>
                <a:spcPct val="115000"/>
              </a:lnSpc>
              <a:spcBef>
                <a:spcPts val="1200"/>
              </a:spcBef>
              <a:spcAft>
                <a:spcPts val="0"/>
              </a:spcAft>
              <a:buClr>
                <a:schemeClr val="dk1"/>
              </a:buClr>
              <a:buSzPts val="900"/>
              <a:buAutoNum type="arabicPeriod"/>
            </a:pPr>
            <a:r>
              <a:rPr b="1" lang="fr" sz="900">
                <a:solidFill>
                  <a:schemeClr val="dk1"/>
                </a:solidFill>
              </a:rPr>
              <a:t>Collecte de nouvelles données</a:t>
            </a:r>
            <a:br>
              <a:rPr b="1" lang="fr" sz="900">
                <a:solidFill>
                  <a:schemeClr val="dk1"/>
                </a:solidFill>
              </a:rPr>
            </a:b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fr" sz="900">
                <a:solidFill>
                  <a:schemeClr val="dk1"/>
                </a:solidFill>
              </a:rPr>
              <a:t>Intégrer des relevés plus récents et des capteurs IoT pour améliorer la précision des prédictions.</a:t>
            </a:r>
            <a:br>
              <a:rPr lang="fr" sz="900">
                <a:solidFill>
                  <a:schemeClr val="dk1"/>
                </a:solidFill>
              </a:rPr>
            </a:b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fr" sz="900">
                <a:solidFill>
                  <a:schemeClr val="dk1"/>
                </a:solidFill>
              </a:rPr>
              <a:t>Amélioration du modèle</a:t>
            </a:r>
            <a:br>
              <a:rPr b="1" lang="fr" sz="900">
                <a:solidFill>
                  <a:schemeClr val="dk1"/>
                </a:solidFill>
              </a:rPr>
            </a:b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fr" sz="900">
                <a:solidFill>
                  <a:schemeClr val="dk1"/>
                </a:solidFill>
              </a:rPr>
              <a:t>Tester d’autres algorithmes ou combiner plusieurs modèles (ensembles) pour réduire encore l’erreur.</a:t>
            </a:r>
            <a:br>
              <a:rPr lang="fr" sz="900">
                <a:solidFill>
                  <a:schemeClr val="dk1"/>
                </a:solidFill>
              </a:rPr>
            </a:br>
            <a:endParaRPr sz="900">
              <a:solidFill>
                <a:schemeClr val="dk1"/>
              </a:solidFill>
            </a:endParaRPr>
          </a:p>
          <a:p>
            <a:pPr indent="-285750" lvl="1" marL="914400" rtl="0" algn="l">
              <a:lnSpc>
                <a:spcPct val="115000"/>
              </a:lnSpc>
              <a:spcBef>
                <a:spcPts val="0"/>
              </a:spcBef>
              <a:spcAft>
                <a:spcPts val="0"/>
              </a:spcAft>
              <a:buClr>
                <a:schemeClr val="dk1"/>
              </a:buClr>
              <a:buSzPts val="900"/>
              <a:buChar char="○"/>
            </a:pPr>
            <a:r>
              <a:rPr lang="fr" sz="900">
                <a:solidFill>
                  <a:schemeClr val="dk1"/>
                </a:solidFill>
              </a:rPr>
              <a:t>Explorer des techniques de feature engineering supplémentaires, comme l’influence du climat local ou des rénovations énergétiques.</a:t>
            </a:r>
            <a:br>
              <a:rPr lang="fr" sz="900">
                <a:solidFill>
                  <a:schemeClr val="dk1"/>
                </a:solidFill>
              </a:rPr>
            </a:b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fr" sz="900">
                <a:solidFill>
                  <a:schemeClr val="dk1"/>
                </a:solidFill>
              </a:rPr>
              <a:t>Déploiement opérationnel</a:t>
            </a:r>
            <a:br>
              <a:rPr b="1" lang="fr" sz="900">
                <a:solidFill>
                  <a:schemeClr val="dk1"/>
                </a:solidFill>
              </a:rPr>
            </a:b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fr" sz="900">
                <a:solidFill>
                  <a:schemeClr val="dk1"/>
                </a:solidFill>
              </a:rPr>
              <a:t>Mettre en place une interface utilisateur ou une API pour que les services municipaux puissent interroger le modèle facilement.</a:t>
            </a:r>
            <a:br>
              <a:rPr lang="fr" sz="900">
                <a:solidFill>
                  <a:schemeClr val="dk1"/>
                </a:solidFill>
              </a:rPr>
            </a:br>
            <a:endParaRPr sz="900">
              <a:solidFill>
                <a:schemeClr val="dk1"/>
              </a:solidFill>
            </a:endParaRPr>
          </a:p>
          <a:p>
            <a:pPr indent="-285750" lvl="1" marL="914400" rtl="0" algn="l">
              <a:lnSpc>
                <a:spcPct val="115000"/>
              </a:lnSpc>
              <a:spcBef>
                <a:spcPts val="0"/>
              </a:spcBef>
              <a:spcAft>
                <a:spcPts val="0"/>
              </a:spcAft>
              <a:buClr>
                <a:schemeClr val="dk1"/>
              </a:buClr>
              <a:buSzPts val="900"/>
              <a:buChar char="○"/>
            </a:pPr>
            <a:r>
              <a:rPr lang="fr" sz="900">
                <a:solidFill>
                  <a:schemeClr val="dk1"/>
                </a:solidFill>
              </a:rPr>
              <a:t>Automatiser les mises à jour avec les nouvelles données de bâtiments.</a:t>
            </a:r>
            <a:endParaRPr sz="900">
              <a:solidFill>
                <a:schemeClr val="dk1"/>
              </a:solidFill>
            </a:endParaRPr>
          </a:p>
        </p:txBody>
      </p:sp>
      <p:pic>
        <p:nvPicPr>
          <p:cNvPr id="170" name="Google Shape;170;p31" title="pngimg.com - target_PNG40.png"/>
          <p:cNvPicPr preferRelativeResize="0"/>
          <p:nvPr/>
        </p:nvPicPr>
        <p:blipFill>
          <a:blip r:embed="rId3">
            <a:alphaModFix/>
          </a:blip>
          <a:stretch>
            <a:fillRect/>
          </a:stretch>
        </p:blipFill>
        <p:spPr>
          <a:xfrm>
            <a:off x="7087901" y="340126"/>
            <a:ext cx="1929100" cy="1929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