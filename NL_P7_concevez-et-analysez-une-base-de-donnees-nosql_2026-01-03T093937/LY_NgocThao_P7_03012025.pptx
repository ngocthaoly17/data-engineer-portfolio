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</p:sldIdLst>
  <p:sldSz cy="5143500" cx="9144000"/>
  <p:notesSz cx="6858000" cy="9144000"/>
  <p:embeddedFontLst>
    <p:embeddedFont>
      <p:font typeface="Raleway"/>
      <p:regular r:id="rId49"/>
      <p:bold r:id="rId50"/>
      <p:italic r:id="rId51"/>
      <p:boldItalic r:id="rId52"/>
    </p:embeddedFont>
    <p:embeddedFont>
      <p:font typeface="Roboto"/>
      <p:regular r:id="rId53"/>
      <p:bold r:id="rId54"/>
      <p:italic r:id="rId55"/>
      <p:boldItalic r:id="rId56"/>
    </p:embeddedFont>
    <p:embeddedFont>
      <p:font typeface="Lato"/>
      <p:regular r:id="rId57"/>
      <p:bold r:id="rId58"/>
      <p:italic r:id="rId59"/>
      <p:boldItalic r:id="rId60"/>
    </p:embeddedFont>
    <p:embeddedFont>
      <p:font typeface="Inter"/>
      <p:regular r:id="rId61"/>
      <p:bold r:id="rId62"/>
      <p:italic r:id="rId63"/>
      <p:boldItalic r:id="rId64"/>
    </p:embeddedFont>
    <p:embeddedFont>
      <p:font typeface="Roboto Mono"/>
      <p:regular r:id="rId65"/>
      <p:bold r:id="rId66"/>
      <p:italic r:id="rId67"/>
      <p:boldItalic r:id="rId6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69" roundtripDataSignature="AMtx7miccxn3kMTcHSanFBaboOzgreGfY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4F9A3DD-7480-463F-928C-EFB626A4946F}">
  <a:tblStyle styleId="{E4F9A3DD-7480-463F-928C-EFB626A4946F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font" Target="fonts/Raleway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62" Type="http://schemas.openxmlformats.org/officeDocument/2006/relationships/font" Target="fonts/Inter-bold.fntdata"/><Relationship Id="rId61" Type="http://schemas.openxmlformats.org/officeDocument/2006/relationships/font" Target="fonts/Inter-regular.fntdata"/><Relationship Id="rId20" Type="http://schemas.openxmlformats.org/officeDocument/2006/relationships/slide" Target="slides/slide14.xml"/><Relationship Id="rId64" Type="http://schemas.openxmlformats.org/officeDocument/2006/relationships/font" Target="fonts/Inter-boldItalic.fntdata"/><Relationship Id="rId63" Type="http://schemas.openxmlformats.org/officeDocument/2006/relationships/font" Target="fonts/Inter-italic.fntdata"/><Relationship Id="rId22" Type="http://schemas.openxmlformats.org/officeDocument/2006/relationships/slide" Target="slides/slide16.xml"/><Relationship Id="rId66" Type="http://schemas.openxmlformats.org/officeDocument/2006/relationships/font" Target="fonts/RobotoMono-bold.fntdata"/><Relationship Id="rId21" Type="http://schemas.openxmlformats.org/officeDocument/2006/relationships/slide" Target="slides/slide15.xml"/><Relationship Id="rId65" Type="http://schemas.openxmlformats.org/officeDocument/2006/relationships/font" Target="fonts/RobotoMono-regular.fntdata"/><Relationship Id="rId24" Type="http://schemas.openxmlformats.org/officeDocument/2006/relationships/slide" Target="slides/slide18.xml"/><Relationship Id="rId68" Type="http://schemas.openxmlformats.org/officeDocument/2006/relationships/font" Target="fonts/RobotoMono-boldItalic.fntdata"/><Relationship Id="rId23" Type="http://schemas.openxmlformats.org/officeDocument/2006/relationships/slide" Target="slides/slide17.xml"/><Relationship Id="rId67" Type="http://schemas.openxmlformats.org/officeDocument/2006/relationships/font" Target="fonts/RobotoMono-italic.fntdata"/><Relationship Id="rId60" Type="http://schemas.openxmlformats.org/officeDocument/2006/relationships/font" Target="fonts/Lato-boldItalic.fntdata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69" Type="http://customschemas.google.com/relationships/presentationmetadata" Target="metadata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font" Target="fonts/Raleway-italic.fntdata"/><Relationship Id="rId50" Type="http://schemas.openxmlformats.org/officeDocument/2006/relationships/font" Target="fonts/Raleway-bold.fntdata"/><Relationship Id="rId53" Type="http://schemas.openxmlformats.org/officeDocument/2006/relationships/font" Target="fonts/Roboto-regular.fntdata"/><Relationship Id="rId52" Type="http://schemas.openxmlformats.org/officeDocument/2006/relationships/font" Target="fonts/Raleway-boldItalic.fntdata"/><Relationship Id="rId11" Type="http://schemas.openxmlformats.org/officeDocument/2006/relationships/slide" Target="slides/slide5.xml"/><Relationship Id="rId55" Type="http://schemas.openxmlformats.org/officeDocument/2006/relationships/font" Target="fonts/Roboto-italic.fntdata"/><Relationship Id="rId10" Type="http://schemas.openxmlformats.org/officeDocument/2006/relationships/slide" Target="slides/slide4.xml"/><Relationship Id="rId54" Type="http://schemas.openxmlformats.org/officeDocument/2006/relationships/font" Target="fonts/Roboto-bold.fntdata"/><Relationship Id="rId13" Type="http://schemas.openxmlformats.org/officeDocument/2006/relationships/slide" Target="slides/slide7.xml"/><Relationship Id="rId57" Type="http://schemas.openxmlformats.org/officeDocument/2006/relationships/font" Target="fonts/Lato-regular.fntdata"/><Relationship Id="rId12" Type="http://schemas.openxmlformats.org/officeDocument/2006/relationships/slide" Target="slides/slide6.xml"/><Relationship Id="rId56" Type="http://schemas.openxmlformats.org/officeDocument/2006/relationships/font" Target="fonts/Roboto-boldItalic.fntdata"/><Relationship Id="rId15" Type="http://schemas.openxmlformats.org/officeDocument/2006/relationships/slide" Target="slides/slide9.xml"/><Relationship Id="rId59" Type="http://schemas.openxmlformats.org/officeDocument/2006/relationships/font" Target="fonts/Lato-italic.fntdata"/><Relationship Id="rId14" Type="http://schemas.openxmlformats.org/officeDocument/2006/relationships/slide" Target="slides/slide8.xml"/><Relationship Id="rId58" Type="http://schemas.openxmlformats.org/officeDocument/2006/relationships/font" Target="fonts/Lato-bold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" name="Google Shape;84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" name="Google Shape;9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2" name="Google Shape;10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a4b71c2d44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a4b71c2d44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a758730978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a758730978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ade805e883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ade805e883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aff73c9bc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aff73c9bc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ade805e88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ade805e88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b1965b280a_0_7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b1965b280a_0_7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b1965b280a_0_7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b1965b280a_0_7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b1965b280a_0_7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7" name="Google Shape;157;g3b1965b280a_0_7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4" name="Google Shape;16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b1aa236cad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3b1aa236cad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b1aa236cad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3b1aa236cad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b1965b280a_0_7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3b1965b280a_0_7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b1aa236cad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3b1aa236cad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b34fd1773d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3b34fd1773d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b34fd1773d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3b34fd1773d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b34fd1773d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3b34fd1773d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b1965b280a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3b1965b280a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b34fd1773d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3b34fd1773d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b34fd1773d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3b34fd1773d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b34fd1773d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b34fd1773d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b34fd1773d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3b34fd1773d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3b35dfe2504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9" name="Google Shape;259;g3b35dfe2504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b35dfe2504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6" name="Google Shape;266;g3b35dfe2504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3b35dfe2504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3" name="Google Shape;273;g3b35dfe2504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3b35dfe2504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" name="Google Shape;280;g3b35dfe2504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b35dfe2504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3b35dfe2504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3b34fd1773d_0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6" name="Google Shape;296;g3b34fd1773d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3b34fd1773d_0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3" name="Google Shape;303;g3b34fd1773d_0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3b440537baa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0" name="Google Shape;310;g3b440537baa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3b440537baa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7" name="Google Shape;317;g3b440537baa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3b440537baa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" name="Google Shape;322;g3b440537baa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3b35dfe2504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8" name="Google Shape;328;g3b35dfe2504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3b440537baa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5" name="Google Shape;335;g3b440537baa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3b440537baa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0" name="Google Shape;340;g3b440537baa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g3b440537baa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7" name="Google Shape;347;g3b440537baa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g3b440537baa_0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4" name="Google Shape;354;g3b440537baa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g3b34fd1773d_0_1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0" name="Google Shape;360;g3b34fd1773d_0_1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g3b34fd1773d_0_1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6" name="Google Shape;366;g3b34fd1773d_0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3b1965b280a_0_61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g3b1965b280a_0_61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g3b1965b280a_0_61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g3b1965b280a_0_61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g3b1965b280a_0_61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g3b1965b280a_0_61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g3b1965b280a_0_6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g3b1965b280a_0_620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g3b1965b280a_0_620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g3b1965b280a_0_620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g3b1965b280a_0_620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g3b1965b280a_0_62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g3b1965b280a_0_62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g3b1965b280a_0_62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g3b1965b280a_0_62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g3b1965b280a_0_62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g3b1965b280a_0_62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g3b1965b280a_0_626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g3b1965b280a_0_62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g3b1965b280a_0_63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g3b1965b280a_0_63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g3b1965b280a_0_63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g3b1965b280a_0_63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g3b1965b280a_0_634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g3b1965b280a_0_634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g3b1965b280a_0_634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g3b1965b280a_0_63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g3b1965b280a_0_643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g3b1965b280a_0_64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g3b1965b280a_0_64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g3b1965b280a_0_64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g3b1965b280a_0_643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g3b1965b280a_0_64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g3b1965b280a_0_650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g3b1965b280a_0_650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g3b1965b280a_0_650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g3b1965b280a_0_650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g3b1965b280a_0_650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g3b1965b280a_0_650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g3b1965b280a_0_65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g3b1965b280a_0_65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g3b1965b280a_0_65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g3b1965b280a_0_65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g3b1965b280a_0_65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g3b1965b280a_0_65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b1965b280a_0_664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g3b1965b280a_0_66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g3b1965b280a_0_66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g3b1965b280a_0_66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g3b1965b280a_0_664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g3b1965b280a_0_664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g3b1965b280a_0_664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g3b1965b280a_0_66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b1965b280a_0_673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g3b1965b280a_0_67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g3b1965b280a_0_676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g3b1965b280a_0_67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g3b1965b280a_0_67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g3b1965b280a_0_676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g3b1965b280a_0_676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g3b1965b280a_0_67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b1965b280a_0_68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3b1965b280a_0_60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g3b1965b280a_0_60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g3b1965b280a_0_60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openclassrooms.com/fr/paths/1039/projects/1833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github.com/ngocthaoly17/mongodb_airbnb/blob/main/partie_2_analyses.py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github.com/ngocthaoly17/mongodb_airbnb/blob/main/partie_2_analyse_polars.py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8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9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9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0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6.png"/><Relationship Id="rId4" Type="http://schemas.openxmlformats.org/officeDocument/2006/relationships/image" Target="../media/image22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23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6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5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14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"/>
          <p:cNvSpPr txBox="1"/>
          <p:nvPr>
            <p:ph type="ctrTitle"/>
          </p:nvPr>
        </p:nvSpPr>
        <p:spPr>
          <a:xfrm>
            <a:off x="783475" y="1251400"/>
            <a:ext cx="8048700" cy="1864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84782"/>
              </a:lnSpc>
              <a:spcBef>
                <a:spcPts val="0"/>
              </a:spcBef>
              <a:spcAft>
                <a:spcPts val="0"/>
              </a:spcAft>
              <a:buSzPct val="2619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84782"/>
              </a:lnSpc>
              <a:spcBef>
                <a:spcPts val="0"/>
              </a:spcBef>
              <a:spcAft>
                <a:spcPts val="0"/>
              </a:spcAft>
              <a:buSzPct val="26190"/>
              <a:buNone/>
            </a:pPr>
            <a:r>
              <a:rPr lang="fr"/>
              <a:t>Projet 7</a:t>
            </a:r>
            <a:endParaRPr/>
          </a:p>
          <a:p>
            <a:pPr indent="0" lvl="0" marL="0" rtl="0" algn="l">
              <a:lnSpc>
                <a:spcPct val="84782"/>
              </a:lnSpc>
              <a:spcBef>
                <a:spcPts val="0"/>
              </a:spcBef>
              <a:spcAft>
                <a:spcPts val="0"/>
              </a:spcAft>
              <a:buSzPct val="33333"/>
              <a:buNone/>
            </a:pPr>
            <a:r>
              <a:rPr b="1" lang="fr" sz="3300">
                <a:solidFill>
                  <a:srgbClr val="271A38"/>
                </a:solidFill>
                <a:highlight>
                  <a:srgbClr val="FFFFFF"/>
                </a:highlight>
                <a:uFill>
                  <a:noFill/>
                </a:uFill>
                <a:latin typeface="Inter"/>
                <a:ea typeface="Inter"/>
                <a:cs typeface="Inter"/>
                <a:sym typeface="Inter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Concevez et analysez une base de données NoSQL</a:t>
            </a:r>
            <a:endParaRPr b="1" sz="33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"/>
          <p:cNvSpPr txBox="1"/>
          <p:nvPr>
            <p:ph type="title"/>
          </p:nvPr>
        </p:nvSpPr>
        <p:spPr>
          <a:xfrm>
            <a:off x="311700" y="581725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9658"/>
              <a:buNone/>
            </a:pPr>
            <a:r>
              <a:rPr lang="fr"/>
              <a:t>Contexte du projet et importation des données</a:t>
            </a:r>
            <a:endParaRPr/>
          </a:p>
        </p:txBody>
      </p:sp>
      <p:sp>
        <p:nvSpPr>
          <p:cNvPr id="92" name="Google Shape;92;p2"/>
          <p:cNvSpPr txBox="1"/>
          <p:nvPr>
            <p:ph idx="1" type="body"/>
          </p:nvPr>
        </p:nvSpPr>
        <p:spPr>
          <a:xfrm>
            <a:off x="311700" y="1477000"/>
            <a:ext cx="8520600" cy="34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fr" sz="1100">
                <a:solidFill>
                  <a:schemeClr val="dk1"/>
                </a:solidFill>
              </a:rPr>
              <a:t>Mission de l’association :</a:t>
            </a:r>
            <a:r>
              <a:rPr lang="fr" sz="1100">
                <a:solidFill>
                  <a:schemeClr val="dk1"/>
                </a:solidFill>
              </a:rPr>
              <a:t> Surveiller les plateformes de locations de courte durée à Paris et Lyon pour évaluer leur impact sur l’offre de logement et apporter de la transparence au débat public.</a:t>
            </a:r>
            <a:br>
              <a:rPr lang="fr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fr" sz="1100">
                <a:solidFill>
                  <a:schemeClr val="dk1"/>
                </a:solidFill>
              </a:rPr>
              <a:t>Problème rencontré :</a:t>
            </a:r>
            <a:r>
              <a:rPr lang="fr" sz="1100">
                <a:solidFill>
                  <a:schemeClr val="dk1"/>
                </a:solidFill>
              </a:rPr>
              <a:t> Crash complet de la base de données Paris à cause de pratiques insuffisantes et possible attaque malveillante.</a:t>
            </a:r>
            <a:br>
              <a:rPr lang="fr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fr" sz="1100">
                <a:solidFill>
                  <a:schemeClr val="dk1"/>
                </a:solidFill>
              </a:rPr>
              <a:t>Infrastructure :</a:t>
            </a:r>
            <a:r>
              <a:rPr lang="fr" sz="1100">
                <a:solidFill>
                  <a:schemeClr val="dk1"/>
                </a:solidFill>
              </a:rPr>
              <a:t> Serveurs internes à Paris et Lyon (pas de cloud) pour garantir confidentialité et indépendance.</a:t>
            </a:r>
            <a:br>
              <a:rPr lang="fr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fr" sz="1100">
                <a:solidFill>
                  <a:schemeClr val="dk1"/>
                </a:solidFill>
              </a:rPr>
              <a:t>Objectifs immédiats :</a:t>
            </a:r>
            <a:br>
              <a:rPr b="1" lang="fr" sz="1100">
                <a:solidFill>
                  <a:schemeClr val="dk1"/>
                </a:solidFill>
              </a:rPr>
            </a:b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fr" sz="1100">
                <a:solidFill>
                  <a:schemeClr val="dk1"/>
                </a:solidFill>
              </a:rPr>
              <a:t>Restaurer la base de données MongoDB à partir des sauvegardes.</a:t>
            </a:r>
            <a:br>
              <a:rPr lang="fr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fr" sz="1100">
                <a:solidFill>
                  <a:schemeClr val="dk1"/>
                </a:solidFill>
              </a:rPr>
              <a:t>Vérifier l’intégrité et la fiabilité des données restaurées.</a:t>
            </a:r>
            <a:br>
              <a:rPr lang="fr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fr" sz="1100">
                <a:solidFill>
                  <a:schemeClr val="dk1"/>
                </a:solidFill>
              </a:rPr>
              <a:t>Mettre en place des bonnes pratiques pour prévenir de futurs incidents.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"/>
          <p:cNvSpPr txBox="1"/>
          <p:nvPr>
            <p:ph type="title"/>
          </p:nvPr>
        </p:nvSpPr>
        <p:spPr>
          <a:xfrm>
            <a:off x="443700" y="617275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9658"/>
              <a:buNone/>
            </a:pPr>
            <a:r>
              <a:rPr lang="fr"/>
              <a:t>Partie 1 - Importation des données et 1ères requêtes </a:t>
            </a:r>
            <a:endParaRPr/>
          </a:p>
        </p:txBody>
      </p:sp>
      <p:sp>
        <p:nvSpPr>
          <p:cNvPr id="98" name="Google Shape;98;p3"/>
          <p:cNvSpPr txBox="1"/>
          <p:nvPr>
            <p:ph idx="1" type="body"/>
          </p:nvPr>
        </p:nvSpPr>
        <p:spPr>
          <a:xfrm>
            <a:off x="542825" y="1431875"/>
            <a:ext cx="4416300" cy="350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marR="152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100">
                <a:solidFill>
                  <a:schemeClr val="dk1"/>
                </a:solidFill>
              </a:rPr>
              <a:t>Structure des données :</a:t>
            </a:r>
            <a:br>
              <a:rPr b="1" lang="fr" sz="1100">
                <a:solidFill>
                  <a:schemeClr val="dk1"/>
                </a:solidFill>
              </a:rPr>
            </a:b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fr" sz="1100">
                <a:solidFill>
                  <a:schemeClr val="dk1"/>
                </a:solidFill>
              </a:rPr>
              <a:t>Chaque document représe</a:t>
            </a:r>
            <a:r>
              <a:rPr lang="fr" sz="1100">
                <a:solidFill>
                  <a:schemeClr val="dk1"/>
                </a:solidFill>
              </a:rPr>
              <a:t>n</a:t>
            </a:r>
            <a:r>
              <a:rPr lang="fr" sz="1100">
                <a:solidFill>
                  <a:schemeClr val="dk1"/>
                </a:solidFill>
              </a:rPr>
              <a:t>te un logement unique.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fr" sz="1100">
                <a:solidFill>
                  <a:schemeClr val="dk1"/>
                </a:solidFill>
              </a:rPr>
              <a:t>Champs simples : </a:t>
            </a:r>
            <a:r>
              <a:rPr lang="fr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name</a:t>
            </a:r>
            <a:r>
              <a:rPr lang="fr" sz="1100">
                <a:solidFill>
                  <a:schemeClr val="dk1"/>
                </a:solidFill>
              </a:rPr>
              <a:t>, </a:t>
            </a:r>
            <a:r>
              <a:rPr lang="fr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latitude</a:t>
            </a:r>
            <a:r>
              <a:rPr lang="fr" sz="1100">
                <a:solidFill>
                  <a:schemeClr val="dk1"/>
                </a:solidFill>
              </a:rPr>
              <a:t>, etc.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fr" sz="1100">
                <a:solidFill>
                  <a:schemeClr val="dk1"/>
                </a:solidFill>
              </a:rPr>
              <a:t>Tableaux </a:t>
            </a:r>
            <a:r>
              <a:rPr lang="fr" sz="1100">
                <a:solidFill>
                  <a:schemeClr val="dk1"/>
                </a:solidFill>
              </a:rPr>
              <a:t>: </a:t>
            </a:r>
            <a:r>
              <a:rPr lang="fr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amenities</a:t>
            </a:r>
            <a:r>
              <a:rPr lang="fr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fr" sz="1100">
                <a:solidFill>
                  <a:schemeClr val="dk1"/>
                </a:solidFill>
              </a:rPr>
              <a:t>Date : </a:t>
            </a:r>
            <a:r>
              <a:rPr lang="fr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first_review</a:t>
            </a:r>
            <a:r>
              <a:rPr lang="fr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fr" sz="1100">
                <a:solidFill>
                  <a:schemeClr val="dk1"/>
                </a:solidFill>
              </a:rPr>
              <a:t>Format JSON semi-structuré adapté à MongoDB.</a:t>
            </a:r>
            <a:br>
              <a:rPr lang="fr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fr" sz="1100">
                <a:solidFill>
                  <a:schemeClr val="dk1"/>
                </a:solidFill>
              </a:rPr>
              <a:t>Pourquoi MongoDB ?</a:t>
            </a:r>
            <a:br>
              <a:rPr b="1" lang="fr" sz="1100">
                <a:solidFill>
                  <a:schemeClr val="dk1"/>
                </a:solidFill>
              </a:rPr>
            </a:b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fr" sz="1100">
                <a:solidFill>
                  <a:schemeClr val="dk1"/>
                </a:solidFill>
              </a:rPr>
              <a:t>Stockage flexible pour données hétérogènes sans schéma fixe.</a:t>
            </a:r>
            <a:br>
              <a:rPr lang="fr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fr" sz="1100">
                <a:solidFill>
                  <a:schemeClr val="dk1"/>
                </a:solidFill>
              </a:rPr>
              <a:t>Pas besoin de jointures complexes.</a:t>
            </a:r>
            <a:br>
              <a:rPr lang="fr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fr" sz="1100">
                <a:solidFill>
                  <a:schemeClr val="dk1"/>
                </a:solidFill>
              </a:rPr>
              <a:t>Idéal pour intégrer des champs optionnels et des types variés</a:t>
            </a:r>
            <a:r>
              <a:rPr lang="fr" sz="1100">
                <a:solidFill>
                  <a:schemeClr val="dk1"/>
                </a:solidFill>
              </a:rPr>
              <a:t>.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99" name="Google Shape;99;p3"/>
          <p:cNvSpPr txBox="1"/>
          <p:nvPr/>
        </p:nvSpPr>
        <p:spPr>
          <a:xfrm>
            <a:off x="5122525" y="1431875"/>
            <a:ext cx="3616800" cy="276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371600" marR="152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rgbClr val="271A38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152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fr" sz="1200">
                <a:solidFill>
                  <a:srgbClr val="271A38"/>
                </a:solidFill>
                <a:latin typeface="Inter"/>
                <a:ea typeface="Inter"/>
                <a:cs typeface="Inter"/>
                <a:sym typeface="Inter"/>
              </a:rPr>
              <a:t>Premères requêtes</a:t>
            </a:r>
            <a:endParaRPr b="1" sz="1200">
              <a:solidFill>
                <a:srgbClr val="271A38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152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200">
              <a:solidFill>
                <a:srgbClr val="271A38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fr" sz="1100">
                <a:solidFill>
                  <a:schemeClr val="dk1"/>
                </a:solidFill>
              </a:rPr>
              <a:t>db.house_rental.findOne()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fr" sz="1100">
                <a:solidFill>
                  <a:schemeClr val="dk1"/>
                </a:solidFill>
              </a:rPr>
              <a:t>Nombre total de documents :</a:t>
            </a:r>
            <a:br>
              <a:rPr b="1" lang="fr" sz="1100">
                <a:solidFill>
                  <a:schemeClr val="dk1"/>
                </a:solidFill>
              </a:rPr>
            </a:br>
            <a:r>
              <a:rPr lang="fr" sz="1100">
                <a:solidFill>
                  <a:schemeClr val="dk1"/>
                </a:solidFill>
              </a:rPr>
              <a:t> </a:t>
            </a:r>
            <a:r>
              <a:rPr lang="fr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db.house_rental.countDocuments()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fr" sz="1100">
                <a:solidFill>
                  <a:schemeClr val="dk1"/>
                </a:solidFill>
              </a:rPr>
              <a:t>Nombre de logements disponibles :</a:t>
            </a:r>
            <a:br>
              <a:rPr b="1" lang="fr" sz="1100">
                <a:solidFill>
                  <a:schemeClr val="dk1"/>
                </a:solidFill>
              </a:rPr>
            </a:br>
            <a:r>
              <a:rPr lang="fr" sz="1100">
                <a:solidFill>
                  <a:schemeClr val="dk1"/>
                </a:solidFill>
              </a:rPr>
              <a:t> </a:t>
            </a:r>
            <a:r>
              <a:rPr lang="fr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db.house_rental.countDocuments({ has_availability: true })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"/>
          <p:cNvSpPr txBox="1"/>
          <p:nvPr>
            <p:ph type="title"/>
          </p:nvPr>
        </p:nvSpPr>
        <p:spPr>
          <a:xfrm>
            <a:off x="488825" y="61180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9658"/>
              <a:buNone/>
            </a:pPr>
            <a:r>
              <a:rPr lang="fr"/>
              <a:t>Partie 2 - Analyses et visualisation </a:t>
            </a:r>
            <a:endParaRPr/>
          </a:p>
        </p:txBody>
      </p:sp>
      <p:sp>
        <p:nvSpPr>
          <p:cNvPr id="105" name="Google Shape;105;p4"/>
          <p:cNvSpPr txBox="1"/>
          <p:nvPr/>
        </p:nvSpPr>
        <p:spPr>
          <a:xfrm>
            <a:off x="383550" y="1657450"/>
            <a:ext cx="8253600" cy="29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271A38"/>
              </a:buClr>
              <a:buSzPts val="1200"/>
              <a:buFont typeface="Inter"/>
              <a:buChar char="●"/>
            </a:pPr>
            <a:r>
              <a:rPr lang="fr" sz="1200">
                <a:solidFill>
                  <a:srgbClr val="271A38"/>
                </a:solidFill>
                <a:highlight>
                  <a:srgbClr val="FFFFFF"/>
                </a:highlight>
                <a:latin typeface="Inter"/>
                <a:ea typeface="Inter"/>
                <a:cs typeface="Inter"/>
                <a:sym typeface="Inter"/>
              </a:rPr>
              <a:t>Combien d’annonces y a-t-il par type de location ?</a:t>
            </a:r>
            <a:endParaRPr sz="1200">
              <a:solidFill>
                <a:srgbClr val="271A38"/>
              </a:solidFill>
              <a:highlight>
                <a:srgbClr val="FFFFFF"/>
              </a:highlight>
              <a:latin typeface="Inter"/>
              <a:ea typeface="Inter"/>
              <a:cs typeface="Inter"/>
              <a:sym typeface="Inter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71A38"/>
              </a:buClr>
              <a:buSzPts val="1200"/>
              <a:buFont typeface="Inter"/>
              <a:buChar char="●"/>
            </a:pPr>
            <a:r>
              <a:rPr lang="fr" sz="1200">
                <a:solidFill>
                  <a:srgbClr val="271A38"/>
                </a:solidFill>
                <a:highlight>
                  <a:srgbClr val="FFFFFF"/>
                </a:highlight>
                <a:latin typeface="Inter"/>
                <a:ea typeface="Inter"/>
                <a:cs typeface="Inter"/>
                <a:sym typeface="Inter"/>
              </a:rPr>
              <a:t>Quelles sont les 5 annonces de location avec le plus d’évaluations ? Et combien d’évaluations ont-elles ?</a:t>
            </a:r>
            <a:endParaRPr sz="1200">
              <a:solidFill>
                <a:srgbClr val="271A38"/>
              </a:solidFill>
              <a:highlight>
                <a:srgbClr val="FFFFFF"/>
              </a:highlight>
              <a:latin typeface="Inter"/>
              <a:ea typeface="Inter"/>
              <a:cs typeface="Inter"/>
              <a:sym typeface="Inter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71A38"/>
              </a:buClr>
              <a:buSzPts val="1200"/>
              <a:buFont typeface="Inter"/>
              <a:buChar char="●"/>
            </a:pPr>
            <a:r>
              <a:rPr lang="fr" sz="1200">
                <a:solidFill>
                  <a:srgbClr val="271A38"/>
                </a:solidFill>
                <a:highlight>
                  <a:srgbClr val="FFFFFF"/>
                </a:highlight>
                <a:latin typeface="Inter"/>
                <a:ea typeface="Inter"/>
                <a:cs typeface="Inter"/>
                <a:sym typeface="Inter"/>
              </a:rPr>
              <a:t>Quel est le nombre total d’hôtes différents ?</a:t>
            </a:r>
            <a:endParaRPr sz="1200">
              <a:solidFill>
                <a:srgbClr val="271A38"/>
              </a:solidFill>
              <a:highlight>
                <a:srgbClr val="FFFFFF"/>
              </a:highlight>
              <a:latin typeface="Inter"/>
              <a:ea typeface="Inter"/>
              <a:cs typeface="Inter"/>
              <a:sym typeface="Inter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71A38"/>
              </a:buClr>
              <a:buSzPts val="1200"/>
              <a:buFont typeface="Inter"/>
              <a:buChar char="●"/>
            </a:pPr>
            <a:r>
              <a:rPr lang="fr" sz="1200">
                <a:solidFill>
                  <a:srgbClr val="271A38"/>
                </a:solidFill>
                <a:highlight>
                  <a:srgbClr val="FFFFFF"/>
                </a:highlight>
                <a:latin typeface="Inter"/>
                <a:ea typeface="Inter"/>
                <a:cs typeface="Inter"/>
                <a:sym typeface="Inter"/>
              </a:rPr>
              <a:t>Quel est le nombre de locations réservables instantanément ? Cela représente quelle proportion des annonces ? </a:t>
            </a:r>
            <a:endParaRPr sz="1200">
              <a:solidFill>
                <a:srgbClr val="271A38"/>
              </a:solidFill>
              <a:highlight>
                <a:srgbClr val="FFFFFF"/>
              </a:highlight>
              <a:latin typeface="Inter"/>
              <a:ea typeface="Inter"/>
              <a:cs typeface="Inter"/>
              <a:sym typeface="Inter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71A38"/>
              </a:buClr>
              <a:buSzPts val="1200"/>
              <a:buFont typeface="Inter"/>
              <a:buChar char="●"/>
            </a:pPr>
            <a:r>
              <a:rPr lang="fr" sz="1200">
                <a:solidFill>
                  <a:srgbClr val="271A38"/>
                </a:solidFill>
                <a:highlight>
                  <a:srgbClr val="FFFFFF"/>
                </a:highlight>
                <a:latin typeface="Inter"/>
                <a:ea typeface="Inter"/>
                <a:cs typeface="Inter"/>
                <a:sym typeface="Inter"/>
              </a:rPr>
              <a:t>Est-ce que des hôtes ont plus de 100 annonces sur les plateformes ? Et si oui qui sont-ils ? Cela représente quel pourcentage des hôtes ?</a:t>
            </a:r>
            <a:endParaRPr sz="1200">
              <a:solidFill>
                <a:srgbClr val="271A38"/>
              </a:solidFill>
              <a:highlight>
                <a:srgbClr val="FFFFFF"/>
              </a:highlight>
              <a:latin typeface="Inter"/>
              <a:ea typeface="Inter"/>
              <a:cs typeface="Inter"/>
              <a:sym typeface="Inter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71A38"/>
              </a:buClr>
              <a:buSzPts val="1200"/>
              <a:buFont typeface="Inter"/>
              <a:buChar char="●"/>
            </a:pPr>
            <a:r>
              <a:rPr lang="fr" sz="1200">
                <a:solidFill>
                  <a:srgbClr val="271A38"/>
                </a:solidFill>
                <a:highlight>
                  <a:srgbClr val="FFFFFF"/>
                </a:highlight>
                <a:latin typeface="Inter"/>
                <a:ea typeface="Inter"/>
                <a:cs typeface="Inter"/>
                <a:sym typeface="Inter"/>
              </a:rPr>
              <a:t>Combien y a-t-il de super hôtes différents ? Cela représente quel pourcentage des hôtes ?</a:t>
            </a:r>
            <a:endParaRPr sz="1200">
              <a:solidFill>
                <a:srgbClr val="271A38"/>
              </a:solidFill>
              <a:highlight>
                <a:srgbClr val="FFFFFF"/>
              </a:highlight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271A38"/>
              </a:solidFill>
              <a:highlight>
                <a:srgbClr val="FFFFFF"/>
              </a:highlight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fr" sz="1200" u="sng">
                <a:solidFill>
                  <a:schemeClr val="hlink"/>
                </a:solidFill>
                <a:highlight>
                  <a:srgbClr val="FFFFFF"/>
                </a:highlight>
                <a:latin typeface="Inter"/>
                <a:ea typeface="Inter"/>
                <a:cs typeface="Inter"/>
                <a:sym typeface="Inter"/>
                <a:hlinkClick r:id="rId3"/>
              </a:rPr>
              <a:t>https://github.com/ngocthaoly17/mongodb_airbnb/blob/main/partie_2_analyses.py</a:t>
            </a:r>
            <a:endParaRPr sz="1200">
              <a:solidFill>
                <a:srgbClr val="271A38"/>
              </a:solidFill>
              <a:highlight>
                <a:srgbClr val="FFFFFF"/>
              </a:highlight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200">
              <a:solidFill>
                <a:srgbClr val="271A38"/>
              </a:solidFill>
              <a:highlight>
                <a:srgbClr val="FFFFFF"/>
              </a:highlight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a4b71c2d44_0_3"/>
          <p:cNvSpPr txBox="1"/>
          <p:nvPr/>
        </p:nvSpPr>
        <p:spPr>
          <a:xfrm>
            <a:off x="421100" y="1962300"/>
            <a:ext cx="7881900" cy="231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271A38"/>
              </a:buClr>
              <a:buSzPts val="1200"/>
              <a:buFont typeface="Inter"/>
              <a:buChar char="●"/>
            </a:pPr>
            <a:r>
              <a:rPr lang="fr" sz="1200">
                <a:solidFill>
                  <a:srgbClr val="271A38"/>
                </a:solidFill>
                <a:highlight>
                  <a:srgbClr val="FFFFFF"/>
                </a:highlight>
                <a:latin typeface="Inter"/>
                <a:ea typeface="Inter"/>
                <a:cs typeface="Inter"/>
                <a:sym typeface="Inter"/>
              </a:rPr>
              <a:t>Calculer le taux de réservation moyen par mois par type de logement</a:t>
            </a:r>
            <a:endParaRPr sz="1200">
              <a:solidFill>
                <a:srgbClr val="271A38"/>
              </a:solidFill>
              <a:highlight>
                <a:srgbClr val="FFFFFF"/>
              </a:highlight>
              <a:latin typeface="Inter"/>
              <a:ea typeface="Inter"/>
              <a:cs typeface="Inter"/>
              <a:sym typeface="Inter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71A38"/>
              </a:buClr>
              <a:buSzPts val="1200"/>
              <a:buFont typeface="Inter"/>
              <a:buChar char="●"/>
            </a:pPr>
            <a:r>
              <a:rPr lang="fr" sz="1200">
                <a:solidFill>
                  <a:srgbClr val="271A38"/>
                </a:solidFill>
                <a:highlight>
                  <a:srgbClr val="FFFFFF"/>
                </a:highlight>
                <a:latin typeface="Inter"/>
                <a:ea typeface="Inter"/>
                <a:cs typeface="Inter"/>
                <a:sym typeface="Inter"/>
              </a:rPr>
              <a:t>Calculer la médiane des nombre d’avis pour tous les logements</a:t>
            </a:r>
            <a:endParaRPr sz="1200">
              <a:solidFill>
                <a:srgbClr val="271A38"/>
              </a:solidFill>
              <a:highlight>
                <a:srgbClr val="FFFFFF"/>
              </a:highlight>
              <a:latin typeface="Inter"/>
              <a:ea typeface="Inter"/>
              <a:cs typeface="Inter"/>
              <a:sym typeface="Inter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71A38"/>
              </a:buClr>
              <a:buSzPts val="1200"/>
              <a:buFont typeface="Inter"/>
              <a:buChar char="●"/>
            </a:pPr>
            <a:r>
              <a:rPr lang="fr" sz="1200">
                <a:solidFill>
                  <a:srgbClr val="271A38"/>
                </a:solidFill>
                <a:highlight>
                  <a:srgbClr val="FFFFFF"/>
                </a:highlight>
                <a:latin typeface="Inter"/>
                <a:ea typeface="Inter"/>
                <a:cs typeface="Inter"/>
                <a:sym typeface="Inter"/>
              </a:rPr>
              <a:t>Calculer la médiane des nombre d’avis par catégorie d’hôte</a:t>
            </a:r>
            <a:endParaRPr sz="1200">
              <a:solidFill>
                <a:srgbClr val="271A38"/>
              </a:solidFill>
              <a:highlight>
                <a:srgbClr val="FFFFFF"/>
              </a:highlight>
              <a:latin typeface="Inter"/>
              <a:ea typeface="Inter"/>
              <a:cs typeface="Inter"/>
              <a:sym typeface="Inter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71A38"/>
              </a:buClr>
              <a:buSzPts val="1200"/>
              <a:buFont typeface="Inter"/>
              <a:buChar char="●"/>
            </a:pPr>
            <a:r>
              <a:rPr lang="fr" sz="1200">
                <a:solidFill>
                  <a:srgbClr val="271A38"/>
                </a:solidFill>
                <a:highlight>
                  <a:srgbClr val="FFFFFF"/>
                </a:highlight>
                <a:latin typeface="Inter"/>
                <a:ea typeface="Inter"/>
                <a:cs typeface="Inter"/>
                <a:sym typeface="Inter"/>
              </a:rPr>
              <a:t>Calculer la densité de logements par quartier de Paris</a:t>
            </a:r>
            <a:endParaRPr sz="1200">
              <a:solidFill>
                <a:srgbClr val="271A38"/>
              </a:solidFill>
              <a:highlight>
                <a:srgbClr val="FFFFFF"/>
              </a:highlight>
              <a:latin typeface="Inter"/>
              <a:ea typeface="Inter"/>
              <a:cs typeface="Inter"/>
              <a:sym typeface="Inter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71A38"/>
              </a:buClr>
              <a:buSzPts val="1200"/>
              <a:buFont typeface="Inter"/>
              <a:buChar char="●"/>
            </a:pPr>
            <a:r>
              <a:rPr lang="fr" sz="1200">
                <a:solidFill>
                  <a:srgbClr val="271A38"/>
                </a:solidFill>
                <a:highlight>
                  <a:srgbClr val="FFFFFF"/>
                </a:highlight>
                <a:latin typeface="Inter"/>
                <a:ea typeface="Inter"/>
                <a:cs typeface="Inter"/>
                <a:sym typeface="Inter"/>
              </a:rPr>
              <a:t>Identifier les quartiers avec le plus fort taux de réservation par mois</a:t>
            </a:r>
            <a:endParaRPr sz="1200">
              <a:solidFill>
                <a:srgbClr val="271A38"/>
              </a:solidFill>
              <a:highlight>
                <a:srgbClr val="FFFFFF"/>
              </a:highlight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271A38"/>
              </a:solidFill>
              <a:highlight>
                <a:srgbClr val="FFFFFF"/>
              </a:highlight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fr" sz="1200" u="sng">
                <a:solidFill>
                  <a:schemeClr val="hlink"/>
                </a:solidFill>
                <a:highlight>
                  <a:srgbClr val="FFFFFF"/>
                </a:highlight>
                <a:latin typeface="Inter"/>
                <a:ea typeface="Inter"/>
                <a:cs typeface="Inter"/>
                <a:sym typeface="Inter"/>
                <a:hlinkClick r:id="rId3"/>
              </a:rPr>
              <a:t>https://github.com/ngocthaoly17/mongodb_airbnb/blob/main/partie_2_analyse_polars.py</a:t>
            </a:r>
            <a:endParaRPr sz="1200">
              <a:solidFill>
                <a:srgbClr val="271A38"/>
              </a:solidFill>
              <a:highlight>
                <a:srgbClr val="FFFFFF"/>
              </a:highlight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200">
              <a:solidFill>
                <a:srgbClr val="271A38"/>
              </a:solidFill>
              <a:highlight>
                <a:srgbClr val="FFFFFF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1" name="Google Shape;111;g3a4b71c2d44_0_3"/>
          <p:cNvSpPr txBox="1"/>
          <p:nvPr>
            <p:ph type="title"/>
          </p:nvPr>
        </p:nvSpPr>
        <p:spPr>
          <a:xfrm>
            <a:off x="488825" y="61180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9658"/>
              <a:buNone/>
            </a:pPr>
            <a:r>
              <a:rPr lang="fr"/>
              <a:t>Partie 2 - Analyses et visualisation </a:t>
            </a:r>
            <a:endParaRPr/>
          </a:p>
        </p:txBody>
      </p:sp>
      <p:sp>
        <p:nvSpPr>
          <p:cNvPr id="112" name="Google Shape;112;g3a4b71c2d44_0_3"/>
          <p:cNvSpPr txBox="1"/>
          <p:nvPr/>
        </p:nvSpPr>
        <p:spPr>
          <a:xfrm>
            <a:off x="572900" y="1567200"/>
            <a:ext cx="5835300" cy="39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Requêtes plus complexes avec Polars</a:t>
            </a:r>
            <a:endParaRPr b="1"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a758730978_0_3"/>
          <p:cNvSpPr txBox="1"/>
          <p:nvPr>
            <p:ph idx="1" type="body"/>
          </p:nvPr>
        </p:nvSpPr>
        <p:spPr>
          <a:xfrm>
            <a:off x="6904325" y="1537450"/>
            <a:ext cx="1996200" cy="84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/>
              <a:t>candidaturethaoly_db_user 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fr"/>
              <a:t>aCylzwWDz3wQ34sB</a:t>
            </a:r>
            <a:endParaRPr b="1"/>
          </a:p>
        </p:txBody>
      </p:sp>
      <p:sp>
        <p:nvSpPr>
          <p:cNvPr id="118" name="Google Shape;118;g3a758730978_0_3"/>
          <p:cNvSpPr txBox="1"/>
          <p:nvPr>
            <p:ph type="title"/>
          </p:nvPr>
        </p:nvSpPr>
        <p:spPr>
          <a:xfrm>
            <a:off x="488825" y="61180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9658"/>
              <a:buNone/>
            </a:pPr>
            <a:r>
              <a:rPr lang="fr"/>
              <a:t>Partie 2 - Analyses et visualisation </a:t>
            </a:r>
            <a:endParaRPr/>
          </a:p>
        </p:txBody>
      </p:sp>
      <p:pic>
        <p:nvPicPr>
          <p:cNvPr id="119" name="Google Shape;119;g3a758730978_0_3" title="Capture d'écran 2025-12-18 16595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6250" y="1962300"/>
            <a:ext cx="5166251" cy="2906226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g3a758730978_0_3"/>
          <p:cNvSpPr txBox="1"/>
          <p:nvPr/>
        </p:nvSpPr>
        <p:spPr>
          <a:xfrm>
            <a:off x="572900" y="1567200"/>
            <a:ext cx="5835300" cy="39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Utilisation d’</a:t>
            </a:r>
            <a:r>
              <a:rPr b="1" lang="fr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Atlas </a:t>
            </a:r>
            <a:r>
              <a:rPr b="1" lang="fr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MongoDB</a:t>
            </a:r>
            <a:endParaRPr b="1"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ade805e883_0_13"/>
          <p:cNvSpPr txBox="1"/>
          <p:nvPr>
            <p:ph type="title"/>
          </p:nvPr>
        </p:nvSpPr>
        <p:spPr>
          <a:xfrm>
            <a:off x="488825" y="61180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9658"/>
              <a:buNone/>
            </a:pPr>
            <a:r>
              <a:rPr lang="fr"/>
              <a:t>Partie 2 - Analyses et visualisation </a:t>
            </a:r>
            <a:endParaRPr/>
          </a:p>
        </p:txBody>
      </p:sp>
      <p:sp>
        <p:nvSpPr>
          <p:cNvPr id="126" name="Google Shape;126;g3ade805e883_0_13"/>
          <p:cNvSpPr txBox="1"/>
          <p:nvPr/>
        </p:nvSpPr>
        <p:spPr>
          <a:xfrm>
            <a:off x="443075" y="1481075"/>
            <a:ext cx="3000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Importation des données</a:t>
            </a:r>
            <a:endParaRPr b="1"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27" name="Google Shape;127;g3ade805e883_0_13" title="Capture d'écran 2025-12-18 17030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8925" y="1865975"/>
            <a:ext cx="5925299" cy="3126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aff73c9bcf_0_0"/>
          <p:cNvSpPr txBox="1"/>
          <p:nvPr/>
        </p:nvSpPr>
        <p:spPr>
          <a:xfrm>
            <a:off x="669700" y="1519725"/>
            <a:ext cx="65043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Utilisation de Data Federation pour mettre à jour le schema</a:t>
            </a:r>
            <a:endParaRPr b="1"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3" name="Google Shape;133;g3aff73c9bcf_0_0"/>
          <p:cNvSpPr txBox="1"/>
          <p:nvPr>
            <p:ph type="title"/>
          </p:nvPr>
        </p:nvSpPr>
        <p:spPr>
          <a:xfrm>
            <a:off x="488825" y="61180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9658"/>
              <a:buNone/>
            </a:pPr>
            <a:r>
              <a:rPr lang="fr"/>
              <a:t>Partie 2 - Analyses et visualisation </a:t>
            </a:r>
            <a:endParaRPr/>
          </a:p>
        </p:txBody>
      </p:sp>
      <p:pic>
        <p:nvPicPr>
          <p:cNvPr id="134" name="Google Shape;134;g3aff73c9bcf_0_0" title="Capture d'écran 2025-12-18 17040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5575" y="1904625"/>
            <a:ext cx="5989799" cy="3159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ade805e883_0_0"/>
          <p:cNvSpPr txBox="1"/>
          <p:nvPr>
            <p:ph type="title"/>
          </p:nvPr>
        </p:nvSpPr>
        <p:spPr>
          <a:xfrm>
            <a:off x="488825" y="61180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9658"/>
              <a:buNone/>
            </a:pPr>
            <a:r>
              <a:rPr lang="fr"/>
              <a:t>Partie 2 - Analyses et visualisation </a:t>
            </a:r>
            <a:endParaRPr/>
          </a:p>
        </p:txBody>
      </p:sp>
      <p:pic>
        <p:nvPicPr>
          <p:cNvPr id="140" name="Google Shape;140;g3ade805e883_0_0" title="Capture d'écran 2025-12-18 17060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65175" y="1322725"/>
            <a:ext cx="6848435" cy="3691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g3ade805e883_0_0"/>
          <p:cNvSpPr txBox="1"/>
          <p:nvPr/>
        </p:nvSpPr>
        <p:spPr>
          <a:xfrm>
            <a:off x="257725" y="1519725"/>
            <a:ext cx="15978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Connecter Atlas à PowerBi</a:t>
            </a:r>
            <a:endParaRPr b="1"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b1965b280a_0_710"/>
          <p:cNvSpPr txBox="1"/>
          <p:nvPr>
            <p:ph type="title"/>
          </p:nvPr>
        </p:nvSpPr>
        <p:spPr>
          <a:xfrm>
            <a:off x="488825" y="61180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9658"/>
              <a:buNone/>
            </a:pPr>
            <a:r>
              <a:rPr lang="fr"/>
              <a:t>Partie 2 - Analyses et visualisation </a:t>
            </a:r>
            <a:endParaRPr/>
          </a:p>
        </p:txBody>
      </p:sp>
      <p:pic>
        <p:nvPicPr>
          <p:cNvPr id="147" name="Google Shape;147;g3b1965b280a_0_710" title="Capture d'écran 2025-12-18 17082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509525"/>
            <a:ext cx="9143997" cy="3633975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g3b1965b280a_0_710"/>
          <p:cNvSpPr txBox="1"/>
          <p:nvPr/>
        </p:nvSpPr>
        <p:spPr>
          <a:xfrm>
            <a:off x="1733700" y="1147000"/>
            <a:ext cx="69441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Copier l’URI et le nom de la DB Atlas dans les informations de connexion PowerBi</a:t>
            </a:r>
            <a:endParaRPr b="1"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b1965b280a_0_718"/>
          <p:cNvSpPr txBox="1"/>
          <p:nvPr>
            <p:ph type="title"/>
          </p:nvPr>
        </p:nvSpPr>
        <p:spPr>
          <a:xfrm>
            <a:off x="488825" y="61180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9658"/>
              <a:buNone/>
            </a:pPr>
            <a:r>
              <a:rPr lang="fr"/>
              <a:t>Partie 2 - Analyses et visualisation </a:t>
            </a:r>
            <a:endParaRPr/>
          </a:p>
        </p:txBody>
      </p:sp>
      <p:pic>
        <p:nvPicPr>
          <p:cNvPr id="154" name="Google Shape;154;g3b1965b280a_0_718" title="Capture d’écran 2025-12-18 19262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1451" y="1147000"/>
            <a:ext cx="7688702" cy="3996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b1965b280a_0_727"/>
          <p:cNvSpPr txBox="1"/>
          <p:nvPr>
            <p:ph type="title"/>
          </p:nvPr>
        </p:nvSpPr>
        <p:spPr>
          <a:xfrm>
            <a:off x="727650" y="670125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9658"/>
              <a:buNone/>
            </a:pPr>
            <a:r>
              <a:rPr lang="fr"/>
              <a:t>Partie 3 - Replication et arbitrage</a:t>
            </a:r>
            <a:endParaRPr/>
          </a:p>
        </p:txBody>
      </p:sp>
      <p:pic>
        <p:nvPicPr>
          <p:cNvPr id="160" name="Google Shape;160;g3b1965b280a_0_727" title="299d0a3f-c208-41d9-9c81-26067e3b9c5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29802" y="1252925"/>
            <a:ext cx="5735647" cy="3823775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g3b1965b280a_0_727"/>
          <p:cNvSpPr txBox="1"/>
          <p:nvPr/>
        </p:nvSpPr>
        <p:spPr>
          <a:xfrm>
            <a:off x="305375" y="2242525"/>
            <a:ext cx="22434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/>
              <a:t>Objectif : </a:t>
            </a:r>
            <a:r>
              <a:rPr b="1" lang="fr" sz="1100"/>
              <a:t>protéger les données contre les pannes matérielles et assurer la continuité de service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5"/>
          <p:cNvSpPr txBox="1"/>
          <p:nvPr>
            <p:ph type="title"/>
          </p:nvPr>
        </p:nvSpPr>
        <p:spPr>
          <a:xfrm>
            <a:off x="727650" y="670125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9658"/>
              <a:buNone/>
            </a:pPr>
            <a:r>
              <a:rPr lang="fr"/>
              <a:t>Partie 3 - Replication et arbitrage</a:t>
            </a:r>
            <a:endParaRPr/>
          </a:p>
        </p:txBody>
      </p:sp>
      <p:pic>
        <p:nvPicPr>
          <p:cNvPr id="167" name="Google Shape;167;p5" title="Capture d'écran 2025-12-18 17134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74749" y="1465200"/>
            <a:ext cx="5808049" cy="3397851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5"/>
          <p:cNvSpPr txBox="1"/>
          <p:nvPr/>
        </p:nvSpPr>
        <p:spPr>
          <a:xfrm>
            <a:off x="303025" y="1839825"/>
            <a:ext cx="1946700" cy="19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6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Sur Atlas le replicat set est déjà préconfigurer par défault, il n’y a donc rien à faire.</a:t>
            </a:r>
            <a:endParaRPr sz="16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6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Nous allons donc tester en local</a:t>
            </a:r>
            <a:endParaRPr sz="16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b1aa236cad_0_1"/>
          <p:cNvSpPr txBox="1"/>
          <p:nvPr>
            <p:ph type="title"/>
          </p:nvPr>
        </p:nvSpPr>
        <p:spPr>
          <a:xfrm>
            <a:off x="727650" y="670125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9658"/>
              <a:buNone/>
            </a:pPr>
            <a:r>
              <a:rPr lang="fr"/>
              <a:t>Partie 3 - Replication et arbitrage</a:t>
            </a:r>
            <a:endParaRPr/>
          </a:p>
        </p:txBody>
      </p:sp>
      <p:sp>
        <p:nvSpPr>
          <p:cNvPr id="174" name="Google Shape;174;g3b1aa236cad_0_1"/>
          <p:cNvSpPr txBox="1"/>
          <p:nvPr/>
        </p:nvSpPr>
        <p:spPr>
          <a:xfrm>
            <a:off x="3789325" y="2039275"/>
            <a:ext cx="5307000" cy="27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# Terminal 1</a:t>
            </a:r>
            <a:endParaRPr b="1" sz="9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fr" sz="900">
                <a:solidFill>
                  <a:srgbClr val="666666"/>
                </a:solidFill>
                <a:latin typeface="Lato"/>
                <a:ea typeface="Lato"/>
                <a:cs typeface="Lato"/>
                <a:sym typeface="Lato"/>
              </a:rPr>
              <a:t>mongod --replSet rs0 --port 27050 --dbpath "C:\Users\Ngoc Thao\Desktop\projet_7\mongo-rs\rs1"</a:t>
            </a:r>
            <a:endParaRPr b="1" sz="9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# Terminal 2</a:t>
            </a:r>
            <a:endParaRPr b="1" sz="9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fr" sz="900">
                <a:solidFill>
                  <a:srgbClr val="666666"/>
                </a:solidFill>
                <a:latin typeface="Lato"/>
                <a:ea typeface="Lato"/>
                <a:cs typeface="Lato"/>
                <a:sym typeface="Lato"/>
              </a:rPr>
              <a:t>mongod --replSet rs0 --port 27051 --dbpath "C:\Users\Ngoc Thao\Desktop\projet_7\mongo-rs\rs2"</a:t>
            </a:r>
            <a:endParaRPr b="1" sz="9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# Terminal 3 (arbitre ou secondaire)</a:t>
            </a:r>
            <a:endParaRPr b="1" sz="9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fr" sz="900">
                <a:solidFill>
                  <a:srgbClr val="666666"/>
                </a:solidFill>
                <a:latin typeface="Lato"/>
                <a:ea typeface="Lato"/>
                <a:cs typeface="Lato"/>
                <a:sym typeface="Lato"/>
              </a:rPr>
              <a:t>mongod --replSet rs0 --port 27052 --dbpath "C:\Users\Ngoc Thao\Desktop\projet_7\mongo-rs\rs3"</a:t>
            </a:r>
            <a:endParaRPr sz="9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4ᵉ terminal</a:t>
            </a:r>
            <a:r>
              <a:rPr lang="fr" sz="9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:</a:t>
            </a:r>
            <a:endParaRPr sz="9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fr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mongosh --port 27050</a:t>
            </a:r>
            <a:endParaRPr sz="9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5" name="Google Shape;175;g3b1aa236cad_0_1"/>
          <p:cNvSpPr txBox="1"/>
          <p:nvPr/>
        </p:nvSpPr>
        <p:spPr>
          <a:xfrm>
            <a:off x="669700" y="1519725"/>
            <a:ext cx="65043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Mettre en place les replicats set</a:t>
            </a:r>
            <a:endParaRPr b="1"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6" name="Google Shape;176;g3b1aa236cad_0_1"/>
          <p:cNvSpPr txBox="1"/>
          <p:nvPr/>
        </p:nvSpPr>
        <p:spPr>
          <a:xfrm>
            <a:off x="419900" y="2039275"/>
            <a:ext cx="2825400" cy="13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fr" sz="1100"/>
              <a:t>Utiliser un </a:t>
            </a:r>
            <a:r>
              <a:rPr b="1" lang="fr" sz="1100"/>
              <a:t>Replica Set MongoDB</a:t>
            </a:r>
            <a:br>
              <a:rPr b="1" lang="fr" sz="1100"/>
            </a:br>
            <a:endParaRPr b="1" sz="11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fr" sz="1100"/>
              <a:t>Simuler plusieurs serveurs en local via </a:t>
            </a:r>
            <a:r>
              <a:rPr b="1" lang="fr" sz="1100"/>
              <a:t>ports différents</a:t>
            </a:r>
            <a:br>
              <a:rPr b="1" lang="fr" sz="1100"/>
            </a:br>
            <a:endParaRPr b="1" sz="11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fr" sz="1100"/>
              <a:t>Ajouter un </a:t>
            </a:r>
            <a:r>
              <a:rPr b="1" lang="fr" sz="1100"/>
              <a:t>arbiter</a:t>
            </a:r>
            <a:r>
              <a:rPr lang="fr" sz="1100"/>
              <a:t> pour garantir une majorité de votes</a:t>
            </a:r>
            <a:endParaRPr sz="11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" name="Google Shape;181;g3b1aa236cad_0_33" title="Capture d’écran 2025-12-18 20050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8963" y="1514450"/>
            <a:ext cx="8146075" cy="3189875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g3b1aa236cad_0_33"/>
          <p:cNvSpPr txBox="1"/>
          <p:nvPr>
            <p:ph type="title"/>
          </p:nvPr>
        </p:nvSpPr>
        <p:spPr>
          <a:xfrm>
            <a:off x="727650" y="670125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9658"/>
              <a:buNone/>
            </a:pPr>
            <a:r>
              <a:rPr lang="fr"/>
              <a:t>Partie 3 - Replication et arbitrage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b1965b280a_0_742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initialiser le replicatset et l’arbitreur</a:t>
            </a:r>
            <a:endParaRPr/>
          </a:p>
        </p:txBody>
      </p:sp>
      <p:sp>
        <p:nvSpPr>
          <p:cNvPr id="188" name="Google Shape;188;g3b1965b280a_0_742"/>
          <p:cNvSpPr txBox="1"/>
          <p:nvPr>
            <p:ph idx="1" type="body"/>
          </p:nvPr>
        </p:nvSpPr>
        <p:spPr>
          <a:xfrm>
            <a:off x="729450" y="2078875"/>
            <a:ext cx="3613500" cy="269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475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2417">
                <a:solidFill>
                  <a:schemeClr val="dk1"/>
                </a:solidFill>
              </a:rPr>
              <a:t>rs.initiate({</a:t>
            </a:r>
            <a:endParaRPr b="1" sz="2417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lang="fr" sz="2417">
                <a:solidFill>
                  <a:schemeClr val="dk1"/>
                </a:solidFill>
              </a:rPr>
              <a:t>  _id: "rs0",</a:t>
            </a:r>
            <a:endParaRPr b="1" sz="2417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lang="fr" sz="2417">
                <a:solidFill>
                  <a:schemeClr val="dk1"/>
                </a:solidFill>
              </a:rPr>
              <a:t>  members: [</a:t>
            </a:r>
            <a:endParaRPr b="1" sz="2417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lang="fr" sz="2417">
                <a:solidFill>
                  <a:schemeClr val="dk1"/>
                </a:solidFill>
              </a:rPr>
              <a:t>    { _id: 0, host: "localhost:27050" },</a:t>
            </a:r>
            <a:endParaRPr b="1" sz="2417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lang="fr" sz="2417">
                <a:solidFill>
                  <a:schemeClr val="dk1"/>
                </a:solidFill>
              </a:rPr>
              <a:t>    { _id: 1, host: "localhost:27051" },</a:t>
            </a:r>
            <a:endParaRPr b="1" sz="2417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lang="fr" sz="2417">
                <a:solidFill>
                  <a:schemeClr val="dk1"/>
                </a:solidFill>
              </a:rPr>
              <a:t>    { _id: 2, host: "localhost:27052", </a:t>
            </a:r>
            <a:r>
              <a:rPr b="1" lang="fr" sz="2417">
                <a:solidFill>
                  <a:srgbClr val="FF0000"/>
                </a:solidFill>
              </a:rPr>
              <a:t>arbiterOnly: true</a:t>
            </a:r>
            <a:r>
              <a:rPr b="1" lang="fr" sz="2417">
                <a:solidFill>
                  <a:schemeClr val="dk1"/>
                </a:solidFill>
              </a:rPr>
              <a:t> }</a:t>
            </a:r>
            <a:endParaRPr b="1" sz="2417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lang="fr" sz="2417">
                <a:solidFill>
                  <a:schemeClr val="dk1"/>
                </a:solidFill>
              </a:rPr>
              <a:t>  ]</a:t>
            </a:r>
            <a:endParaRPr b="1" sz="2417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lang="fr" sz="2417">
                <a:solidFill>
                  <a:schemeClr val="dk1"/>
                </a:solidFill>
              </a:rPr>
              <a:t>})</a:t>
            </a:r>
            <a:endParaRPr b="1" sz="2417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1" sz="2417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1" sz="2417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400"/>
              </a:spcBef>
              <a:spcAft>
                <a:spcPts val="1200"/>
              </a:spcAft>
              <a:buNone/>
            </a:pPr>
            <a:r>
              <a:t/>
            </a:r>
            <a:endParaRPr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89" name="Google Shape;189;g3b1965b280a_0_742"/>
          <p:cNvSpPr txBox="1"/>
          <p:nvPr>
            <p:ph type="title"/>
          </p:nvPr>
        </p:nvSpPr>
        <p:spPr>
          <a:xfrm>
            <a:off x="727650" y="670125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9658"/>
              <a:buNone/>
            </a:pPr>
            <a:r>
              <a:rPr lang="fr"/>
              <a:t>Partie 3 - Replication et arbitrage</a:t>
            </a:r>
            <a:endParaRPr/>
          </a:p>
        </p:txBody>
      </p:sp>
      <p:sp>
        <p:nvSpPr>
          <p:cNvPr id="190" name="Google Shape;190;g3b1965b280a_0_742"/>
          <p:cNvSpPr txBox="1"/>
          <p:nvPr/>
        </p:nvSpPr>
        <p:spPr>
          <a:xfrm>
            <a:off x="5019450" y="1967175"/>
            <a:ext cx="3000000" cy="15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100"/>
              <a:t>PRIMARY (</a:t>
            </a:r>
            <a:r>
              <a:rPr b="1" lang="fr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localhost:27050</a:t>
            </a:r>
            <a:r>
              <a:rPr b="1" lang="fr" sz="1100"/>
              <a:t>)</a:t>
            </a:r>
            <a:r>
              <a:rPr lang="fr" sz="1100"/>
              <a:t> : c’est là que tu peux écrire des données (insert, update, delete).</a:t>
            </a:r>
            <a:br>
              <a:rPr lang="fr" sz="1100"/>
            </a:b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100"/>
              <a:t>SECONDARY (</a:t>
            </a:r>
            <a:r>
              <a:rPr b="1" lang="fr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localhost:27051</a:t>
            </a:r>
            <a:r>
              <a:rPr b="1" lang="fr" sz="1100"/>
              <a:t>)</a:t>
            </a:r>
            <a:r>
              <a:rPr lang="fr" sz="1100"/>
              <a:t> : lecture possible si tu configures </a:t>
            </a:r>
            <a:r>
              <a:rPr lang="fr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readPreference: secondary</a:t>
            </a:r>
            <a:r>
              <a:rPr lang="fr" sz="1100"/>
              <a:t>, mais les écritures doivent passer par le PRIMARY.</a:t>
            </a:r>
            <a:endParaRPr sz="11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5" name="Google Shape;195;g3b1aa236cad_0_27" title="Capture d’écran 2025-12-18 20035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48800" y="1402325"/>
            <a:ext cx="5914850" cy="3438200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g3b1aa236cad_0_27"/>
          <p:cNvSpPr txBox="1"/>
          <p:nvPr>
            <p:ph type="title"/>
          </p:nvPr>
        </p:nvSpPr>
        <p:spPr>
          <a:xfrm>
            <a:off x="727650" y="670125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9658"/>
              <a:buNone/>
            </a:pPr>
            <a:r>
              <a:rPr lang="fr"/>
              <a:t>Partie 3 - Replication et arbitrage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b34fd1773d_0_21"/>
          <p:cNvSpPr txBox="1"/>
          <p:nvPr>
            <p:ph type="title"/>
          </p:nvPr>
        </p:nvSpPr>
        <p:spPr>
          <a:xfrm>
            <a:off x="729450" y="1318650"/>
            <a:ext cx="7688700" cy="4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fr" sz="1840"/>
              <a:t>Créer une bdd + Collection + Importer les données dans primary</a:t>
            </a:r>
            <a:endParaRPr sz="1840"/>
          </a:p>
        </p:txBody>
      </p:sp>
      <p:sp>
        <p:nvSpPr>
          <p:cNvPr id="202" name="Google Shape;202;g3b34fd1773d_0_21"/>
          <p:cNvSpPr txBox="1"/>
          <p:nvPr>
            <p:ph idx="1" type="body"/>
          </p:nvPr>
        </p:nvSpPr>
        <p:spPr>
          <a:xfrm>
            <a:off x="796250" y="1786350"/>
            <a:ext cx="34608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5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use NosCites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/>
              <a:t>db.createCollection("house_rental")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fr">
                <a:solidFill>
                  <a:schemeClr val="dk2"/>
                </a:solidFill>
              </a:rPr>
              <a:t>Dans un autre terminal</a:t>
            </a:r>
            <a:endParaRPr b="1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fr">
                <a:solidFill>
                  <a:schemeClr val="dk1"/>
                </a:solidFill>
              </a:rPr>
              <a:t>mongoimport --db NosCites --collection house_rental --type csv --headerline --file "C:\Users\Ngoc Thao\Desktop\projet_7\listings.csv" --port 27050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03" name="Google Shape;203;g3b34fd1773d_0_21" title="Capture d’écran 2025-12-23 11052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5138" y="2993850"/>
            <a:ext cx="7797424" cy="1949250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g3b34fd1773d_0_21"/>
          <p:cNvSpPr txBox="1"/>
          <p:nvPr>
            <p:ph type="title"/>
          </p:nvPr>
        </p:nvSpPr>
        <p:spPr>
          <a:xfrm>
            <a:off x="727650" y="670125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9658"/>
              <a:buNone/>
            </a:pPr>
            <a:r>
              <a:rPr lang="fr"/>
              <a:t>Partie 3 - Replication et arbitrage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Google Shape;209;g3b34fd1773d_0_38" title="Capture d’écran 2025-12-23 11073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44400" y="1201148"/>
            <a:ext cx="4455451" cy="3844526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g3b34fd1773d_0_38"/>
          <p:cNvSpPr txBox="1"/>
          <p:nvPr>
            <p:ph type="title"/>
          </p:nvPr>
        </p:nvSpPr>
        <p:spPr>
          <a:xfrm>
            <a:off x="727650" y="670125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9658"/>
              <a:buNone/>
            </a:pPr>
            <a:r>
              <a:rPr lang="fr"/>
              <a:t>Partie 3 - Replication et arbitrage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b34fd1773d_0_4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Vérifier si le secondary marche bien</a:t>
            </a:r>
            <a:endParaRPr/>
          </a:p>
        </p:txBody>
      </p:sp>
      <p:sp>
        <p:nvSpPr>
          <p:cNvPr id="216" name="Google Shape;216;g3b34fd1773d_0_45"/>
          <p:cNvSpPr txBox="1"/>
          <p:nvPr>
            <p:ph idx="1" type="body"/>
          </p:nvPr>
        </p:nvSpPr>
        <p:spPr>
          <a:xfrm>
            <a:off x="729450" y="2078875"/>
            <a:ext cx="32220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>
                <a:solidFill>
                  <a:schemeClr val="dk1"/>
                </a:solidFill>
              </a:rPr>
              <a:t>mongosh --port 27051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fr">
                <a:solidFill>
                  <a:schemeClr val="dk1"/>
                </a:solidFill>
              </a:rPr>
              <a:t>db.getMongo().setReadPref('secondary')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fr">
                <a:solidFill>
                  <a:schemeClr val="dk1"/>
                </a:solidFill>
              </a:rPr>
              <a:t>use NosCites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fr">
                <a:solidFill>
                  <a:schemeClr val="dk1"/>
                </a:solidFill>
              </a:rPr>
              <a:t>db.house_rental.find().pretty()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</p:txBody>
      </p:sp>
      <p:sp>
        <p:nvSpPr>
          <p:cNvPr id="217" name="Google Shape;217;g3b34fd1773d_0_45"/>
          <p:cNvSpPr txBox="1"/>
          <p:nvPr>
            <p:ph type="title"/>
          </p:nvPr>
        </p:nvSpPr>
        <p:spPr>
          <a:xfrm>
            <a:off x="727650" y="670125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9658"/>
              <a:buNone/>
            </a:pPr>
            <a:r>
              <a:rPr lang="fr"/>
              <a:t>Partie 3 - Replication et arbitrage</a:t>
            </a:r>
            <a:endParaRPr/>
          </a:p>
        </p:txBody>
      </p:sp>
      <p:pic>
        <p:nvPicPr>
          <p:cNvPr id="218" name="Google Shape;218;g3b34fd1773d_0_45" title="Capture d’écran 2025-12-23 11122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47375" y="1853850"/>
            <a:ext cx="3932309" cy="31562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b1965b280a_0_22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Petit test pour voir si la replication marche bien</a:t>
            </a:r>
            <a:endParaRPr/>
          </a:p>
        </p:txBody>
      </p:sp>
      <p:sp>
        <p:nvSpPr>
          <p:cNvPr id="224" name="Google Shape;224;g3b1965b280a_0_22"/>
          <p:cNvSpPr txBox="1"/>
          <p:nvPr>
            <p:ph type="title"/>
          </p:nvPr>
        </p:nvSpPr>
        <p:spPr>
          <a:xfrm>
            <a:off x="727650" y="670125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9658"/>
              <a:buNone/>
            </a:pPr>
            <a:r>
              <a:rPr lang="fr"/>
              <a:t>Partie 3 - Replication et arbitrage</a:t>
            </a:r>
            <a:endParaRPr/>
          </a:p>
        </p:txBody>
      </p:sp>
      <p:pic>
        <p:nvPicPr>
          <p:cNvPr id="225" name="Google Shape;225;g3b1965b280a_0_22" title="Capture d’écran 2025-12-23 11145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91560" y="1986724"/>
            <a:ext cx="5493616" cy="1396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g3b1965b280a_0_22" title="Capture d’écran 2025-12-23 11151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3725" y="3515775"/>
            <a:ext cx="5543875" cy="1396175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g3b1965b280a_0_22"/>
          <p:cNvSpPr txBox="1"/>
          <p:nvPr/>
        </p:nvSpPr>
        <p:spPr>
          <a:xfrm>
            <a:off x="859775" y="2218650"/>
            <a:ext cx="2337900" cy="7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Dans primary on </a:t>
            </a:r>
            <a:r>
              <a:rPr lang="fr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insère</a:t>
            </a:r>
            <a:r>
              <a:rPr lang="fr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 un nouveau document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28" name="Google Shape;228;g3b1965b280a_0_22"/>
          <p:cNvSpPr txBox="1"/>
          <p:nvPr/>
        </p:nvSpPr>
        <p:spPr>
          <a:xfrm>
            <a:off x="6080250" y="3773825"/>
            <a:ext cx="2490000" cy="7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Dans secondary on regarde si la </a:t>
            </a:r>
            <a:r>
              <a:rPr lang="fr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réplication</a:t>
            </a:r>
            <a:r>
              <a:rPr lang="fr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 a bien fonctionné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b34fd1773d_0_6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lang="fr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Connexion à un outil de BI</a:t>
            </a:r>
            <a:endParaRPr/>
          </a:p>
        </p:txBody>
      </p:sp>
      <p:sp>
        <p:nvSpPr>
          <p:cNvPr id="234" name="Google Shape;234;g3b34fd1773d_0_69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Utiliser la chaîne de connexion MongoDB:</a:t>
            </a:r>
            <a:br>
              <a:rPr lang="fr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 sz="15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mongodb://localhost:27050,localhost:27051/?replicaSet=rs0</a:t>
            </a:r>
            <a:endParaRPr sz="15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235" name="Google Shape;235;g3b34fd1773d_0_69"/>
          <p:cNvSpPr txBox="1"/>
          <p:nvPr>
            <p:ph type="title"/>
          </p:nvPr>
        </p:nvSpPr>
        <p:spPr>
          <a:xfrm>
            <a:off x="727650" y="670125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9658"/>
              <a:buNone/>
            </a:pPr>
            <a:r>
              <a:rPr lang="fr"/>
              <a:t>Partie 3 - Replication et arbitrage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40" name="Google Shape;240;g3b34fd1773d_0_59"/>
          <p:cNvGraphicFramePr/>
          <p:nvPr/>
        </p:nvGraphicFramePr>
        <p:xfrm>
          <a:off x="1849513" y="14907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{E4F9A3DD-7480-463F-928C-EFB626A4946F}</a:tableStyleId>
              </a:tblPr>
              <a:tblGrid>
                <a:gridCol w="745975"/>
                <a:gridCol w="1019950"/>
                <a:gridCol w="833925"/>
                <a:gridCol w="2845125"/>
              </a:tblGrid>
              <a:tr h="3929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" sz="800"/>
                        <a:t>Étape</a:t>
                      </a:r>
                      <a:endParaRPr b="1" sz="800"/>
                    </a:p>
                  </a:txBody>
                  <a:tcPr marT="91425" marB="91425" marR="91425" marL="91425"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" sz="800"/>
                        <a:t>Description</a:t>
                      </a:r>
                      <a:endParaRPr b="1" sz="800"/>
                    </a:p>
                  </a:txBody>
                  <a:tcPr marT="91425" marB="91425" marR="91425" marL="91425"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" sz="800"/>
                        <a:t>Port / Instance</a:t>
                      </a:r>
                      <a:endParaRPr b="1" sz="800"/>
                    </a:p>
                  </a:txBody>
                  <a:tcPr marT="91425" marB="91425" marR="91425" marL="91425"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" sz="800"/>
                        <a:t>Rôle</a:t>
                      </a:r>
                      <a:endParaRPr b="1" sz="800"/>
                    </a:p>
                  </a:txBody>
                  <a:tcPr marT="91425" marB="91425" marR="91425" marL="91425"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434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800"/>
                        <a:t>1</a:t>
                      </a:r>
                      <a:endParaRPr sz="8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800"/>
                        <a:t>Démarrage PRIMARY</a:t>
                      </a:r>
                      <a:endParaRPr sz="8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800"/>
                        <a:t>27050</a:t>
                      </a:r>
                      <a:endParaRPr sz="8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800"/>
                        <a:t>Stocke les données, vote</a:t>
                      </a:r>
                      <a:endParaRPr sz="8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4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800"/>
                        <a:t>2</a:t>
                      </a:r>
                      <a:endParaRPr sz="8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800"/>
                        <a:t>Démarrage SECONDARY</a:t>
                      </a:r>
                      <a:endParaRPr sz="8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800"/>
                        <a:t>27051</a:t>
                      </a:r>
                      <a:endParaRPr sz="8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800"/>
                        <a:t>Réplique les données, vote</a:t>
                      </a:r>
                      <a:endParaRPr sz="8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4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800"/>
                        <a:t>3</a:t>
                      </a:r>
                      <a:endParaRPr sz="8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800"/>
                        <a:t>Démarrage ARBITER</a:t>
                      </a:r>
                      <a:endParaRPr sz="8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800"/>
                        <a:t>27052</a:t>
                      </a:r>
                      <a:endParaRPr sz="8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800"/>
                        <a:t>Vote pour quorum, pas de données</a:t>
                      </a:r>
                      <a:endParaRPr sz="8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4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800"/>
                        <a:t>4</a:t>
                      </a:r>
                      <a:endParaRPr sz="8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800"/>
                        <a:t>Insertion de données</a:t>
                      </a:r>
                      <a:endParaRPr sz="8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800"/>
                        <a:t>27050</a:t>
                      </a:r>
                      <a:endParaRPr sz="8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800"/>
                        <a:t>PRIMARY reçoit l’insert, répliqué sur SECONDARY</a:t>
                      </a:r>
                      <a:endParaRPr sz="8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4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800"/>
                        <a:t>5</a:t>
                      </a:r>
                      <a:endParaRPr sz="8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800"/>
                        <a:t>Vérification réplication</a:t>
                      </a:r>
                      <a:endParaRPr sz="8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800"/>
                        <a:t>27051</a:t>
                      </a:r>
                      <a:endParaRPr sz="8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800"/>
                        <a:t>Les données sont identiques</a:t>
                      </a:r>
                      <a:endParaRPr sz="8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4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800"/>
                        <a:t>6</a:t>
                      </a:r>
                      <a:endParaRPr sz="8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800"/>
                        <a:t>Connexion BI</a:t>
                      </a:r>
                      <a:endParaRPr sz="8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800"/>
                        <a:t>27050+27051</a:t>
                      </a:r>
                      <a:endParaRPr sz="8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800"/>
                        <a:t>Lecture/visualisation des données</a:t>
                      </a:r>
                      <a:endParaRPr sz="8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41" name="Google Shape;241;g3b34fd1773d_0_59"/>
          <p:cNvSpPr txBox="1"/>
          <p:nvPr>
            <p:ph type="title"/>
          </p:nvPr>
        </p:nvSpPr>
        <p:spPr>
          <a:xfrm>
            <a:off x="727650" y="670125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9658"/>
              <a:buNone/>
            </a:pPr>
            <a:r>
              <a:rPr lang="fr"/>
              <a:t>Partie 3 - Replication et arbitrage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b34fd1773d_0_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Sharding</a:t>
            </a:r>
            <a:endParaRPr/>
          </a:p>
        </p:txBody>
      </p:sp>
      <p:sp>
        <p:nvSpPr>
          <p:cNvPr id="247" name="Google Shape;247;g3b34fd1773d_0_6"/>
          <p:cNvSpPr txBox="1"/>
          <p:nvPr>
            <p:ph type="title"/>
          </p:nvPr>
        </p:nvSpPr>
        <p:spPr>
          <a:xfrm>
            <a:off x="727650" y="670125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9658"/>
              <a:buNone/>
            </a:pPr>
            <a:r>
              <a:rPr lang="fr"/>
              <a:t>Partie 3 - Sharding</a:t>
            </a:r>
            <a:endParaRPr/>
          </a:p>
        </p:txBody>
      </p:sp>
      <p:pic>
        <p:nvPicPr>
          <p:cNvPr id="248" name="Google Shape;248;g3b34fd1773d_0_6" title="deepseek_mermaid_20251223_2f440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96725" y="1318650"/>
            <a:ext cx="5647273" cy="3198651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g3b34fd1773d_0_6"/>
          <p:cNvSpPr txBox="1"/>
          <p:nvPr/>
        </p:nvSpPr>
        <p:spPr>
          <a:xfrm>
            <a:off x="199300" y="1853850"/>
            <a:ext cx="3000000" cy="3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fr" sz="1100"/>
              <a:t>Un </a:t>
            </a:r>
            <a:r>
              <a:rPr b="1" lang="fr" sz="1100"/>
              <a:t>ReplicaSet</a:t>
            </a:r>
            <a:r>
              <a:rPr lang="fr" sz="1100"/>
              <a:t> est un groupe de serveurs MongoDB qui répliquent les mêmes données pour assurer la haute disponibilité, avec un </a:t>
            </a:r>
            <a:r>
              <a:rPr b="1" lang="fr" sz="1100"/>
              <a:t>PRIMARY</a:t>
            </a:r>
            <a:r>
              <a:rPr lang="fr" sz="1100"/>
              <a:t> pour les écritures, des </a:t>
            </a:r>
            <a:r>
              <a:rPr b="1" lang="fr" sz="1100"/>
              <a:t>SECONDARY</a:t>
            </a:r>
            <a:r>
              <a:rPr lang="fr" sz="1100"/>
              <a:t> pour la réplication et parfois un </a:t>
            </a:r>
            <a:r>
              <a:rPr b="1" lang="fr" sz="1100"/>
              <a:t>ARBITER</a:t>
            </a:r>
            <a:r>
              <a:rPr lang="fr" sz="1100"/>
              <a:t> pour les votes.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br>
              <a:rPr lang="fr" sz="1100"/>
            </a:br>
            <a:r>
              <a:rPr lang="fr" sz="1100"/>
              <a:t> Dans un cluster shardé, MongoDB utilise un </a:t>
            </a:r>
            <a:r>
              <a:rPr b="1" lang="fr" sz="1100"/>
              <a:t>Config Server ReplicaSet (CSRS)</a:t>
            </a:r>
            <a:r>
              <a:rPr lang="fr" sz="1100"/>
              <a:t> qui ne stocke pas les données métier mais uniquement les métadonnées du sharding (répartition des bases, collections et chunks).</a:t>
            </a:r>
            <a:br>
              <a:rPr lang="fr" sz="1100"/>
            </a:br>
            <a:r>
              <a:rPr lang="fr" sz="1100"/>
              <a:t> Le </a:t>
            </a:r>
            <a:r>
              <a:rPr b="1" lang="fr" sz="1100"/>
              <a:t>CSRS</a:t>
            </a:r>
            <a:r>
              <a:rPr lang="fr" sz="1100"/>
              <a:t> doit contenir au minimum </a:t>
            </a:r>
            <a:r>
              <a:rPr b="1" lang="fr" sz="1100"/>
              <a:t>3 config servers</a:t>
            </a:r>
            <a:r>
              <a:rPr lang="fr" sz="1100"/>
              <a:t> afin de garantir la tolérance aux pannes et la cohérence du cluster.</a:t>
            </a:r>
            <a:endParaRPr sz="11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3b34fd1773d_0_78"/>
          <p:cNvSpPr txBox="1"/>
          <p:nvPr>
            <p:ph type="title"/>
          </p:nvPr>
        </p:nvSpPr>
        <p:spPr>
          <a:xfrm>
            <a:off x="729450" y="14907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fr"/>
              <a:t>Serveurs pour données de Paris</a:t>
            </a:r>
            <a:endParaRPr/>
          </a:p>
        </p:txBody>
      </p:sp>
      <p:sp>
        <p:nvSpPr>
          <p:cNvPr id="255" name="Google Shape;255;g3b34fd1773d_0_78"/>
          <p:cNvSpPr txBox="1"/>
          <p:nvPr>
            <p:ph idx="1" type="body"/>
          </p:nvPr>
        </p:nvSpPr>
        <p:spPr>
          <a:xfrm>
            <a:off x="492450" y="2069325"/>
            <a:ext cx="11586000" cy="2949600"/>
          </a:xfrm>
          <a:prstGeom prst="rect">
            <a:avLst/>
          </a:prstGeom>
          <a:ln cap="flat" cmpd="sng" w="9525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fr" sz="15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Terminal 1 - rs0 Primaire (port 27050)</a:t>
            </a:r>
            <a:endParaRPr b="1" sz="15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fr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mongod --replSet rs0 </a:t>
            </a:r>
            <a:r>
              <a:rPr b="1" lang="fr" sz="1500">
                <a:solidFill>
                  <a:srgbClr val="980000"/>
                </a:solidFill>
                <a:latin typeface="Roboto"/>
                <a:ea typeface="Roboto"/>
                <a:cs typeface="Roboto"/>
                <a:sym typeface="Roboto"/>
              </a:rPr>
              <a:t>--shardsvr </a:t>
            </a:r>
            <a:r>
              <a:rPr b="1" lang="fr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--port 27050 --dbpath "C:\Users\Ngoc Thao\Desktop\projet_7\mongo-shard\rs0-1" --bind_ip 127.0.0.1</a:t>
            </a:r>
            <a:endParaRPr b="1"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fr" sz="15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Terminal 2 - rs0 Secondaire (port 27051)</a:t>
            </a:r>
            <a:endParaRPr b="1" sz="15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fr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mongod --replSet rs0 </a:t>
            </a:r>
            <a:r>
              <a:rPr b="1" lang="fr" sz="1500">
                <a:solidFill>
                  <a:srgbClr val="980000"/>
                </a:solidFill>
                <a:latin typeface="Roboto"/>
                <a:ea typeface="Roboto"/>
                <a:cs typeface="Roboto"/>
                <a:sym typeface="Roboto"/>
              </a:rPr>
              <a:t>--shardsvr</a:t>
            </a:r>
            <a:r>
              <a:rPr b="1" lang="fr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--port 27051 --dbpath "C:\Users\Ngoc Thao\Desktop\projet_7\mongo-shard\rs0-2" --bind_ip 127.0.0.1</a:t>
            </a:r>
            <a:endParaRPr b="1"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fr" sz="15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Terminal 3 - rs0 Arbitre (port 27052)</a:t>
            </a:r>
            <a:endParaRPr b="1" sz="15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fr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mongod --replSet rs0 </a:t>
            </a:r>
            <a:r>
              <a:rPr b="1" lang="fr" sz="1500">
                <a:solidFill>
                  <a:srgbClr val="980000"/>
                </a:solidFill>
                <a:latin typeface="Roboto"/>
                <a:ea typeface="Roboto"/>
                <a:cs typeface="Roboto"/>
                <a:sym typeface="Roboto"/>
              </a:rPr>
              <a:t>--shardsvr</a:t>
            </a:r>
            <a:r>
              <a:rPr b="1" lang="fr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--port 27052 --dbpath "C:\Users\Ngoc Thao\Desktop\projet_7\mongo-shard\rs0-3" --bind_ip 127.0.0.1</a:t>
            </a:r>
            <a:endParaRPr b="1" sz="1500">
              <a:solidFill>
                <a:srgbClr val="98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6" name="Google Shape;256;g3b34fd1773d_0_78"/>
          <p:cNvSpPr txBox="1"/>
          <p:nvPr>
            <p:ph type="title"/>
          </p:nvPr>
        </p:nvSpPr>
        <p:spPr>
          <a:xfrm>
            <a:off x="727650" y="670125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9658"/>
              <a:buNone/>
            </a:pPr>
            <a:r>
              <a:rPr lang="fr"/>
              <a:t>Partie 3 - Sharding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3b35dfe2504_0_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Serveurs pour données de Lyon</a:t>
            </a:r>
            <a:endParaRPr/>
          </a:p>
        </p:txBody>
      </p:sp>
      <p:sp>
        <p:nvSpPr>
          <p:cNvPr id="262" name="Google Shape;262;g3b35dfe2504_0_5"/>
          <p:cNvSpPr txBox="1"/>
          <p:nvPr>
            <p:ph idx="1" type="body"/>
          </p:nvPr>
        </p:nvSpPr>
        <p:spPr>
          <a:xfrm>
            <a:off x="672450" y="1853850"/>
            <a:ext cx="8304300" cy="331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358"/>
              <a:buNone/>
            </a:pPr>
            <a:r>
              <a:rPr b="1" lang="fr" sz="1222">
                <a:solidFill>
                  <a:schemeClr val="dk2"/>
                </a:solidFill>
              </a:rPr>
              <a:t>Terminal 4 - rs1 Primaire (port 27053)</a:t>
            </a:r>
            <a:endParaRPr b="1" sz="1222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fr" sz="1222">
                <a:solidFill>
                  <a:schemeClr val="dk1"/>
                </a:solidFill>
              </a:rPr>
              <a:t>mongod --replSet rs1 </a:t>
            </a:r>
            <a:r>
              <a:rPr b="1" lang="fr" sz="1222">
                <a:solidFill>
                  <a:srgbClr val="980000"/>
                </a:solidFill>
              </a:rPr>
              <a:t>--shardsvr</a:t>
            </a:r>
            <a:r>
              <a:rPr b="1" lang="fr" sz="1222">
                <a:solidFill>
                  <a:schemeClr val="dk1"/>
                </a:solidFill>
              </a:rPr>
              <a:t> --port 27053 --dbpath "C:\Users\Ngoc Thao\Desktop\projet_7\mongo-shard\rs1-1" --bind_ip 127.0.0.1</a:t>
            </a:r>
            <a:endParaRPr b="1" sz="1222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358"/>
              <a:buNone/>
            </a:pPr>
            <a:r>
              <a:rPr b="1" lang="fr" sz="1222">
                <a:solidFill>
                  <a:schemeClr val="dk2"/>
                </a:solidFill>
              </a:rPr>
              <a:t>Terminal 5 - rs1 Secondaire (port 27054)</a:t>
            </a:r>
            <a:endParaRPr b="1" sz="1222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fr" sz="1222">
                <a:solidFill>
                  <a:schemeClr val="dk1"/>
                </a:solidFill>
              </a:rPr>
              <a:t>mongod --replSet rs1 </a:t>
            </a:r>
            <a:r>
              <a:rPr b="1" lang="fr" sz="1222">
                <a:solidFill>
                  <a:srgbClr val="980000"/>
                </a:solidFill>
              </a:rPr>
              <a:t>--shardsvr </a:t>
            </a:r>
            <a:r>
              <a:rPr b="1" lang="fr" sz="1222">
                <a:solidFill>
                  <a:schemeClr val="dk1"/>
                </a:solidFill>
              </a:rPr>
              <a:t>--port 27054 --dbpath "C:\Users\Ngoc Thao\Desktop\projet_7\mongo-shard\rs1-2" --bind_ip 127.0.0.1</a:t>
            </a:r>
            <a:endParaRPr b="1" sz="1222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358"/>
              <a:buNone/>
            </a:pPr>
            <a:r>
              <a:rPr b="1" lang="fr" sz="1222">
                <a:solidFill>
                  <a:schemeClr val="dk2"/>
                </a:solidFill>
              </a:rPr>
              <a:t>Terminal 6 - rs1 Arbitre (port 27055)</a:t>
            </a:r>
            <a:endParaRPr b="1" sz="1222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fr" sz="1222">
                <a:solidFill>
                  <a:schemeClr val="dk1"/>
                </a:solidFill>
              </a:rPr>
              <a:t>mongod --replSet rs1 </a:t>
            </a:r>
            <a:r>
              <a:rPr b="1" lang="fr" sz="1222">
                <a:solidFill>
                  <a:srgbClr val="980000"/>
                </a:solidFill>
              </a:rPr>
              <a:t>--shardsvr </a:t>
            </a:r>
            <a:r>
              <a:rPr b="1" lang="fr" sz="1222">
                <a:solidFill>
                  <a:schemeClr val="dk1"/>
                </a:solidFill>
              </a:rPr>
              <a:t>--port 27055 --dbpath "C:\Users\Ngoc Thao\Desktop\projet_7\mongo-shard\rs1-3" --bind_ip 127.0.0.1</a:t>
            </a:r>
            <a:endParaRPr b="1" sz="1222">
              <a:solidFill>
                <a:schemeClr val="dk1"/>
              </a:solidFill>
            </a:endParaRPr>
          </a:p>
        </p:txBody>
      </p:sp>
      <p:sp>
        <p:nvSpPr>
          <p:cNvPr id="263" name="Google Shape;263;g3b35dfe2504_0_5"/>
          <p:cNvSpPr txBox="1"/>
          <p:nvPr>
            <p:ph type="title"/>
          </p:nvPr>
        </p:nvSpPr>
        <p:spPr>
          <a:xfrm>
            <a:off x="727650" y="670125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9658"/>
              <a:buNone/>
            </a:pPr>
            <a:r>
              <a:rPr lang="fr"/>
              <a:t>Partie 3 - Sharding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b35dfe2504_0_12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Serveurs de configuration du sharding</a:t>
            </a:r>
            <a:endParaRPr/>
          </a:p>
        </p:txBody>
      </p:sp>
      <p:sp>
        <p:nvSpPr>
          <p:cNvPr id="269" name="Google Shape;269;g3b35dfe2504_0_12"/>
          <p:cNvSpPr txBox="1"/>
          <p:nvPr>
            <p:ph idx="1" type="body"/>
          </p:nvPr>
        </p:nvSpPr>
        <p:spPr>
          <a:xfrm>
            <a:off x="497425" y="2078875"/>
            <a:ext cx="8262300" cy="296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fr">
                <a:solidFill>
                  <a:schemeClr val="dk2"/>
                </a:solidFill>
              </a:rPr>
              <a:t>Terminal 7 - Config Server 1 (port 27060)</a:t>
            </a:r>
            <a:endParaRPr b="1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fr">
                <a:solidFill>
                  <a:schemeClr val="dk1"/>
                </a:solidFill>
              </a:rPr>
              <a:t>mongod </a:t>
            </a:r>
            <a:r>
              <a:rPr b="1" lang="fr">
                <a:solidFill>
                  <a:srgbClr val="980000"/>
                </a:solidFill>
              </a:rPr>
              <a:t>--configsvr</a:t>
            </a:r>
            <a:r>
              <a:rPr b="1" lang="fr">
                <a:solidFill>
                  <a:schemeClr val="dk1"/>
                </a:solidFill>
              </a:rPr>
              <a:t> --replSet csrs --port 27060 --dbpath "C:\Users\Ngoc Thao\Desktop\projet_7\mongo-shard\cs1" --bind_ip 127.0.0.1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fr">
                <a:solidFill>
                  <a:schemeClr val="dk2"/>
                </a:solidFill>
              </a:rPr>
              <a:t>Terminal 8 - Config Server 2 (port 27061)</a:t>
            </a:r>
            <a:endParaRPr b="1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fr">
                <a:solidFill>
                  <a:schemeClr val="dk1"/>
                </a:solidFill>
              </a:rPr>
              <a:t>mongod -</a:t>
            </a:r>
            <a:r>
              <a:rPr b="1" lang="fr">
                <a:solidFill>
                  <a:srgbClr val="980000"/>
                </a:solidFill>
              </a:rPr>
              <a:t>-configsvr</a:t>
            </a:r>
            <a:r>
              <a:rPr b="1" lang="fr">
                <a:solidFill>
                  <a:schemeClr val="dk1"/>
                </a:solidFill>
              </a:rPr>
              <a:t> --replSet csrs --port 27061 --dbpath "C:\Users\Ngoc Thao\Desktop\projet_7\mongo-shard\cs2" --bind_ip 127.0.0.1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fr">
                <a:solidFill>
                  <a:schemeClr val="dk2"/>
                </a:solidFill>
              </a:rPr>
              <a:t>Terminal 9 - Config Server 3 (port 27062)</a:t>
            </a:r>
            <a:endParaRPr b="1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fr">
                <a:solidFill>
                  <a:schemeClr val="dk1"/>
                </a:solidFill>
              </a:rPr>
              <a:t>mongod </a:t>
            </a:r>
            <a:r>
              <a:rPr b="1" lang="fr">
                <a:solidFill>
                  <a:srgbClr val="980000"/>
                </a:solidFill>
              </a:rPr>
              <a:t>--configsvr </a:t>
            </a:r>
            <a:r>
              <a:rPr b="1" lang="fr">
                <a:solidFill>
                  <a:schemeClr val="dk1"/>
                </a:solidFill>
              </a:rPr>
              <a:t>--replSet csrs --port 27062 --dbpath "C:\Users\Ngoc Thao\Desktop\projet_7\mongo-shard\cs3" --bind_ip 127.0.0.1</a:t>
            </a:r>
            <a:endParaRPr b="1">
              <a:solidFill>
                <a:schemeClr val="dk1"/>
              </a:solidFill>
            </a:endParaRPr>
          </a:p>
        </p:txBody>
      </p:sp>
      <p:sp>
        <p:nvSpPr>
          <p:cNvPr id="270" name="Google Shape;270;g3b35dfe2504_0_12"/>
          <p:cNvSpPr txBox="1"/>
          <p:nvPr>
            <p:ph type="title"/>
          </p:nvPr>
        </p:nvSpPr>
        <p:spPr>
          <a:xfrm>
            <a:off x="727650" y="670125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9658"/>
              <a:buNone/>
            </a:pPr>
            <a:r>
              <a:rPr lang="fr"/>
              <a:t>Partie 3 - Sharding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3b35dfe2504_0_1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Connexion aux serveurs primaires</a:t>
            </a:r>
            <a:endParaRPr/>
          </a:p>
        </p:txBody>
      </p:sp>
      <p:sp>
        <p:nvSpPr>
          <p:cNvPr id="276" name="Google Shape;276;g3b35dfe2504_0_19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fr" sz="21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mongosh --port 27050</a:t>
            </a:r>
            <a:endParaRPr sz="21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fr" sz="21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mongosh --port 27053</a:t>
            </a:r>
            <a:endParaRPr sz="21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fr" sz="21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mongosh --port 27060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5000"/>
              </a:lnSpc>
              <a:spcBef>
                <a:spcPts val="1200"/>
              </a:spcBef>
              <a:spcAft>
                <a:spcPts val="90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77" name="Google Shape;277;g3b35dfe2504_0_19"/>
          <p:cNvSpPr txBox="1"/>
          <p:nvPr>
            <p:ph type="title"/>
          </p:nvPr>
        </p:nvSpPr>
        <p:spPr>
          <a:xfrm>
            <a:off x="727650" y="670125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9658"/>
              <a:buNone/>
            </a:pPr>
            <a:r>
              <a:rPr lang="fr"/>
              <a:t>Partie 3 - Sharding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3b35dfe2504_0_2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Initialisation du replicat</a:t>
            </a:r>
            <a:endParaRPr/>
          </a:p>
        </p:txBody>
      </p:sp>
      <p:sp>
        <p:nvSpPr>
          <p:cNvPr id="283" name="Google Shape;283;g3b35dfe2504_0_25"/>
          <p:cNvSpPr txBox="1"/>
          <p:nvPr>
            <p:ph idx="1" type="body"/>
          </p:nvPr>
        </p:nvSpPr>
        <p:spPr>
          <a:xfrm>
            <a:off x="350900" y="2030025"/>
            <a:ext cx="4024800" cy="384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rs.initiate({</a:t>
            </a:r>
            <a:endParaRPr sz="12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 sz="12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_id: "rs0",</a:t>
            </a:r>
            <a:endParaRPr sz="12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 sz="12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members: [</a:t>
            </a:r>
            <a:endParaRPr sz="12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 sz="12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 { _id: 0, host: "127.0.0.1:27050", priority: 2 },</a:t>
            </a:r>
            <a:endParaRPr sz="12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 sz="12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 { _id: 1, host: "127.0.0.1:27051", priority: 1 },</a:t>
            </a:r>
            <a:endParaRPr sz="12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 sz="12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 { _id: 2, host: "127.0.0.1:27052"}</a:t>
            </a:r>
            <a:endParaRPr sz="12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 sz="12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]</a:t>
            </a:r>
            <a:endParaRPr sz="12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 sz="12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})</a:t>
            </a:r>
            <a:endParaRPr sz="12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 sz="12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rs.initiate({</a:t>
            </a:r>
            <a:endParaRPr sz="12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 sz="12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_id: "rs0",</a:t>
            </a:r>
            <a:endParaRPr sz="12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 sz="12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members: [</a:t>
            </a:r>
            <a:endParaRPr sz="12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 sz="12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 { _id: 0, host: "127.0.0.1:27050", priority: 2 },</a:t>
            </a:r>
            <a:endParaRPr sz="12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 sz="12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 { _id: 1, host: "127.0.0.1:27051", priority: 1 },</a:t>
            </a:r>
            <a:endParaRPr sz="12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 sz="12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 { _id: 2, host: "127.0.0.1:27052", arbiterOnly: true }</a:t>
            </a:r>
            <a:endParaRPr sz="12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 sz="12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]</a:t>
            </a:r>
            <a:endParaRPr sz="12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 sz="12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})</a:t>
            </a:r>
            <a:endParaRPr sz="12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84" name="Google Shape;284;g3b35dfe2504_0_25"/>
          <p:cNvSpPr txBox="1"/>
          <p:nvPr>
            <p:ph idx="1" type="body"/>
          </p:nvPr>
        </p:nvSpPr>
        <p:spPr>
          <a:xfrm>
            <a:off x="4472050" y="2133575"/>
            <a:ext cx="4024800" cy="30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 sz="1200">
                <a:solidFill>
                  <a:srgbClr val="FF9900"/>
                </a:solidFill>
                <a:latin typeface="Roboto Mono"/>
                <a:ea typeface="Roboto Mono"/>
                <a:cs typeface="Roboto Mono"/>
                <a:sym typeface="Roboto Mono"/>
              </a:rPr>
              <a:t>rs.initiate({</a:t>
            </a:r>
            <a:endParaRPr sz="1200">
              <a:solidFill>
                <a:srgbClr val="FF99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 sz="1200">
                <a:solidFill>
                  <a:srgbClr val="FF9900"/>
                </a:solidFill>
                <a:latin typeface="Roboto Mono"/>
                <a:ea typeface="Roboto Mono"/>
                <a:cs typeface="Roboto Mono"/>
                <a:sym typeface="Roboto Mono"/>
              </a:rPr>
              <a:t>  _id: "rs1",</a:t>
            </a:r>
            <a:endParaRPr sz="1200">
              <a:solidFill>
                <a:srgbClr val="FF99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 sz="1200">
                <a:solidFill>
                  <a:srgbClr val="FF9900"/>
                </a:solidFill>
                <a:latin typeface="Roboto Mono"/>
                <a:ea typeface="Roboto Mono"/>
                <a:cs typeface="Roboto Mono"/>
                <a:sym typeface="Roboto Mono"/>
              </a:rPr>
              <a:t>  members: [</a:t>
            </a:r>
            <a:endParaRPr sz="1200">
              <a:solidFill>
                <a:srgbClr val="FF99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 sz="1200">
                <a:solidFill>
                  <a:srgbClr val="FF9900"/>
                </a:solidFill>
                <a:latin typeface="Roboto Mono"/>
                <a:ea typeface="Roboto Mono"/>
                <a:cs typeface="Roboto Mono"/>
                <a:sym typeface="Roboto Mono"/>
              </a:rPr>
              <a:t>    { _id: 0, host: "127.0.0.1:27053", </a:t>
            </a:r>
            <a:r>
              <a:rPr lang="fr" sz="1200">
                <a:solidFill>
                  <a:srgbClr val="FF9900"/>
                </a:solidFill>
                <a:latin typeface="Roboto Mono"/>
                <a:ea typeface="Roboto Mono"/>
                <a:cs typeface="Roboto Mono"/>
                <a:sym typeface="Roboto Mono"/>
              </a:rPr>
              <a:t>priority: 2</a:t>
            </a:r>
            <a:r>
              <a:rPr lang="fr" sz="1200">
                <a:solidFill>
                  <a:srgbClr val="FF9900"/>
                </a:solidFill>
                <a:latin typeface="Roboto Mono"/>
                <a:ea typeface="Roboto Mono"/>
                <a:cs typeface="Roboto Mono"/>
                <a:sym typeface="Roboto Mono"/>
              </a:rPr>
              <a:t>},</a:t>
            </a:r>
            <a:endParaRPr sz="1200">
              <a:solidFill>
                <a:srgbClr val="FF99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 sz="1200">
                <a:solidFill>
                  <a:srgbClr val="FF9900"/>
                </a:solidFill>
                <a:latin typeface="Roboto Mono"/>
                <a:ea typeface="Roboto Mono"/>
                <a:cs typeface="Roboto Mono"/>
                <a:sym typeface="Roboto Mono"/>
              </a:rPr>
              <a:t>    { _id: 1, host: "127.0.0.1:27054", </a:t>
            </a:r>
            <a:r>
              <a:rPr lang="fr" sz="1200">
                <a:solidFill>
                  <a:srgbClr val="FF9900"/>
                </a:solidFill>
                <a:latin typeface="Roboto Mono"/>
                <a:ea typeface="Roboto Mono"/>
                <a:cs typeface="Roboto Mono"/>
                <a:sym typeface="Roboto Mono"/>
              </a:rPr>
              <a:t>priority: 1</a:t>
            </a:r>
            <a:r>
              <a:rPr lang="fr" sz="1200">
                <a:solidFill>
                  <a:srgbClr val="FF9900"/>
                </a:solidFill>
                <a:latin typeface="Roboto Mono"/>
                <a:ea typeface="Roboto Mono"/>
                <a:cs typeface="Roboto Mono"/>
                <a:sym typeface="Roboto Mono"/>
              </a:rPr>
              <a:t> },</a:t>
            </a:r>
            <a:endParaRPr sz="1200">
              <a:solidFill>
                <a:srgbClr val="FF99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 sz="1200">
                <a:solidFill>
                  <a:srgbClr val="FF9900"/>
                </a:solidFill>
                <a:latin typeface="Roboto Mono"/>
                <a:ea typeface="Roboto Mono"/>
                <a:cs typeface="Roboto Mono"/>
                <a:sym typeface="Roboto Mono"/>
              </a:rPr>
              <a:t>    { _id: 2, host: "127.0.0.1:27055"}</a:t>
            </a:r>
            <a:endParaRPr sz="1200">
              <a:solidFill>
                <a:srgbClr val="FF99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 sz="1200">
                <a:solidFill>
                  <a:srgbClr val="FF9900"/>
                </a:solidFill>
                <a:latin typeface="Roboto Mono"/>
                <a:ea typeface="Roboto Mono"/>
                <a:cs typeface="Roboto Mono"/>
                <a:sym typeface="Roboto Mono"/>
              </a:rPr>
              <a:t>  ]</a:t>
            </a:r>
            <a:endParaRPr sz="1200">
              <a:solidFill>
                <a:srgbClr val="FF99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6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fr" sz="1200">
                <a:solidFill>
                  <a:srgbClr val="FF9900"/>
                </a:solidFill>
                <a:latin typeface="Roboto Mono"/>
                <a:ea typeface="Roboto Mono"/>
                <a:cs typeface="Roboto Mono"/>
                <a:sym typeface="Roboto Mono"/>
              </a:rPr>
              <a:t>})</a:t>
            </a:r>
            <a:endParaRPr sz="1200">
              <a:solidFill>
                <a:srgbClr val="FF99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 sz="1200">
                <a:solidFill>
                  <a:srgbClr val="FF9900"/>
                </a:solidFill>
                <a:latin typeface="Roboto Mono"/>
                <a:ea typeface="Roboto Mono"/>
                <a:cs typeface="Roboto Mono"/>
                <a:sym typeface="Roboto Mono"/>
              </a:rPr>
              <a:t>rs.initiate({</a:t>
            </a:r>
            <a:endParaRPr sz="1200">
              <a:solidFill>
                <a:srgbClr val="FF99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 sz="1200">
                <a:solidFill>
                  <a:srgbClr val="FF9900"/>
                </a:solidFill>
                <a:latin typeface="Roboto Mono"/>
                <a:ea typeface="Roboto Mono"/>
                <a:cs typeface="Roboto Mono"/>
                <a:sym typeface="Roboto Mono"/>
              </a:rPr>
              <a:t>  _id: "rs1",</a:t>
            </a:r>
            <a:endParaRPr sz="1200">
              <a:solidFill>
                <a:srgbClr val="FF99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 sz="1200">
                <a:solidFill>
                  <a:srgbClr val="FF9900"/>
                </a:solidFill>
                <a:latin typeface="Roboto Mono"/>
                <a:ea typeface="Roboto Mono"/>
                <a:cs typeface="Roboto Mono"/>
                <a:sym typeface="Roboto Mono"/>
              </a:rPr>
              <a:t>  members: [</a:t>
            </a:r>
            <a:endParaRPr sz="1200">
              <a:solidFill>
                <a:srgbClr val="FF99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 sz="1200">
                <a:solidFill>
                  <a:srgbClr val="FF9900"/>
                </a:solidFill>
                <a:latin typeface="Roboto Mono"/>
                <a:ea typeface="Roboto Mono"/>
                <a:cs typeface="Roboto Mono"/>
                <a:sym typeface="Roboto Mono"/>
              </a:rPr>
              <a:t>    { _id: 0, host: "127.0.0.1:27053", priority: 2},</a:t>
            </a:r>
            <a:endParaRPr sz="1200">
              <a:solidFill>
                <a:srgbClr val="FF99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 sz="1200">
                <a:solidFill>
                  <a:srgbClr val="FF9900"/>
                </a:solidFill>
                <a:latin typeface="Roboto Mono"/>
                <a:ea typeface="Roboto Mono"/>
                <a:cs typeface="Roboto Mono"/>
                <a:sym typeface="Roboto Mono"/>
              </a:rPr>
              <a:t>    { _id: 1, host: "127.0.0.1:27054", priority: 1 },</a:t>
            </a:r>
            <a:endParaRPr sz="1200">
              <a:solidFill>
                <a:srgbClr val="FF99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 sz="1200">
                <a:solidFill>
                  <a:srgbClr val="FF9900"/>
                </a:solidFill>
                <a:latin typeface="Roboto Mono"/>
                <a:ea typeface="Roboto Mono"/>
                <a:cs typeface="Roboto Mono"/>
                <a:sym typeface="Roboto Mono"/>
              </a:rPr>
              <a:t>    { _id: 2, host: "127.0.0.1:27055", arbiterOnly: true }</a:t>
            </a:r>
            <a:endParaRPr sz="1200">
              <a:solidFill>
                <a:srgbClr val="FF99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 sz="1200">
                <a:solidFill>
                  <a:srgbClr val="FF9900"/>
                </a:solidFill>
                <a:latin typeface="Roboto Mono"/>
                <a:ea typeface="Roboto Mono"/>
                <a:cs typeface="Roboto Mono"/>
                <a:sym typeface="Roboto Mono"/>
              </a:rPr>
              <a:t>  ]</a:t>
            </a:r>
            <a:endParaRPr sz="1200">
              <a:solidFill>
                <a:srgbClr val="FF99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6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fr" sz="1200">
                <a:solidFill>
                  <a:srgbClr val="FF9900"/>
                </a:solidFill>
                <a:latin typeface="Roboto Mono"/>
                <a:ea typeface="Roboto Mono"/>
                <a:cs typeface="Roboto Mono"/>
                <a:sym typeface="Roboto Mono"/>
              </a:rPr>
              <a:t>})</a:t>
            </a:r>
            <a:endParaRPr sz="1200">
              <a:solidFill>
                <a:srgbClr val="FF99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FF99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200">
              <a:solidFill>
                <a:srgbClr val="FF9900"/>
              </a:solidFill>
            </a:endParaRPr>
          </a:p>
        </p:txBody>
      </p:sp>
      <p:sp>
        <p:nvSpPr>
          <p:cNvPr id="285" name="Google Shape;285;g3b35dfe2504_0_25"/>
          <p:cNvSpPr txBox="1"/>
          <p:nvPr>
            <p:ph type="title"/>
          </p:nvPr>
        </p:nvSpPr>
        <p:spPr>
          <a:xfrm>
            <a:off x="727650" y="670125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9658"/>
              <a:buNone/>
            </a:pPr>
            <a:r>
              <a:rPr lang="fr"/>
              <a:t>Partie 3 - Sharding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3b35dfe2504_0_32"/>
          <p:cNvSpPr txBox="1"/>
          <p:nvPr>
            <p:ph type="title"/>
          </p:nvPr>
        </p:nvSpPr>
        <p:spPr>
          <a:xfrm>
            <a:off x="394850" y="1318650"/>
            <a:ext cx="3516900" cy="54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Faire la même chose pour le serveur de configuration</a:t>
            </a:r>
            <a:endParaRPr/>
          </a:p>
        </p:txBody>
      </p:sp>
      <p:sp>
        <p:nvSpPr>
          <p:cNvPr id="291" name="Google Shape;291;g3b35dfe2504_0_32"/>
          <p:cNvSpPr txBox="1"/>
          <p:nvPr>
            <p:ph idx="1" type="body"/>
          </p:nvPr>
        </p:nvSpPr>
        <p:spPr>
          <a:xfrm>
            <a:off x="4046100" y="1318650"/>
            <a:ext cx="4726200" cy="399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6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fr">
                <a:solidFill>
                  <a:srgbClr val="6CB8E6"/>
                </a:solidFill>
                <a:latin typeface="Roboto Mono"/>
                <a:ea typeface="Roboto Mono"/>
                <a:cs typeface="Roboto Mono"/>
                <a:sym typeface="Roboto Mono"/>
              </a:rPr>
              <a:t>rs.initiate({</a:t>
            </a:r>
            <a:endParaRPr>
              <a:solidFill>
                <a:srgbClr val="6CB8E6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6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fr">
                <a:solidFill>
                  <a:srgbClr val="6CB8E6"/>
                </a:solidFill>
                <a:latin typeface="Roboto Mono"/>
                <a:ea typeface="Roboto Mono"/>
                <a:cs typeface="Roboto Mono"/>
                <a:sym typeface="Roboto Mono"/>
              </a:rPr>
              <a:t>  _id: "csrs",</a:t>
            </a:r>
            <a:endParaRPr>
              <a:solidFill>
                <a:srgbClr val="6CB8E6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6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fr">
                <a:solidFill>
                  <a:srgbClr val="6CB8E6"/>
                </a:solidFill>
                <a:latin typeface="Roboto Mono"/>
                <a:ea typeface="Roboto Mono"/>
                <a:cs typeface="Roboto Mono"/>
                <a:sym typeface="Roboto Mono"/>
              </a:rPr>
              <a:t>  configsvr: true,</a:t>
            </a:r>
            <a:endParaRPr>
              <a:solidFill>
                <a:srgbClr val="6CB8E6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6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fr">
                <a:solidFill>
                  <a:srgbClr val="6CB8E6"/>
                </a:solidFill>
                <a:latin typeface="Roboto Mono"/>
                <a:ea typeface="Roboto Mono"/>
                <a:cs typeface="Roboto Mono"/>
                <a:sym typeface="Roboto Mono"/>
              </a:rPr>
              <a:t>  members: [</a:t>
            </a:r>
            <a:endParaRPr>
              <a:solidFill>
                <a:srgbClr val="6CB8E6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6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fr">
                <a:solidFill>
                  <a:srgbClr val="6CB8E6"/>
                </a:solidFill>
                <a:latin typeface="Roboto Mono"/>
                <a:ea typeface="Roboto Mono"/>
                <a:cs typeface="Roboto Mono"/>
                <a:sym typeface="Roboto Mono"/>
              </a:rPr>
              <a:t>    { _id: 0, host: "127.0.0.1:27060" },</a:t>
            </a:r>
            <a:endParaRPr>
              <a:solidFill>
                <a:srgbClr val="6CB8E6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6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fr">
                <a:solidFill>
                  <a:srgbClr val="6CB8E6"/>
                </a:solidFill>
                <a:latin typeface="Roboto Mono"/>
                <a:ea typeface="Roboto Mono"/>
                <a:cs typeface="Roboto Mono"/>
                <a:sym typeface="Roboto Mono"/>
              </a:rPr>
              <a:t>    { _id: 1, host: "127.0.0.1:27061" },</a:t>
            </a:r>
            <a:endParaRPr>
              <a:solidFill>
                <a:srgbClr val="6CB8E6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6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fr">
                <a:solidFill>
                  <a:srgbClr val="6CB8E6"/>
                </a:solidFill>
                <a:latin typeface="Roboto Mono"/>
                <a:ea typeface="Roboto Mono"/>
                <a:cs typeface="Roboto Mono"/>
                <a:sym typeface="Roboto Mono"/>
              </a:rPr>
              <a:t>    { _id: 2, host: "127.0.0.1:27062" }</a:t>
            </a:r>
            <a:endParaRPr>
              <a:solidFill>
                <a:srgbClr val="6CB8E6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6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fr">
                <a:solidFill>
                  <a:srgbClr val="6CB8E6"/>
                </a:solidFill>
                <a:latin typeface="Roboto Mono"/>
                <a:ea typeface="Roboto Mono"/>
                <a:cs typeface="Roboto Mono"/>
                <a:sym typeface="Roboto Mono"/>
              </a:rPr>
              <a:t>  ]</a:t>
            </a:r>
            <a:endParaRPr>
              <a:solidFill>
                <a:srgbClr val="6CB8E6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6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fr">
                <a:solidFill>
                  <a:srgbClr val="6CB8E6"/>
                </a:solidFill>
                <a:latin typeface="Roboto Mono"/>
                <a:ea typeface="Roboto Mono"/>
                <a:cs typeface="Roboto Mono"/>
                <a:sym typeface="Roboto Mono"/>
              </a:rPr>
              <a:t>})</a:t>
            </a:r>
            <a:endParaRPr>
              <a:solidFill>
                <a:srgbClr val="6CB8E6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6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6CB8E6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65000"/>
              </a:lnSpc>
              <a:spcBef>
                <a:spcPts val="1200"/>
              </a:spcBef>
              <a:spcAft>
                <a:spcPts val="900"/>
              </a:spcAft>
              <a:buNone/>
            </a:pPr>
            <a:r>
              <a:t/>
            </a:r>
            <a:endParaRPr>
              <a:solidFill>
                <a:srgbClr val="6CB8E6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92" name="Google Shape;292;g3b35dfe2504_0_32"/>
          <p:cNvSpPr txBox="1"/>
          <p:nvPr>
            <p:ph type="title"/>
          </p:nvPr>
        </p:nvSpPr>
        <p:spPr>
          <a:xfrm>
            <a:off x="727650" y="670125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9658"/>
              <a:buNone/>
            </a:pPr>
            <a:r>
              <a:rPr lang="fr"/>
              <a:t>Partie 3 - Sharding</a:t>
            </a:r>
            <a:endParaRPr/>
          </a:p>
        </p:txBody>
      </p:sp>
      <p:sp>
        <p:nvSpPr>
          <p:cNvPr id="293" name="Google Shape;293;g3b35dfe2504_0_32"/>
          <p:cNvSpPr txBox="1"/>
          <p:nvPr/>
        </p:nvSpPr>
        <p:spPr>
          <a:xfrm>
            <a:off x="113550" y="3985375"/>
            <a:ext cx="30000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cfg = rs.conf()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cfg.members.find(m =&gt; m.host === "127.0.0.1:27051").priority = 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rs.reconfig(cfg, { force: true })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3b34fd1773d_0_11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Lancer le query router</a:t>
            </a:r>
            <a:endParaRPr/>
          </a:p>
        </p:txBody>
      </p:sp>
      <p:sp>
        <p:nvSpPr>
          <p:cNvPr id="299" name="Google Shape;299;g3b34fd1773d_0_111"/>
          <p:cNvSpPr txBox="1"/>
          <p:nvPr>
            <p:ph idx="1" type="body"/>
          </p:nvPr>
        </p:nvSpPr>
        <p:spPr>
          <a:xfrm>
            <a:off x="729450" y="2078875"/>
            <a:ext cx="8103600" cy="285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6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fr" sz="1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mongos --configdb csrs/127.0.0.1:27060,127.0.0.1:27061,127.0.0.1:27062 --port 27070 --bind_ip 127.0.0.1</a:t>
            </a:r>
            <a:endParaRPr sz="1400"/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lang="fr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C’est par ce port (</a:t>
            </a:r>
            <a:r>
              <a:rPr lang="fr" sz="14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27070</a:t>
            </a:r>
            <a:r>
              <a:rPr lang="fr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 que qu’on </a:t>
            </a:r>
            <a:r>
              <a:rPr lang="fr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interroge</a:t>
            </a:r>
            <a:r>
              <a:rPr lang="fr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le cluster sharded.</a:t>
            </a:r>
            <a:br>
              <a:rPr lang="fr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fr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Le mongos lit les métadonnées du cluster depuis les config servers</a:t>
            </a:r>
            <a:r>
              <a:rPr lang="fr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On s’y connecte : 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65000"/>
              </a:lnSpc>
              <a:spcBef>
                <a:spcPts val="1200"/>
              </a:spcBef>
              <a:spcAft>
                <a:spcPts val="900"/>
              </a:spcAft>
              <a:buNone/>
            </a:pPr>
            <a:r>
              <a:rPr b="1" lang="fr" sz="1559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mongosh --port 27070</a:t>
            </a:r>
            <a:endParaRPr b="1" sz="1959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g3b34fd1773d_0_111"/>
          <p:cNvSpPr txBox="1"/>
          <p:nvPr>
            <p:ph type="title"/>
          </p:nvPr>
        </p:nvSpPr>
        <p:spPr>
          <a:xfrm>
            <a:off x="727650" y="670125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9658"/>
              <a:buNone/>
            </a:pPr>
            <a:r>
              <a:rPr lang="fr"/>
              <a:t>Partie 3 - Sharding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3b34fd1773d_0_11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Ajouter les shards</a:t>
            </a:r>
            <a:endParaRPr/>
          </a:p>
        </p:txBody>
      </p:sp>
      <p:sp>
        <p:nvSpPr>
          <p:cNvPr id="306" name="Google Shape;306;g3b34fd1773d_0_119"/>
          <p:cNvSpPr txBox="1"/>
          <p:nvPr>
            <p:ph idx="1" type="body"/>
          </p:nvPr>
        </p:nvSpPr>
        <p:spPr>
          <a:xfrm>
            <a:off x="727650" y="1853850"/>
            <a:ext cx="7688700" cy="295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fr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use NosCites</a:t>
            </a:r>
            <a:endParaRPr b="1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fr">
                <a:solidFill>
                  <a:schemeClr val="dk2"/>
                </a:solidFill>
              </a:rPr>
              <a:t>Ajouter les shards</a:t>
            </a:r>
            <a:endParaRPr b="1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fr">
                <a:solidFill>
                  <a:schemeClr val="dk1"/>
                </a:solidFill>
              </a:rPr>
              <a:t>sh.addShard("rs0/127.0.0.1:27050,127.0.0.1:27051,127.0.0.1:27052")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fr">
                <a:solidFill>
                  <a:schemeClr val="dk1"/>
                </a:solidFill>
              </a:rPr>
              <a:t>sh.addShard("rs1/</a:t>
            </a:r>
            <a:r>
              <a:rPr b="1" lang="fr">
                <a:solidFill>
                  <a:schemeClr val="dk1"/>
                </a:solidFill>
              </a:rPr>
              <a:t>127.0.0.1</a:t>
            </a:r>
            <a:r>
              <a:rPr b="1" lang="fr">
                <a:solidFill>
                  <a:schemeClr val="dk1"/>
                </a:solidFill>
              </a:rPr>
              <a:t>:27053,</a:t>
            </a:r>
            <a:r>
              <a:rPr b="1" lang="fr">
                <a:solidFill>
                  <a:schemeClr val="dk1"/>
                </a:solidFill>
              </a:rPr>
              <a:t>127.0.0.1</a:t>
            </a:r>
            <a:r>
              <a:rPr b="1" lang="fr">
                <a:solidFill>
                  <a:schemeClr val="dk1"/>
                </a:solidFill>
              </a:rPr>
              <a:t>:27054,</a:t>
            </a:r>
            <a:r>
              <a:rPr b="1" lang="fr">
                <a:solidFill>
                  <a:schemeClr val="dk1"/>
                </a:solidFill>
              </a:rPr>
              <a:t>127.0.0.1</a:t>
            </a:r>
            <a:r>
              <a:rPr b="1" lang="fr">
                <a:solidFill>
                  <a:schemeClr val="dk1"/>
                </a:solidFill>
              </a:rPr>
              <a:t>:27055")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fr">
                <a:solidFill>
                  <a:schemeClr val="dk2"/>
                </a:solidFill>
              </a:rPr>
              <a:t>Activer le sharding pour NosCites</a:t>
            </a:r>
            <a:endParaRPr b="1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fr">
                <a:solidFill>
                  <a:schemeClr val="dk1"/>
                </a:solidFill>
              </a:rPr>
              <a:t>sh.enableSharding("NosCites")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fr">
                <a:solidFill>
                  <a:schemeClr val="dk2"/>
                </a:solidFill>
              </a:rPr>
              <a:t>Faire en sorte que les données sont séparées en fonction de la location </a:t>
            </a:r>
            <a:endParaRPr b="1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65000"/>
              </a:lnSpc>
              <a:spcBef>
                <a:spcPts val="1200"/>
              </a:spcBef>
              <a:spcAft>
                <a:spcPts val="900"/>
              </a:spcAft>
              <a:buNone/>
            </a:pPr>
            <a:r>
              <a:rPr b="1" lang="fr" sz="1324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sh.shardCollection("NosCites.house_rental", { host_location: 1 })</a:t>
            </a:r>
            <a:endParaRPr b="1" sz="1624">
              <a:solidFill>
                <a:schemeClr val="dk1"/>
              </a:solidFill>
            </a:endParaRPr>
          </a:p>
        </p:txBody>
      </p:sp>
      <p:sp>
        <p:nvSpPr>
          <p:cNvPr id="307" name="Google Shape;307;g3b34fd1773d_0_119"/>
          <p:cNvSpPr txBox="1"/>
          <p:nvPr>
            <p:ph type="title"/>
          </p:nvPr>
        </p:nvSpPr>
        <p:spPr>
          <a:xfrm>
            <a:off x="727650" y="670125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9658"/>
              <a:buNone/>
            </a:pPr>
            <a:r>
              <a:rPr lang="fr"/>
              <a:t>Partie 3 - Sharding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3b440537baa_0_72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Splitter les shards pour Paris et Lyon</a:t>
            </a:r>
            <a:endParaRPr/>
          </a:p>
        </p:txBody>
      </p:sp>
      <p:sp>
        <p:nvSpPr>
          <p:cNvPr id="313" name="Google Shape;313;g3b440537baa_0_72"/>
          <p:cNvSpPr txBox="1"/>
          <p:nvPr>
            <p:ph idx="1" type="body"/>
          </p:nvPr>
        </p:nvSpPr>
        <p:spPr>
          <a:xfrm>
            <a:off x="729450" y="2078875"/>
            <a:ext cx="7688700" cy="271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>
                <a:solidFill>
                  <a:schemeClr val="dk2"/>
                </a:solidFill>
              </a:rPr>
              <a:t>// rs1 pour Lyon</a:t>
            </a:r>
            <a:endParaRPr b="1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fr">
                <a:solidFill>
                  <a:schemeClr val="dk1"/>
                </a:solidFill>
              </a:rPr>
              <a:t>sh.splitAt("NosCites.house_rental", { host_location: "Lyon, France" })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fr">
                <a:solidFill>
                  <a:schemeClr val="dk1"/>
                </a:solidFill>
              </a:rPr>
              <a:t>sh.moveChunk("NosCites.house_rental", { host_location: "Lyon, France" }, "rs1")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fr">
                <a:solidFill>
                  <a:schemeClr val="dk2"/>
                </a:solidFill>
              </a:rPr>
              <a:t>// rs0 pour Paris</a:t>
            </a:r>
            <a:endParaRPr b="1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fr">
                <a:solidFill>
                  <a:schemeClr val="dk1"/>
                </a:solidFill>
              </a:rPr>
              <a:t>sh.splitAt("NosCites.house_rental", { host_location: "Paris, France" })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fr">
                <a:solidFill>
                  <a:schemeClr val="dk1"/>
                </a:solidFill>
              </a:rPr>
              <a:t>sh.moveChunk("NosCites.house_rental", { host_location: "Paris, France" }, "rs0")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</p:txBody>
      </p:sp>
      <p:sp>
        <p:nvSpPr>
          <p:cNvPr id="314" name="Google Shape;314;g3b440537baa_0_72"/>
          <p:cNvSpPr txBox="1"/>
          <p:nvPr>
            <p:ph type="title"/>
          </p:nvPr>
        </p:nvSpPr>
        <p:spPr>
          <a:xfrm>
            <a:off x="727650" y="670125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9658"/>
              <a:buNone/>
            </a:pPr>
            <a:r>
              <a:rPr lang="fr"/>
              <a:t>Partie 3 - Sharding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9" name="Google Shape;319;g3b440537baa_0_39" title="Capture d’écran 2026-01-01 19142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7463" y="520800"/>
            <a:ext cx="7449075" cy="4339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4" name="Google Shape;324;g3b440537baa_0_45" title="enable sharding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26450" y="182501"/>
            <a:ext cx="6491078" cy="2571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5" name="Google Shape;325;g3b440537baa_0_45" title="Capture d’écran 2026-01-01 19164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26463" y="3032075"/>
            <a:ext cx="6491074" cy="19420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3b35dfe2504_0_3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Importer les données </a:t>
            </a:r>
            <a:endParaRPr/>
          </a:p>
        </p:txBody>
      </p:sp>
      <p:sp>
        <p:nvSpPr>
          <p:cNvPr id="331" name="Google Shape;331;g3b35dfe2504_0_38"/>
          <p:cNvSpPr txBox="1"/>
          <p:nvPr>
            <p:ph idx="1" type="body"/>
          </p:nvPr>
        </p:nvSpPr>
        <p:spPr>
          <a:xfrm>
            <a:off x="729450" y="2078875"/>
            <a:ext cx="82134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6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fr" sz="14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rPr>
              <a:t>Dans un nouveau terminal :</a:t>
            </a:r>
            <a:endParaRPr b="1" sz="1400">
              <a:solidFill>
                <a:schemeClr val="dk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6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fr" sz="1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mongoimport --db NosCites --collection house_rental --type csv --headerline --file "C:\Users\Ngoc Thao\Desktop\projet_7\listings.csv" --port 27070</a:t>
            </a:r>
            <a:endParaRPr b="1" sz="14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65000"/>
              </a:lnSpc>
              <a:spcBef>
                <a:spcPts val="1200"/>
              </a:spcBef>
              <a:spcAft>
                <a:spcPts val="900"/>
              </a:spcAft>
              <a:buNone/>
            </a:pPr>
            <a:r>
              <a:rPr b="1" lang="fr" sz="1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mongoimport --db NosCites --collection house_rental --type csv --headerline --file "C:\Users\Ngoc Thao\Desktop\projet_7\listings_Lyon.csv" --port 27070</a:t>
            </a:r>
            <a:endParaRPr b="1" sz="14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332" name="Google Shape;332;g3b35dfe2504_0_38"/>
          <p:cNvSpPr txBox="1"/>
          <p:nvPr>
            <p:ph type="title"/>
          </p:nvPr>
        </p:nvSpPr>
        <p:spPr>
          <a:xfrm>
            <a:off x="727650" y="670125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9658"/>
              <a:buNone/>
            </a:pPr>
            <a:r>
              <a:rPr lang="fr"/>
              <a:t>Partie 3 - Sharding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7" name="Google Shape;337;g3b440537baa_0_52" title="import donnée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030575"/>
            <a:ext cx="8839198" cy="26501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3b440537baa_0_66"/>
          <p:cNvSpPr txBox="1"/>
          <p:nvPr>
            <p:ph idx="1" type="body"/>
          </p:nvPr>
        </p:nvSpPr>
        <p:spPr>
          <a:xfrm>
            <a:off x="727650" y="13841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>
                <a:solidFill>
                  <a:srgbClr val="000000"/>
                </a:solidFill>
              </a:rPr>
              <a:t>// Documents sur Paris (shard rs0)</a:t>
            </a:r>
            <a:endParaRPr b="1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fr">
                <a:solidFill>
                  <a:srgbClr val="000000"/>
                </a:solidFill>
              </a:rPr>
              <a:t>db.house_rental.find(</a:t>
            </a:r>
            <a:r>
              <a:rPr b="1" lang="fr">
                <a:solidFill>
                  <a:schemeClr val="accent3"/>
                </a:solidFill>
              </a:rPr>
              <a:t>{ host_location: "Paris, France" }</a:t>
            </a:r>
            <a:r>
              <a:rPr b="1" lang="fr">
                <a:solidFill>
                  <a:srgbClr val="000000"/>
                </a:solidFill>
              </a:rPr>
              <a:t>).explain("executionStats")</a:t>
            </a:r>
            <a:endParaRPr b="1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</p:txBody>
      </p:sp>
      <p:sp>
        <p:nvSpPr>
          <p:cNvPr id="343" name="Google Shape;343;g3b440537baa_0_66"/>
          <p:cNvSpPr txBox="1"/>
          <p:nvPr>
            <p:ph type="title"/>
          </p:nvPr>
        </p:nvSpPr>
        <p:spPr>
          <a:xfrm>
            <a:off x="727650" y="670125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9658"/>
              <a:buNone/>
            </a:pPr>
            <a:r>
              <a:rPr lang="fr"/>
              <a:t>Partie 3 - Sharding</a:t>
            </a:r>
            <a:endParaRPr/>
          </a:p>
        </p:txBody>
      </p:sp>
      <p:pic>
        <p:nvPicPr>
          <p:cNvPr id="344" name="Google Shape;344;g3b440537baa_0_66" title="rs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88300" y="2238100"/>
            <a:ext cx="5064274" cy="2905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3b440537baa_0_83"/>
          <p:cNvSpPr txBox="1"/>
          <p:nvPr>
            <p:ph idx="1" type="body"/>
          </p:nvPr>
        </p:nvSpPr>
        <p:spPr>
          <a:xfrm>
            <a:off x="727650" y="1360400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>
                <a:solidFill>
                  <a:srgbClr val="000000"/>
                </a:solidFill>
              </a:rPr>
              <a:t>// Documents sur Lyon (shard rs1)</a:t>
            </a:r>
            <a:endParaRPr b="1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fr">
                <a:solidFill>
                  <a:srgbClr val="000000"/>
                </a:solidFill>
              </a:rPr>
              <a:t>db.house_rental.find(</a:t>
            </a:r>
            <a:r>
              <a:rPr b="1" lang="fr">
                <a:solidFill>
                  <a:schemeClr val="accent3"/>
                </a:solidFill>
              </a:rPr>
              <a:t>{ host_location: "Lyon, France" }</a:t>
            </a:r>
            <a:r>
              <a:rPr b="1" lang="fr">
                <a:solidFill>
                  <a:srgbClr val="000000"/>
                </a:solidFill>
              </a:rPr>
              <a:t>).explain("executionStats")</a:t>
            </a:r>
            <a:endParaRPr>
              <a:solidFill>
                <a:srgbClr val="000000"/>
              </a:solidFill>
            </a:endParaRPr>
          </a:p>
        </p:txBody>
      </p:sp>
      <p:pic>
        <p:nvPicPr>
          <p:cNvPr id="350" name="Google Shape;350;g3b440537baa_0_83" title="Capture d'écran 2026-01-01 20124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01750" y="2142975"/>
            <a:ext cx="4896724" cy="3000525"/>
          </a:xfrm>
          <a:prstGeom prst="rect">
            <a:avLst/>
          </a:prstGeom>
          <a:noFill/>
          <a:ln>
            <a:noFill/>
          </a:ln>
        </p:spPr>
      </p:pic>
      <p:sp>
        <p:nvSpPr>
          <p:cNvPr id="351" name="Google Shape;351;g3b440537baa_0_83"/>
          <p:cNvSpPr txBox="1"/>
          <p:nvPr>
            <p:ph type="title"/>
          </p:nvPr>
        </p:nvSpPr>
        <p:spPr>
          <a:xfrm>
            <a:off x="727650" y="670125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9658"/>
              <a:buNone/>
            </a:pPr>
            <a:r>
              <a:rPr lang="fr"/>
              <a:t>Partie 3 - Sharding</a:t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6" name="Google Shape;356;g3b440537baa_0_96" title="count doc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9425" y="2064825"/>
            <a:ext cx="8789874" cy="1052003"/>
          </a:xfrm>
          <a:prstGeom prst="rect">
            <a:avLst/>
          </a:prstGeom>
          <a:noFill/>
          <a:ln>
            <a:noFill/>
          </a:ln>
        </p:spPr>
      </p:pic>
      <p:sp>
        <p:nvSpPr>
          <p:cNvPr id="357" name="Google Shape;357;g3b440537baa_0_96"/>
          <p:cNvSpPr txBox="1"/>
          <p:nvPr>
            <p:ph type="title"/>
          </p:nvPr>
        </p:nvSpPr>
        <p:spPr>
          <a:xfrm>
            <a:off x="727650" y="670125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9658"/>
              <a:buNone/>
            </a:pPr>
            <a:r>
              <a:rPr lang="fr"/>
              <a:t>Partie 3 - Sharding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62" name="Google Shape;362;g3b34fd1773d_0_155"/>
          <p:cNvGraphicFramePr/>
          <p:nvPr/>
        </p:nvGraphicFramePr>
        <p:xfrm>
          <a:off x="926800" y="21505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{E4F9A3DD-7480-463F-928C-EFB626A4946F}</a:tableStyleId>
              </a:tblPr>
              <a:tblGrid>
                <a:gridCol w="1411850"/>
                <a:gridCol w="1156250"/>
                <a:gridCol w="3115800"/>
                <a:gridCol w="1703950"/>
              </a:tblGrid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" sz="1100"/>
                        <a:t>Type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" sz="1100"/>
                        <a:t>Nom exemple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" sz="1100"/>
                        <a:t>Rôle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" sz="1100"/>
                        <a:t>Stocke les données ?</a:t>
                      </a:r>
                      <a:endParaRPr b="1" sz="1100"/>
                    </a:p>
                  </a:txBody>
                  <a:tcPr marT="91425" marB="91425" marR="91425" marL="91425"/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ReplicaSet shard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RS0, RS1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Contient les données, haute dispo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Oui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Config Server RS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CSRS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Contient métadonnées du sharding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Non (configuration)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Mongos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–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Route les requêtes client vers les shards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Non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363" name="Google Shape;363;g3b34fd1773d_0_155"/>
          <p:cNvSpPr txBox="1"/>
          <p:nvPr>
            <p:ph type="title"/>
          </p:nvPr>
        </p:nvSpPr>
        <p:spPr>
          <a:xfrm>
            <a:off x="727650" y="670125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9658"/>
              <a:buNone/>
            </a:pPr>
            <a:r>
              <a:rPr lang="fr"/>
              <a:t>Partie 3 - Sharding</a:t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g3b34fd1773d_0_139"/>
          <p:cNvSpPr txBox="1"/>
          <p:nvPr>
            <p:ph type="title"/>
          </p:nvPr>
        </p:nvSpPr>
        <p:spPr>
          <a:xfrm>
            <a:off x="727650" y="670125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9658"/>
              <a:buNone/>
            </a:pPr>
            <a:r>
              <a:rPr lang="fr"/>
              <a:t>Conclusion</a:t>
            </a:r>
            <a:endParaRPr/>
          </a:p>
        </p:txBody>
      </p:sp>
      <p:sp>
        <p:nvSpPr>
          <p:cNvPr id="369" name="Google Shape;369;g3b34fd1773d_0_139"/>
          <p:cNvSpPr txBox="1"/>
          <p:nvPr/>
        </p:nvSpPr>
        <p:spPr>
          <a:xfrm>
            <a:off x="727650" y="1610425"/>
            <a:ext cx="7895400" cy="29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fr" sz="1100"/>
              <a:t>La base MongoDB de l’association NosCités a été restaurée et validée pour garantir l’intégrité des données de locations à Paris et Lyon. La mise en place de </a:t>
            </a:r>
            <a:r>
              <a:rPr b="1" lang="fr" sz="1100">
                <a:solidFill>
                  <a:schemeClr val="accent3"/>
                </a:solidFill>
              </a:rPr>
              <a:t>replica sets</a:t>
            </a:r>
            <a:r>
              <a:rPr lang="fr" sz="1100"/>
              <a:t> assure désormais la haute disponibilité, et le </a:t>
            </a:r>
            <a:r>
              <a:rPr b="1" lang="fr" sz="1100">
                <a:solidFill>
                  <a:schemeClr val="accent3"/>
                </a:solidFill>
              </a:rPr>
              <a:t>sharding</a:t>
            </a:r>
            <a:r>
              <a:rPr lang="fr" sz="1100">
                <a:solidFill>
                  <a:schemeClr val="accent3"/>
                </a:solidFill>
              </a:rPr>
              <a:t> </a:t>
            </a:r>
            <a:r>
              <a:rPr lang="fr" sz="1100"/>
              <a:t>optimise la répartition des données entre les sites pour améliorer les performances des requêtes métier.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fr" sz="1100" u="sng">
                <a:solidFill>
                  <a:schemeClr val="accent3"/>
                </a:solidFill>
              </a:rPr>
              <a:t>Recommandations opérationnelles :</a:t>
            </a:r>
            <a:endParaRPr b="1" sz="1100" u="sng">
              <a:solidFill>
                <a:schemeClr val="accent3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AutoNum type="arabicPeriod"/>
            </a:pPr>
            <a:r>
              <a:rPr lang="fr" sz="1100"/>
              <a:t>Automatiser les </a:t>
            </a:r>
            <a:r>
              <a:rPr b="1" lang="fr" sz="1100"/>
              <a:t>sauvegardes et restaurations</a:t>
            </a:r>
            <a:r>
              <a:rPr lang="fr" sz="1100"/>
              <a:t> avec des tests réguliers pour sécuriser les données critiques.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fr" sz="1100"/>
              <a:t>Surveiller la </a:t>
            </a:r>
            <a:r>
              <a:rPr b="1" lang="fr" sz="1100"/>
              <a:t>répartition des chunks et l’activité du balancer</a:t>
            </a:r>
            <a:r>
              <a:rPr lang="fr" sz="1100"/>
              <a:t> afin d’éviter les déséquilibres et maintenir la performance.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fr" sz="1100"/>
              <a:t>Créer des </a:t>
            </a:r>
            <a:r>
              <a:rPr b="1" lang="fr" sz="1100"/>
              <a:t>indexes ciblés sur les champs utilisés dans les requêtes analytiques</a:t>
            </a:r>
            <a:r>
              <a:rPr lang="fr" sz="1100"/>
              <a:t> pour réduire les temps de réponse.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fr" sz="1100"/>
              <a:t>Documenter l’architecture et les procédures de maintenance pour assurer la continuité d’activité et faciliter la montée en compétence de l’équipe.</a:t>
            </a:r>
            <a:endParaRPr sz="11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