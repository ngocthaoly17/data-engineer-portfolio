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Roboto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445379-288F-40C1-88D8-F4337841AE53}">
  <a:tblStyle styleId="{AD445379-288F-40C1-88D8-F4337841AE5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bc6a0619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bc6a061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c6a0619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c6a0619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bc6a0619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bc6a0619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5533be99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5533be99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5533be99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5533be99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ae52f0a4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ae52f0a4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ae52f0a4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ae52f0a4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ae52f0a4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7ae52f0a4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9e26d0d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9e26d0d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ae52f0a4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7ae52f0a4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ae52f0a4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7ae52f0a4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ae52f0a4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ae52f0a4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bc6a061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7bc6a061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9e26d0dc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9e26d0dc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efc24811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7efc24811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11708" y="13103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Projet 5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1952400" y="2946225"/>
            <a:ext cx="5379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478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300">
                <a:solidFill>
                  <a:srgbClr val="7451EB"/>
                </a:solidFill>
                <a:highlight>
                  <a:srgbClr val="FFFFFF"/>
                </a:highlight>
              </a:rPr>
              <a:t>Migration des données médicales vers MongoDB &amp; Déploiement Cloud AWS</a:t>
            </a:r>
            <a:br>
              <a:rPr lang="fr" sz="2300">
                <a:solidFill>
                  <a:srgbClr val="7451EB"/>
                </a:solidFill>
                <a:highlight>
                  <a:srgbClr val="FFFFFF"/>
                </a:highlight>
              </a:rPr>
            </a:br>
            <a:endParaRPr sz="2300">
              <a:solidFill>
                <a:srgbClr val="7451EB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/>
              <a:t>DataSoluTech</a:t>
            </a:r>
            <a:r>
              <a:rPr lang="fr" sz="2000"/>
              <a:t> : spécialisée dans la gestion et l’analyse de données</a:t>
            </a:r>
            <a:endParaRPr sz="2000"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457000"/>
            <a:ext cx="8520600" cy="31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DataSoluTech</a:t>
            </a:r>
            <a:r>
              <a:rPr lang="fr" sz="1100">
                <a:solidFill>
                  <a:schemeClr val="dk1"/>
                </a:solidFill>
              </a:rPr>
              <a:t> : spécialisée dans la gestion et l’analyse de données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>
                <a:solidFill>
                  <a:schemeClr val="dk1"/>
                </a:solidFill>
              </a:rPr>
              <a:t>Objectif : aider les entreprises à exploiter leurs données pour </a:t>
            </a:r>
            <a:r>
              <a:rPr b="1" lang="fr" sz="1100">
                <a:solidFill>
                  <a:schemeClr val="dk1"/>
                </a:solidFill>
              </a:rPr>
              <a:t>mieux décider, optimiser et gagner en efficacité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Client actuel : secteur </a:t>
            </a:r>
            <a:r>
              <a:rPr b="1" lang="fr" sz="1100">
                <a:solidFill>
                  <a:schemeClr val="dk1"/>
                </a:solidFill>
              </a:rPr>
              <a:t>médical</a:t>
            </a:r>
            <a:r>
              <a:rPr lang="fr" sz="1100">
                <a:solidFill>
                  <a:schemeClr val="dk1"/>
                </a:solidFill>
              </a:rPr>
              <a:t> avec des données patients volumineuses</a:t>
            </a:r>
            <a:br>
              <a:rPr lang="fr" sz="1100">
                <a:solidFill>
                  <a:schemeClr val="dk1"/>
                </a:solidFill>
              </a:rPr>
            </a:br>
            <a:r>
              <a:rPr lang="fr" sz="1100">
                <a:solidFill>
                  <a:schemeClr val="dk1"/>
                </a:solidFill>
              </a:rPr>
              <a:t>Problème identifié : </a:t>
            </a:r>
            <a:r>
              <a:rPr b="1" lang="fr" sz="1100">
                <a:solidFill>
                  <a:schemeClr val="dk1"/>
                </a:solidFill>
              </a:rPr>
              <a:t>scalabilité</a:t>
            </a:r>
            <a:r>
              <a:rPr lang="fr" sz="1100">
                <a:solidFill>
                  <a:schemeClr val="dk1"/>
                </a:solidFill>
              </a:rPr>
              <a:t> et performance des bases relationnelles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Migration du dataset médical fourni par le client vers </a:t>
            </a:r>
            <a:r>
              <a:rPr b="1" lang="fr" sz="1100">
                <a:solidFill>
                  <a:schemeClr val="dk1"/>
                </a:solidFill>
              </a:rPr>
              <a:t>MongoDB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Conteneurisation et automatisation via </a:t>
            </a:r>
            <a:r>
              <a:rPr b="1" lang="fr" sz="1100">
                <a:solidFill>
                  <a:schemeClr val="dk1"/>
                </a:solidFill>
              </a:rPr>
              <a:t>Docker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Mise en place d’un </a:t>
            </a:r>
            <a:r>
              <a:rPr b="1" lang="fr" sz="1100">
                <a:solidFill>
                  <a:schemeClr val="dk1"/>
                </a:solidFill>
              </a:rPr>
              <a:t>système d’authentification et rôles utilisateurs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Hébergement et documentation via </a:t>
            </a:r>
            <a:r>
              <a:rPr b="1" lang="fr" sz="1100">
                <a:solidFill>
                  <a:schemeClr val="dk1"/>
                </a:solidFill>
              </a:rPr>
              <a:t>GitHub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Recherche des solutions de </a:t>
            </a:r>
            <a:r>
              <a:rPr b="1" lang="fr" sz="1100">
                <a:solidFill>
                  <a:schemeClr val="dk1"/>
                </a:solidFill>
              </a:rPr>
              <a:t>déploiement sur AWS</a:t>
            </a:r>
            <a:r>
              <a:rPr lang="fr" sz="1100">
                <a:solidFill>
                  <a:schemeClr val="dk1"/>
                </a:solidFill>
              </a:rPr>
              <a:t> pour le futur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Démarche du projet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585400" y="1152475"/>
            <a:ext cx="824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Analyse du dataset médical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>
                <a:solidFill>
                  <a:schemeClr val="dk1"/>
                </a:solidFill>
              </a:rPr>
              <a:t>Définition du </a:t>
            </a:r>
            <a:r>
              <a:rPr b="1" lang="fr" sz="1100">
                <a:solidFill>
                  <a:schemeClr val="dk1"/>
                </a:solidFill>
              </a:rPr>
              <a:t>schéma MongoDB</a:t>
            </a:r>
            <a:r>
              <a:rPr lang="fr" sz="1100">
                <a:solidFill>
                  <a:schemeClr val="dk1"/>
                </a:solidFill>
              </a:rPr>
              <a:t> (collections, champs, index)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>
                <a:solidFill>
                  <a:schemeClr val="dk1"/>
                </a:solidFill>
              </a:rPr>
              <a:t>Écriture d’un </a:t>
            </a:r>
            <a:r>
              <a:rPr b="1" lang="fr" sz="1100">
                <a:solidFill>
                  <a:schemeClr val="dk1"/>
                </a:solidFill>
              </a:rPr>
              <a:t>script Python</a:t>
            </a:r>
            <a:r>
              <a:rPr lang="fr" sz="1100">
                <a:solidFill>
                  <a:schemeClr val="dk1"/>
                </a:solidFill>
              </a:rPr>
              <a:t> de migration des données vers MongoDB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>
                <a:solidFill>
                  <a:schemeClr val="dk1"/>
                </a:solidFill>
              </a:rPr>
              <a:t>Mise en place d’un </a:t>
            </a:r>
            <a:r>
              <a:rPr b="1" lang="fr" sz="1100">
                <a:solidFill>
                  <a:schemeClr val="dk1"/>
                </a:solidFill>
              </a:rPr>
              <a:t>docker-compose</a:t>
            </a:r>
            <a:r>
              <a:rPr lang="fr" sz="1100">
                <a:solidFill>
                  <a:schemeClr val="dk1"/>
                </a:solidFill>
              </a:rPr>
              <a:t> pour :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Lancer un conteneur </a:t>
            </a:r>
            <a:r>
              <a:rPr b="1" lang="fr" sz="1100">
                <a:solidFill>
                  <a:schemeClr val="dk1"/>
                </a:solidFill>
              </a:rPr>
              <a:t>MongoDB</a:t>
            </a:r>
            <a:br>
              <a:rPr b="1" lang="f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Lancer le conteneur du script de migration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>
                <a:solidFill>
                  <a:schemeClr val="dk1"/>
                </a:solidFill>
              </a:rPr>
              <a:t>Configuration de l’authentification et création des rôles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Documentation &amp; versioning sur </a:t>
            </a:r>
            <a:r>
              <a:rPr b="1" lang="fr" sz="1100">
                <a:solidFill>
                  <a:schemeClr val="dk1"/>
                </a:solidFill>
              </a:rPr>
              <a:t>GitHub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>
                <a:solidFill>
                  <a:schemeClr val="dk1"/>
                </a:solidFill>
              </a:rPr>
              <a:t>Étude des options de </a:t>
            </a:r>
            <a:r>
              <a:rPr b="1" lang="fr" sz="1100">
                <a:solidFill>
                  <a:schemeClr val="dk1"/>
                </a:solidFill>
              </a:rPr>
              <a:t>déploiement AWS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Modèle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Type de données</a:t>
            </a:r>
            <a:r>
              <a:rPr lang="fr" sz="1100">
                <a:solidFill>
                  <a:schemeClr val="dk1"/>
                </a:solidFill>
              </a:rPr>
              <a:t> : informations médicales patients (ID, âge, sexe, pathologies, traitements, résultats examens, etc.)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Organisation MongoDB</a:t>
            </a:r>
            <a:r>
              <a:rPr lang="fr" sz="1100">
                <a:solidFill>
                  <a:schemeClr val="dk1"/>
                </a:solidFill>
              </a:rPr>
              <a:t> 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Collection :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patients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Exemple de document 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</a:rPr>
              <a:t>Index créés</a:t>
            </a:r>
            <a:r>
              <a:rPr lang="fr" sz="1100">
                <a:solidFill>
                  <a:schemeClr val="dk1"/>
                </a:solidFill>
              </a:rPr>
              <a:t> : sur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fr" sz="1100">
                <a:solidFill>
                  <a:schemeClr val="dk1"/>
                </a:solidFill>
              </a:rPr>
              <a:t> et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nom</a:t>
            </a:r>
            <a:r>
              <a:rPr lang="fr" sz="1100">
                <a:solidFill>
                  <a:schemeClr val="dk1"/>
                </a:solidFill>
              </a:rPr>
              <a:t> pour accélérer les recherches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Schéma</a:t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408225" y="1216475"/>
            <a:ext cx="3291000" cy="3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({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  _id: 49993,  Name: "Jean Dupont",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  Age: 50,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  Gender: "Male",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  "Blood Type": "O+",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  "Medical Condition": "Hypertension",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  "Date of Admission": "2025-08-30",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  Doctor: "Dr. Martin",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  Hospital: "Saint-Pierre",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  "Insurance Provider": "Aetna",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  "Billing Amount": 1200.50,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  "Room Number": 101,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  "Admission Type": "Elective",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  "Discharge Date": "2025-09-05",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  Medication: "Lisinopril",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  "Test Results": "Normal"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});</a:t>
            </a:r>
            <a:endParaRPr/>
          </a:p>
        </p:txBody>
      </p:sp>
      <p:graphicFrame>
        <p:nvGraphicFramePr>
          <p:cNvPr id="84" name="Google Shape;84;p17"/>
          <p:cNvGraphicFramePr/>
          <p:nvPr/>
        </p:nvGraphicFramePr>
        <p:xfrm>
          <a:off x="4496425" y="117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{AD445379-288F-40C1-88D8-F4337841AE53}</a:tableStyleId>
              </a:tblPr>
              <a:tblGrid>
                <a:gridCol w="965150"/>
                <a:gridCol w="382850"/>
                <a:gridCol w="2024500"/>
              </a:tblGrid>
              <a:tr h="189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600"/>
                        <a:t>Champ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600"/>
                        <a:t>Type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600"/>
                        <a:t>Description</a:t>
                      </a:r>
                      <a:endParaRPr b="1" sz="600"/>
                    </a:p>
                  </a:txBody>
                  <a:tcPr marT="91425" marB="91425" marR="91425" marL="91425"/>
                </a:tc>
              </a:tr>
              <a:tr h="19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_id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int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Identifiant unique du patient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19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Name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str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Nom complet du patient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19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Age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int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Âge du patient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19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Gender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str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Sexe du patient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19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Blood Type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str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Groupe sanguin du patient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19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Medical Condition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str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Condition médicale principale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19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Date of Admission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str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Date d’admission à l’hôpital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19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Doctor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str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Nom du médecin traitant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19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Hospital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str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Nom de l’hôpital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19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Insurance Provider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str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Nom de l’assureur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19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Billing Amount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float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Montant facturé en dollars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19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Room Number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int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Numéro de la chambre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19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Admission Type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str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Type d’admission (ex. Elective, Urgent)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19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Discharge Date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str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Date de sortie de l’hôpital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19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Medication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str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Médicament prescrit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19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Test Results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str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600"/>
                        <a:t>Résultats des tests médicaux</a:t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300"/>
              <a:t>Déploiement avec Docker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 sz="1100">
                <a:solidFill>
                  <a:schemeClr val="dk1"/>
                </a:solidFill>
              </a:rPr>
              <a:t>Dockerfile</a:t>
            </a:r>
            <a:r>
              <a:rPr lang="fr" sz="1100">
                <a:solidFill>
                  <a:schemeClr val="dk1"/>
                </a:solidFill>
              </a:rPr>
              <a:t> pour MongoDB + Script Python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 sz="1100">
                <a:solidFill>
                  <a:schemeClr val="dk1"/>
                </a:solidFill>
              </a:rPr>
              <a:t>docker-compose.yml</a:t>
            </a:r>
            <a:r>
              <a:rPr lang="fr" sz="1100">
                <a:solidFill>
                  <a:schemeClr val="dk1"/>
                </a:solidFill>
              </a:rPr>
              <a:t> :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mongodb</a:t>
            </a:r>
            <a:r>
              <a:rPr lang="fr" sz="1100">
                <a:solidFill>
                  <a:schemeClr val="dk1"/>
                </a:solidFill>
              </a:rPr>
              <a:t> : conteneur de la base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migration</a:t>
            </a:r>
            <a:r>
              <a:rPr lang="fr" sz="1100">
                <a:solidFill>
                  <a:schemeClr val="dk1"/>
                </a:solidFill>
              </a:rPr>
              <a:t> : conteneur exécutant le script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Avantages :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fr" sz="1100">
                <a:solidFill>
                  <a:schemeClr val="dk1"/>
                </a:solidFill>
              </a:rPr>
              <a:t>Portabilité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fr" sz="1100">
                <a:solidFill>
                  <a:schemeClr val="dk1"/>
                </a:solidFill>
              </a:rPr>
              <a:t>Scalabilité horizontale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fr" sz="1100">
                <a:solidFill>
                  <a:schemeClr val="dk1"/>
                </a:solidFill>
              </a:rPr>
              <a:t>Isolation des environnements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script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984225"/>
            <a:ext cx="8520600" cy="3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</a:rPr>
              <a:t>1. </a:t>
            </a:r>
            <a:r>
              <a:rPr b="1"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MongoConnector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Rôle : établir la connexion à </a:t>
            </a:r>
            <a:r>
              <a:rPr b="1" lang="fr" sz="1100">
                <a:solidFill>
                  <a:schemeClr val="dk1"/>
                </a:solidFill>
              </a:rPr>
              <a:t>MongoDB</a:t>
            </a:r>
            <a:br>
              <a:rPr b="1" lang="f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Utilise les variables d’environnement (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MONGO_USER</a:t>
            </a:r>
            <a:r>
              <a:rPr lang="fr" sz="1100">
                <a:solidFill>
                  <a:schemeClr val="dk1"/>
                </a:solidFill>
              </a:rPr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MONGO_PASS</a:t>
            </a:r>
            <a:r>
              <a:rPr lang="fr" sz="1100">
                <a:solidFill>
                  <a:schemeClr val="dk1"/>
                </a:solidFill>
              </a:rPr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MONGO_DB</a:t>
            </a:r>
            <a:r>
              <a:rPr lang="fr" sz="1100">
                <a:solidFill>
                  <a:schemeClr val="dk1"/>
                </a:solidFill>
              </a:rPr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MONGO_HOST</a:t>
            </a:r>
            <a:r>
              <a:rPr lang="fr" sz="1100">
                <a:solidFill>
                  <a:schemeClr val="dk1"/>
                </a:solidFill>
              </a:rPr>
              <a:t>)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Retourne une collection MongoDB via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get_collection()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Avantage : centralise la logique de connexion, sécurise les credentials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</a:rPr>
              <a:t>2. </a:t>
            </a:r>
            <a:r>
              <a:rPr b="1"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PatientCleaner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Rôle : </a:t>
            </a:r>
            <a:r>
              <a:rPr b="1" lang="fr" sz="1100">
                <a:solidFill>
                  <a:schemeClr val="dk1"/>
                </a:solidFill>
              </a:rPr>
              <a:t>préparer et nettoyer les données CSV</a:t>
            </a:r>
            <a:r>
              <a:rPr lang="fr" sz="1100">
                <a:solidFill>
                  <a:schemeClr val="dk1"/>
                </a:solidFill>
              </a:rPr>
              <a:t> avant migration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Étapes principales :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4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fr" sz="1100">
                <a:solidFill>
                  <a:schemeClr val="dk1"/>
                </a:solidFill>
              </a:rPr>
              <a:t>Supprime les doublons (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drop_duplicates</a:t>
            </a:r>
            <a:r>
              <a:rPr lang="fr" sz="1100">
                <a:solidFill>
                  <a:schemeClr val="dk1"/>
                </a:solidFill>
              </a:rPr>
              <a:t>)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4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fr" sz="1100">
                <a:solidFill>
                  <a:schemeClr val="dk1"/>
                </a:solidFill>
              </a:rPr>
              <a:t>Remplace les valeurs manquantes par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"Unknown"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7494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fr" sz="1100">
                <a:solidFill>
                  <a:schemeClr val="dk1"/>
                </a:solidFill>
              </a:rPr>
              <a:t>Met les noms en format </a:t>
            </a:r>
            <a:r>
              <a:rPr b="1" lang="fr" sz="1100">
                <a:solidFill>
                  <a:schemeClr val="dk1"/>
                </a:solidFill>
              </a:rPr>
              <a:t>Title Case</a:t>
            </a:r>
            <a:br>
              <a:rPr b="1" lang="f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77494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fr" sz="1100">
                <a:solidFill>
                  <a:schemeClr val="dk1"/>
                </a:solidFill>
              </a:rPr>
              <a:t>Convertit les âges en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fr" sz="1100">
                <a:solidFill>
                  <a:schemeClr val="dk1"/>
                </a:solidFill>
              </a:rPr>
              <a:t> et les montants en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float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Avantage : garantit des données cohérentes et prêtes à insérer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</a:rPr>
              <a:t>3. </a:t>
            </a:r>
            <a:r>
              <a:rPr b="1"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PatientMigrator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Rôle : </a:t>
            </a:r>
            <a:r>
              <a:rPr b="1" lang="fr" sz="1100">
                <a:solidFill>
                  <a:schemeClr val="dk1"/>
                </a:solidFill>
              </a:rPr>
              <a:t>insérer les données nettoyées dans MongoDB</a:t>
            </a:r>
            <a:br>
              <a:rPr b="1" lang="f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Étapes principales :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4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fr" sz="1100">
                <a:solidFill>
                  <a:schemeClr val="dk1"/>
                </a:solidFill>
              </a:rPr>
              <a:t>Génère des </a:t>
            </a:r>
            <a:r>
              <a:rPr b="1" lang="fr" sz="1100">
                <a:solidFill>
                  <a:schemeClr val="dk1"/>
                </a:solidFill>
              </a:rPr>
              <a:t>IDs uniques</a:t>
            </a:r>
            <a:r>
              <a:rPr lang="fr" sz="1100">
                <a:solidFill>
                  <a:schemeClr val="dk1"/>
                </a:solidFill>
              </a:rPr>
              <a:t> (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_id</a:t>
            </a:r>
            <a:r>
              <a:rPr lang="fr" sz="1100">
                <a:solidFill>
                  <a:schemeClr val="dk1"/>
                </a:solidFill>
              </a:rPr>
              <a:t>) à partir du dernier document existant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4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fr" sz="1100">
                <a:solidFill>
                  <a:schemeClr val="dk1"/>
                </a:solidFill>
              </a:rPr>
              <a:t>Convertit le DataFrame en dictionnaire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4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fr" sz="1100">
                <a:solidFill>
                  <a:schemeClr val="dk1"/>
                </a:solidFill>
              </a:rPr>
              <a:t>Insère en bloc avec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insert_many()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Avantage : insertion automatisée, fiable, et traçable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300"/>
              <a:t>Gestion des utilisateurs et rôles MongoDB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017725"/>
            <a:ext cx="8520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Utilisateur : </a:t>
            </a:r>
            <a:r>
              <a:rPr b="1"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admin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32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fr" sz="1100">
                <a:solidFill>
                  <a:schemeClr val="dk1"/>
                </a:solidFill>
              </a:rPr>
              <a:t>Rôles :</a:t>
            </a:r>
            <a:br>
              <a:rPr b="1" lang="f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32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userAdminAnyDatabase</a:t>
            </a:r>
            <a:r>
              <a:rPr lang="fr" sz="1100">
                <a:solidFill>
                  <a:schemeClr val="dk1"/>
                </a:solidFill>
              </a:rPr>
              <a:t> → peut créer / gérer des utilisateurs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dbAdminAnyDatabase</a:t>
            </a:r>
            <a:r>
              <a:rPr lang="fr" sz="1100">
                <a:solidFill>
                  <a:schemeClr val="dk1"/>
                </a:solidFill>
              </a:rPr>
              <a:t> → peut administrer toutes les bases (index, stats, etc.)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readWriteAnyDatabase</a:t>
            </a:r>
            <a:r>
              <a:rPr lang="fr" sz="1100">
                <a:solidFill>
                  <a:schemeClr val="dk1"/>
                </a:solidFill>
              </a:rPr>
              <a:t> → accès complet en lecture/écriture sur toutes les bases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fr" sz="1100">
                <a:solidFill>
                  <a:schemeClr val="dk1"/>
                </a:solidFill>
              </a:rPr>
              <a:t>Super administrateur</a:t>
            </a:r>
            <a:r>
              <a:rPr lang="fr" sz="1100">
                <a:solidFill>
                  <a:schemeClr val="dk1"/>
                </a:solidFill>
              </a:rPr>
              <a:t> du système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</a:rPr>
              <a:t>Utilisateur : </a:t>
            </a:r>
            <a:r>
              <a:rPr b="1"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data_engineer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32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fr" sz="1100">
                <a:solidFill>
                  <a:schemeClr val="dk1"/>
                </a:solidFill>
              </a:rPr>
              <a:t>Rôle :</a:t>
            </a:r>
            <a:r>
              <a:rPr lang="fr" sz="1100">
                <a:solidFill>
                  <a:schemeClr val="dk1"/>
                </a:solidFill>
              </a:rPr>
              <a:t>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readWrite</a:t>
            </a:r>
            <a:r>
              <a:rPr lang="fr" sz="1100">
                <a:solidFill>
                  <a:schemeClr val="dk1"/>
                </a:solidFill>
              </a:rPr>
              <a:t> sur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hospital_db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32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Peut </a:t>
            </a:r>
            <a:r>
              <a:rPr b="1" lang="fr" sz="1100">
                <a:solidFill>
                  <a:schemeClr val="dk1"/>
                </a:solidFill>
              </a:rPr>
              <a:t>insérer, modifier, supprimer et lire</a:t>
            </a:r>
            <a:r>
              <a:rPr lang="fr" sz="1100">
                <a:solidFill>
                  <a:schemeClr val="dk1"/>
                </a:solidFill>
              </a:rPr>
              <a:t> des documents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Conçu pour les tâches de migration et de maintenance des données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</a:rPr>
              <a:t>Utilisateur : </a:t>
            </a:r>
            <a:r>
              <a:rPr b="1"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analyst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32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fr" sz="1100">
                <a:solidFill>
                  <a:schemeClr val="dk1"/>
                </a:solidFill>
              </a:rPr>
              <a:t>Rôle :</a:t>
            </a:r>
            <a:r>
              <a:rPr lang="fr" sz="1100">
                <a:solidFill>
                  <a:schemeClr val="dk1"/>
                </a:solidFill>
              </a:rPr>
              <a:t>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read</a:t>
            </a:r>
            <a:r>
              <a:rPr lang="fr" sz="1100">
                <a:solidFill>
                  <a:schemeClr val="dk1"/>
                </a:solidFill>
              </a:rPr>
              <a:t> sur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hospital_db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32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Peut uniquement </a:t>
            </a:r>
            <a:r>
              <a:rPr b="1" lang="fr" sz="1100">
                <a:solidFill>
                  <a:schemeClr val="dk1"/>
                </a:solidFill>
              </a:rPr>
              <a:t>consulter les données</a:t>
            </a:r>
            <a:br>
              <a:rPr b="1" lang="f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Sécurité renforcée : pas de modification possible, idéal pour l’analyse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nettoyage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2932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fr" sz="1100">
                <a:solidFill>
                  <a:schemeClr val="dk1"/>
                </a:solidFill>
              </a:rPr>
              <a:t>Suppression des doublons</a:t>
            </a:r>
            <a:br>
              <a:rPr b="1" lang="f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32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fr" sz="1100">
                <a:solidFill>
                  <a:schemeClr val="dk1"/>
                </a:solidFill>
              </a:rPr>
              <a:t>Basée sur la colonne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32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fr" sz="1100">
                <a:solidFill>
                  <a:schemeClr val="dk1"/>
                </a:solidFill>
              </a:rPr>
              <a:t>Évite d’avoir plusieurs entrées identiques pour un même patient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fr" sz="1100">
                <a:solidFill>
                  <a:schemeClr val="dk1"/>
                </a:solidFill>
              </a:rPr>
              <a:t>Remplacement des valeurs manquantes</a:t>
            </a:r>
            <a:br>
              <a:rPr b="1" lang="f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32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NaN</a:t>
            </a:r>
            <a:r>
              <a:rPr lang="fr" sz="1100">
                <a:solidFill>
                  <a:schemeClr val="dk1"/>
                </a:solidFill>
              </a:rPr>
              <a:t> remplacé par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"Unknown"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32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fr" sz="1100">
                <a:solidFill>
                  <a:schemeClr val="dk1"/>
                </a:solidFill>
              </a:rPr>
              <a:t>Garantit une base sans trous d’information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fr" sz="1100">
                <a:solidFill>
                  <a:schemeClr val="dk1"/>
                </a:solidFill>
              </a:rPr>
              <a:t>Mise en forme des noms</a:t>
            </a:r>
            <a:br>
              <a:rPr b="1" lang="f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32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fr" sz="1100">
                <a:solidFill>
                  <a:schemeClr val="dk1"/>
                </a:solidFill>
              </a:rPr>
              <a:t>Transformation en </a:t>
            </a:r>
            <a:r>
              <a:rPr b="1" lang="fr" sz="1100">
                <a:solidFill>
                  <a:schemeClr val="dk1"/>
                </a:solidFill>
              </a:rPr>
              <a:t>Title Case</a:t>
            </a:r>
            <a:r>
              <a:rPr lang="fr" sz="1100">
                <a:solidFill>
                  <a:schemeClr val="dk1"/>
                </a:solidFill>
              </a:rPr>
              <a:t> (ex : </a:t>
            </a:r>
            <a:r>
              <a:rPr i="1" lang="fr" sz="1100">
                <a:solidFill>
                  <a:schemeClr val="dk1"/>
                </a:solidFill>
              </a:rPr>
              <a:t>dupont</a:t>
            </a:r>
            <a:r>
              <a:rPr lang="fr" sz="1100">
                <a:solidFill>
                  <a:schemeClr val="dk1"/>
                </a:solidFill>
              </a:rPr>
              <a:t> → </a:t>
            </a:r>
            <a:r>
              <a:rPr i="1" lang="fr" sz="1100">
                <a:solidFill>
                  <a:schemeClr val="dk1"/>
                </a:solidFill>
              </a:rPr>
              <a:t>Dupont</a:t>
            </a:r>
            <a:r>
              <a:rPr lang="fr" sz="1100">
                <a:solidFill>
                  <a:schemeClr val="dk1"/>
                </a:solidFill>
              </a:rPr>
              <a:t>)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fr" sz="1100">
                <a:solidFill>
                  <a:schemeClr val="dk1"/>
                </a:solidFill>
              </a:rPr>
              <a:t>Uniformisation de l’écriture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fr" sz="1100">
                <a:solidFill>
                  <a:schemeClr val="dk1"/>
                </a:solidFill>
              </a:rPr>
              <a:t>Conversion des types</a:t>
            </a:r>
            <a:br>
              <a:rPr b="1" lang="f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32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r>
              <a:rPr lang="fr" sz="1100">
                <a:solidFill>
                  <a:schemeClr val="dk1"/>
                </a:solidFill>
              </a:rPr>
              <a:t> → entier (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fr" sz="1100">
                <a:solidFill>
                  <a:schemeClr val="dk1"/>
                </a:solidFill>
              </a:rPr>
              <a:t>)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Billing Amount</a:t>
            </a:r>
            <a:r>
              <a:rPr lang="fr" sz="1100">
                <a:solidFill>
                  <a:schemeClr val="dk1"/>
                </a:solidFill>
              </a:rPr>
              <a:t> → nombre décimal (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float</a:t>
            </a:r>
            <a:r>
              <a:rPr lang="fr" sz="1100">
                <a:solidFill>
                  <a:schemeClr val="dk1"/>
                </a:solidFill>
              </a:rPr>
              <a:t>)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fr" sz="1100">
                <a:solidFill>
                  <a:schemeClr val="dk1"/>
                </a:solidFill>
              </a:rPr>
              <a:t>Assure la cohérence et facilite les calculs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2" title="Capture d’écran 2025-08-30 1058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9800" y="2713250"/>
            <a:ext cx="3861000" cy="2134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2" title="Capture d’écran 2025-08-30 10595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225" y="1541388"/>
            <a:ext cx="4194700" cy="3341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2" title="Capture d’écran 2025-08-30 11034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9793" y="419356"/>
            <a:ext cx="3861000" cy="222596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9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Données du CSV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vers MongoDB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 migration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</a:rPr>
              <a:t>Attribution des identifiants uniques (_id)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28797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Le script récupère le dernier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_id</a:t>
            </a:r>
            <a:r>
              <a:rPr lang="fr" sz="1100">
                <a:solidFill>
                  <a:schemeClr val="dk1"/>
                </a:solidFill>
              </a:rPr>
              <a:t> présent dans la collection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patients</a:t>
            </a:r>
            <a:r>
              <a:rPr lang="fr" sz="1100">
                <a:solidFill>
                  <a:schemeClr val="dk1"/>
                </a:solidFill>
              </a:rPr>
              <a:t>.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Les nouveaux enregistrements reçoivent des </a:t>
            </a:r>
            <a:r>
              <a:rPr b="1" lang="fr" sz="1100">
                <a:solidFill>
                  <a:schemeClr val="dk1"/>
                </a:solidFill>
              </a:rPr>
              <a:t>IDs incrémentés automatiquement</a:t>
            </a:r>
            <a:r>
              <a:rPr lang="fr" sz="1100">
                <a:solidFill>
                  <a:schemeClr val="dk1"/>
                </a:solidFill>
              </a:rPr>
              <a:t>.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Évite les doublons et garde une continuité dans les données.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</a:rPr>
              <a:t>2. Transformation en dictionnaires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28797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Le DataFrame nettoyé est converti en liste de documents au format JSON-like.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Format adapté pour MongoDB :</a:t>
            </a:r>
            <a:br>
              <a:rPr lang="fr" sz="1100">
                <a:solidFill>
                  <a:schemeClr val="dk1"/>
                </a:solidFill>
              </a:rPr>
            </a:br>
            <a:br>
              <a:rPr lang="fr" sz="1100">
                <a:solidFill>
                  <a:schemeClr val="dk1"/>
                </a:solidFill>
              </a:rPr>
            </a:br>
            <a:r>
              <a:rPr lang="fr" sz="1100">
                <a:solidFill>
                  <a:schemeClr val="dk1"/>
                </a:solidFill>
              </a:rPr>
              <a:t>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{ "_id": 101, "Name": "Dupont", "Age": 45, "Billing Amount": 320.5 }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3. Insertion en masse</a:t>
            </a:r>
            <a:endParaRPr b="1" sz="1100">
              <a:solidFill>
                <a:schemeClr val="dk1"/>
              </a:solidFill>
            </a:endParaRPr>
          </a:p>
          <a:p>
            <a:pPr indent="-28797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Utilisation de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insert_many()</a:t>
            </a:r>
            <a:r>
              <a:rPr lang="fr" sz="1100">
                <a:solidFill>
                  <a:schemeClr val="dk1"/>
                </a:solidFill>
              </a:rPr>
              <a:t> pour insérer tous les documents en une seule opération.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Plus rapide et plus efficace qu’une insertion ligne par ligne.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</a:rPr>
              <a:t>4. Suivi et traçabilité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28797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Affichage du nombre de documents insérés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Indication de l’utilisateur qui a réalisé la migration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Journalisation possible pour audit futur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Déploiement du code avec docker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YAML</a:t>
            </a:r>
            <a:r>
              <a:rPr lang="fr" sz="1100">
                <a:solidFill>
                  <a:schemeClr val="dk1"/>
                </a:solidFill>
              </a:rPr>
              <a:t> : décrit la configuration (ex.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docker-compose.yml</a:t>
            </a:r>
            <a:r>
              <a:rPr lang="fr" sz="1100">
                <a:solidFill>
                  <a:schemeClr val="dk1"/>
                </a:solidFill>
              </a:rPr>
              <a:t>) pour lancer facilement les conteneurs.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Script de migration</a:t>
            </a:r>
            <a:r>
              <a:rPr lang="fr" sz="1100">
                <a:solidFill>
                  <a:schemeClr val="dk1"/>
                </a:solidFill>
              </a:rPr>
              <a:t> : automatise le nettoyage et l’insertion des données dans MongoDB.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Paramétrage des rôles</a:t>
            </a:r>
            <a:r>
              <a:rPr lang="fr" sz="1100">
                <a:solidFill>
                  <a:schemeClr val="dk1"/>
                </a:solidFill>
              </a:rPr>
              <a:t> : définit les droits d’accès des utilisateurs (admin, data engineer, analyst).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</a:rPr>
              <a:t>requirements.txt</a:t>
            </a:r>
            <a:r>
              <a:rPr lang="fr" sz="1100">
                <a:solidFill>
                  <a:schemeClr val="dk1"/>
                </a:solidFill>
              </a:rPr>
              <a:t> : liste les dépendances Python nécessaires pour exécuter le projet.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Commandes essentielles</a:t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# Connexion à MongoDB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mongosh -u admin -p password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# Liste des bases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show dbs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# Sélection d'une base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use hostpital_db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# Liste des collections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show collections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# Exemple de recherche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db.patients.find({ "age": { $gt: 40 } 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# Création d’un utilisateur avec rôle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db.createUser({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  user: "analyst",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  pwd: "password123",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  roles: [ { role: "read", db: "</a:t>
            </a:r>
            <a:r>
              <a:rPr lang="fr"/>
              <a:t>hostpital_db</a:t>
            </a:r>
            <a:r>
              <a:rPr lang="fr"/>
              <a:t>" } 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Déploiement du projet sur Git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Étapes réalisées</a:t>
            </a:r>
            <a:r>
              <a:rPr lang="fr" sz="1100">
                <a:solidFill>
                  <a:schemeClr val="dk1"/>
                </a:solidFill>
              </a:rPr>
              <a:t> :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Création du repo GitHub privé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Push du code source (scripts, Dockerfile, docker-compose.yml)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Ajout d’un </a:t>
            </a:r>
            <a:r>
              <a:rPr b="1" lang="fr" sz="1100">
                <a:solidFill>
                  <a:schemeClr val="dk1"/>
                </a:solidFill>
              </a:rPr>
              <a:t>README.md</a:t>
            </a:r>
            <a:r>
              <a:rPr lang="fr" sz="1100">
                <a:solidFill>
                  <a:schemeClr val="dk1"/>
                </a:solidFill>
              </a:rPr>
              <a:t> complet :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fr" sz="1100">
                <a:solidFill>
                  <a:schemeClr val="dk1"/>
                </a:solidFill>
              </a:rPr>
              <a:t>Contexte du projet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fr" sz="1100">
                <a:solidFill>
                  <a:schemeClr val="dk1"/>
                </a:solidFill>
              </a:rPr>
              <a:t>Instructions pour lancer le projet (Docker)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fr" sz="1100">
                <a:solidFill>
                  <a:schemeClr val="dk1"/>
                </a:solidFill>
              </a:rPr>
              <a:t>Schéma de la base de données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fr" sz="1100">
                <a:solidFill>
                  <a:schemeClr val="dk1"/>
                </a:solidFill>
              </a:rPr>
              <a:t>Commandes utiles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>
                <a:solidFill>
                  <a:schemeClr val="dk1"/>
                </a:solidFill>
              </a:rPr>
              <a:t>Avantage : collaboration facilitée &amp; sauvegarde versionnée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Recommandation pour le déploiement dans le CLOUD</a:t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491900" y="1708950"/>
            <a:ext cx="5098800" cy="3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700">
                <a:solidFill>
                  <a:schemeClr val="dk1"/>
                </a:solidFill>
              </a:rPr>
              <a:t>Amazon DocumentDB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fr" sz="700">
                <a:solidFill>
                  <a:schemeClr val="dk1"/>
                </a:solidFill>
              </a:rPr>
              <a:t>Compatible MongoDB.</a:t>
            </a:r>
            <a:endParaRPr b="1"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fr" sz="700">
                <a:solidFill>
                  <a:schemeClr val="dk1"/>
                </a:solidFill>
              </a:rPr>
              <a:t>Gestion complète par AWS (scaling, sauvegardes automatiques, haute disponibilité).</a:t>
            </a:r>
            <a:endParaRPr b="1" sz="700">
              <a:solidFill>
                <a:schemeClr val="dk1"/>
              </a:solidFill>
            </a:endParaRPr>
          </a:p>
          <a:p>
            <a:pPr indent="-273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fr" sz="700">
                <a:solidFill>
                  <a:schemeClr val="dk1"/>
                </a:solidFill>
              </a:rPr>
              <a:t>Idéal pour les applications nécessitant MongoDB mais avec peu de maintenance serveur.</a:t>
            </a:r>
            <a:endParaRPr b="1" sz="700">
              <a:solidFill>
                <a:schemeClr val="dk1"/>
              </a:solidFill>
            </a:endParaRPr>
          </a:p>
          <a:p>
            <a:pPr indent="-273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fr" sz="700">
                <a:solidFill>
                  <a:schemeClr val="dk1"/>
                </a:solidFill>
              </a:rPr>
              <a:t>Services managés (DocumentDB) → plus chers en argent, mais moins en temps humain.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700">
                <a:solidFill>
                  <a:schemeClr val="dk1"/>
                </a:solidFill>
              </a:rPr>
              <a:t>MongoDB sur EC2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fr" sz="700">
                <a:solidFill>
                  <a:schemeClr val="dk1"/>
                </a:solidFill>
              </a:rPr>
              <a:t>Déployer MongoDB sur une instance EC2 classique.</a:t>
            </a:r>
            <a:endParaRPr b="1"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fr" sz="700">
                <a:solidFill>
                  <a:schemeClr val="dk1"/>
                </a:solidFill>
              </a:rPr>
              <a:t>Flexibilité totale, mais nécessite la gestion de la sécurité, backup, scaling.</a:t>
            </a:r>
            <a:endParaRPr b="1"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fr" sz="700">
                <a:solidFill>
                  <a:schemeClr val="dk1"/>
                </a:solidFill>
              </a:rPr>
              <a:t>Conteneurs sur Amazon ECS / EKS</a:t>
            </a:r>
            <a:endParaRPr b="1"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fr" sz="700">
                <a:solidFill>
                  <a:schemeClr val="dk1"/>
                </a:solidFill>
              </a:rPr>
              <a:t>Self-hosted (EC2 ou ECS/EKS) → moins chers en argent (si bien optimisés), mais plus coûteux en gestion.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700">
                <a:solidFill>
                  <a:schemeClr val="dk1"/>
                </a:solidFill>
              </a:rPr>
              <a:t>Déployer MongoDB via Docker sur ECS (ou Kubernetes EKS).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fr" sz="700">
                <a:solidFill>
                  <a:schemeClr val="dk1"/>
                </a:solidFill>
              </a:rPr>
              <a:t>Scalable et pratique si ton application est déjà conteneurisée.</a:t>
            </a:r>
            <a:endParaRPr b="1"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fr" sz="700">
                <a:solidFill>
                  <a:schemeClr val="dk1"/>
                </a:solidFill>
              </a:rPr>
              <a:t>Compatible avec des architectures microservices.</a:t>
            </a:r>
            <a:endParaRPr b="1"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fr" sz="700">
                <a:solidFill>
                  <a:schemeClr val="dk1"/>
                </a:solidFill>
              </a:rPr>
              <a:t>Peut être plus cher que EC2 seul si on n’optimise pas bien les containers.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700">
                <a:solidFill>
                  <a:schemeClr val="dk1"/>
                </a:solidFill>
              </a:rPr>
              <a:t>Amazon S3</a:t>
            </a:r>
            <a:endParaRPr b="1" sz="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fr" sz="700">
                <a:solidFill>
                  <a:schemeClr val="dk1"/>
                </a:solidFill>
              </a:rPr>
              <a:t>Stockage des backups ou des exports CSV/JSON du dataset.</a:t>
            </a:r>
            <a:endParaRPr b="1"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fr" sz="700">
                <a:solidFill>
                  <a:schemeClr val="dk1"/>
                </a:solidFill>
              </a:rPr>
              <a:t>Haute durabilité et faible coût.</a:t>
            </a:r>
            <a:br>
              <a:rPr lang="fr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Annexe : Lien Github vers le projet</a:t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https://github.com/ngocthaoly17/projet_5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